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4.xml" ContentType="application/vnd.openxmlformats-officedocument.presentationml.slide+xml"/>
  <Override PartName="/ppt/slides/slide11.xml" ContentType="application/vnd.openxmlformats-officedocument.presentationml.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5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>
  <p:sldMasterIdLst>
    <p:sldMasterId id="2147483648" r:id="rId1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 /><Relationship Id="rId19" Type="http://schemas.openxmlformats.org/officeDocument/2006/relationships/tableStyles" Target="tableStyles.xml" /><Relationship Id="rId2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893967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39896780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62340818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01186760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95822745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57722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10881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11107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91231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72906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88651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316437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37378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57379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032049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4572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23234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14128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81424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20654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429681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14329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46689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447027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74518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14529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26754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92621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345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62078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89522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54228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04243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90E1A5-E0E9-9BB0-3256-23CB416606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28588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25755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981778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92026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68159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228464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54468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672610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460270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8589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3824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82161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PPTIST_MASTER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1A1D2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36988698" name="Image 0" descr="https://kimi-web-img.moonshot.cn/img/img.freepik.com/366e292ec1e25d7b6fda48ac147c1adea58bcef4.jpg"/>
          <p:cNvPicPr>
            <a:picLocks noChangeAspect="1"/>
          </p:cNvPicPr>
          <p:nvPr/>
        </p:nvPicPr>
        <p:blipFill rotWithShape="1">
          <a:blip r:embed="rId3">
            <a:alphaModFix amt="40000"/>
          </a:blip>
          <a:srcRect l="0" t="29603" r="0" b="29603"/>
          <a:stretch/>
        </p:blipFill>
        <p:spPr bwMode="auto"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601065485" name="Shape 0"/>
          <p:cNvSpPr/>
          <p:nvPr/>
        </p:nvSpPr>
        <p:spPr bwMode="auto">
          <a:xfrm>
            <a:off x="25400" y="381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fill="norm" stroke="1" extrusionOk="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5F85A5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1245617781" name="Shape 1"/>
          <p:cNvSpPr/>
          <p:nvPr/>
        </p:nvSpPr>
        <p:spPr bwMode="auto">
          <a:xfrm>
            <a:off x="385762" y="711547"/>
            <a:ext cx="3152775" cy="428625"/>
          </a:xfrm>
          <a:custGeom>
            <a:avLst/>
            <a:gdLst/>
            <a:ahLst/>
            <a:cxnLst/>
            <a:rect l="l" t="t" r="r" b="b"/>
            <a:pathLst>
              <a:path w="3152775" h="428625" fill="norm" stroke="1" extrusionOk="0">
                <a:moveTo>
                  <a:pt x="214313" y="0"/>
                </a:moveTo>
                <a:lnTo>
                  <a:pt x="2938463" y="0"/>
                </a:lnTo>
                <a:cubicBezTo>
                  <a:pt x="3056745" y="0"/>
                  <a:pt x="3152775" y="96030"/>
                  <a:pt x="3152775" y="214313"/>
                </a:cubicBezTo>
                <a:lnTo>
                  <a:pt x="3152775" y="214313"/>
                </a:lnTo>
                <a:cubicBezTo>
                  <a:pt x="3152775" y="332595"/>
                  <a:pt x="3056745" y="428625"/>
                  <a:pt x="2938463" y="428625"/>
                </a:cubicBezTo>
                <a:lnTo>
                  <a:pt x="214313" y="428625"/>
                </a:lnTo>
                <a:cubicBezTo>
                  <a:pt x="96030" y="428625"/>
                  <a:pt x="0" y="332595"/>
                  <a:pt x="0" y="214313"/>
                </a:cubicBezTo>
                <a:lnTo>
                  <a:pt x="0" y="214313"/>
                </a:lnTo>
                <a:cubicBezTo>
                  <a:pt x="0" y="96030"/>
                  <a:pt x="96030" y="0"/>
                  <a:pt x="214312" y="0"/>
                </a:cubicBezTo>
                <a:close/>
              </a:path>
            </a:pathLst>
          </a:custGeom>
          <a:solidFill>
            <a:srgbClr val="4ECDC4">
              <a:alpha val="14902"/>
            </a:srgbClr>
          </a:solidFill>
          <a:ln w="12700">
            <a:solidFill>
              <a:srgbClr val="4ECDC4">
                <a:alpha val="40000"/>
              </a:srgbClr>
            </a:solidFill>
            <a:prstDash val="solid"/>
          </a:ln>
        </p:spPr>
      </p:sp>
      <p:sp>
        <p:nvSpPr>
          <p:cNvPr id="153746035" name="Shape 2"/>
          <p:cNvSpPr/>
          <p:nvPr/>
        </p:nvSpPr>
        <p:spPr bwMode="auto">
          <a:xfrm>
            <a:off x="604838" y="84013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 fill="norm" stroke="1" extrusionOk="0">
                <a:moveTo>
                  <a:pt x="85725" y="0"/>
                </a:moveTo>
                <a:cubicBezTo>
                  <a:pt x="87265" y="0"/>
                  <a:pt x="88806" y="335"/>
                  <a:pt x="90212" y="971"/>
                </a:cubicBezTo>
                <a:lnTo>
                  <a:pt x="153300" y="27727"/>
                </a:lnTo>
                <a:cubicBezTo>
                  <a:pt x="160667" y="30841"/>
                  <a:pt x="166159" y="38107"/>
                  <a:pt x="166126" y="46881"/>
                </a:cubicBezTo>
                <a:cubicBezTo>
                  <a:pt x="165958" y="80099"/>
                  <a:pt x="152296" y="140877"/>
                  <a:pt x="94599" y="168503"/>
                </a:cubicBezTo>
                <a:cubicBezTo>
                  <a:pt x="89007" y="171182"/>
                  <a:pt x="82510" y="171182"/>
                  <a:pt x="76918" y="168503"/>
                </a:cubicBezTo>
                <a:cubicBezTo>
                  <a:pt x="19188" y="140877"/>
                  <a:pt x="5559" y="80099"/>
                  <a:pt x="5391" y="46881"/>
                </a:cubicBezTo>
                <a:cubicBezTo>
                  <a:pt x="5358" y="38107"/>
                  <a:pt x="10850" y="30841"/>
                  <a:pt x="18217" y="27727"/>
                </a:cubicBezTo>
                <a:lnTo>
                  <a:pt x="81271" y="971"/>
                </a:lnTo>
                <a:cubicBezTo>
                  <a:pt x="82678" y="335"/>
                  <a:pt x="84185" y="0"/>
                  <a:pt x="85725" y="0"/>
                </a:cubicBezTo>
                <a:close/>
                <a:moveTo>
                  <a:pt x="85725" y="22369"/>
                </a:moveTo>
                <a:lnTo>
                  <a:pt x="85725" y="148981"/>
                </a:lnTo>
                <a:cubicBezTo>
                  <a:pt x="131936" y="126612"/>
                  <a:pt x="144360" y="77052"/>
                  <a:pt x="144661" y="47383"/>
                </a:cubicBezTo>
                <a:lnTo>
                  <a:pt x="85725" y="22402"/>
                </a:lnTo>
                <a:lnTo>
                  <a:pt x="85725" y="22402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349986289" name="Text 3"/>
          <p:cNvSpPr/>
          <p:nvPr/>
        </p:nvSpPr>
        <p:spPr bwMode="auto">
          <a:xfrm>
            <a:off x="909638" y="811560"/>
            <a:ext cx="25050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 b="1" spc="60">
                <a:solidFill>
                  <a:srgbClr val="4ECDC4"/>
                </a:solidFill>
                <a:latin typeface="MiSans"/>
                <a:ea typeface="MiSans"/>
                <a:cs typeface="MiSans"/>
              </a:rPr>
              <a:t>Proyecto de Investigación</a:t>
            </a:r>
            <a:endParaRPr lang="en-US" sz="1600"/>
          </a:p>
        </p:txBody>
      </p:sp>
      <p:sp>
        <p:nvSpPr>
          <p:cNvPr id="1129497045" name="Text 4"/>
          <p:cNvSpPr/>
          <p:nvPr/>
        </p:nvSpPr>
        <p:spPr bwMode="auto">
          <a:xfrm>
            <a:off x="381000" y="1754535"/>
            <a:ext cx="10096500" cy="2266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5000" b="1">
                <a:solidFill>
                  <a:srgbClr val="E0E2E5"/>
                </a:solidFill>
                <a:latin typeface="MiSans"/>
                <a:ea typeface="MiSans"/>
                <a:cs typeface="MiSans"/>
              </a:rPr>
              <a:t>Detección de Intrusiones y Análisis de Anomalías en Tráfico de Red mediante Técnicas Estadísticas.</a:t>
            </a:r>
            <a:endParaRPr lang="en-US" sz="1600"/>
          </a:p>
        </p:txBody>
      </p:sp>
      <p:sp>
        <p:nvSpPr>
          <p:cNvPr id="557268993" name="Shape 5"/>
          <p:cNvSpPr/>
          <p:nvPr/>
        </p:nvSpPr>
        <p:spPr bwMode="auto">
          <a:xfrm>
            <a:off x="381000" y="4455691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 fill="norm" stroke="1" extrusionOk="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872372577" name="Shape 6"/>
          <p:cNvSpPr/>
          <p:nvPr/>
        </p:nvSpPr>
        <p:spPr bwMode="auto">
          <a:xfrm>
            <a:off x="385762" y="5031953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 fill="norm" stroke="1" extrusionOk="0">
                <a:moveTo>
                  <a:pt x="114300" y="0"/>
                </a:moveTo>
                <a:lnTo>
                  <a:pt x="333375" y="0"/>
                </a:lnTo>
                <a:cubicBezTo>
                  <a:pt x="396501" y="0"/>
                  <a:pt x="447675" y="51174"/>
                  <a:pt x="447675" y="114300"/>
                </a:cubicBezTo>
                <a:lnTo>
                  <a:pt x="447675" y="333375"/>
                </a:lnTo>
                <a:cubicBezTo>
                  <a:pt x="447675" y="396501"/>
                  <a:pt x="396501" y="447675"/>
                  <a:pt x="333375" y="447675"/>
                </a:cubicBezTo>
                <a:lnTo>
                  <a:pt x="114300" y="447675"/>
                </a:lnTo>
                <a:cubicBezTo>
                  <a:pt x="51174" y="447675"/>
                  <a:pt x="0" y="396501"/>
                  <a:pt x="0" y="333375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F85A5">
              <a:alpha val="20000"/>
            </a:srgbClr>
          </a:solidFill>
          <a:ln w="12700">
            <a:solidFill>
              <a:srgbClr val="5F85A5">
                <a:alpha val="40000"/>
              </a:srgbClr>
            </a:solidFill>
            <a:prstDash val="solid"/>
          </a:ln>
        </p:spPr>
      </p:sp>
      <p:sp>
        <p:nvSpPr>
          <p:cNvPr id="724263689" name="Shape 7"/>
          <p:cNvSpPr/>
          <p:nvPr/>
        </p:nvSpPr>
        <p:spPr bwMode="auto">
          <a:xfrm>
            <a:off x="514350" y="516054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 fill="norm" stroke="1" extrusionOk="0">
                <a:moveTo>
                  <a:pt x="101166" y="7516"/>
                </a:moveTo>
                <a:cubicBezTo>
                  <a:pt x="97520" y="5432"/>
                  <a:pt x="93018" y="5432"/>
                  <a:pt x="89334" y="7516"/>
                </a:cubicBezTo>
                <a:lnTo>
                  <a:pt x="5990" y="55141"/>
                </a:lnTo>
                <a:cubicBezTo>
                  <a:pt x="1302" y="57820"/>
                  <a:pt x="-1005" y="63326"/>
                  <a:pt x="372" y="68535"/>
                </a:cubicBezTo>
                <a:cubicBezTo>
                  <a:pt x="1749" y="73744"/>
                  <a:pt x="6511" y="77391"/>
                  <a:pt x="11906" y="77391"/>
                </a:cubicBezTo>
                <a:lnTo>
                  <a:pt x="23812" y="77391"/>
                </a:lnTo>
                <a:lnTo>
                  <a:pt x="23812" y="154781"/>
                </a:lnTo>
                <a:lnTo>
                  <a:pt x="23812" y="154781"/>
                </a:lnTo>
                <a:lnTo>
                  <a:pt x="4762" y="169069"/>
                </a:lnTo>
                <a:cubicBezTo>
                  <a:pt x="1749" y="171301"/>
                  <a:pt x="0" y="174836"/>
                  <a:pt x="0" y="178594"/>
                </a:cubicBezTo>
                <a:cubicBezTo>
                  <a:pt x="0" y="185179"/>
                  <a:pt x="5321" y="190500"/>
                  <a:pt x="11906" y="190500"/>
                </a:cubicBezTo>
                <a:lnTo>
                  <a:pt x="178594" y="190500"/>
                </a:lnTo>
                <a:cubicBezTo>
                  <a:pt x="185179" y="190500"/>
                  <a:pt x="190500" y="185179"/>
                  <a:pt x="190500" y="178594"/>
                </a:cubicBezTo>
                <a:cubicBezTo>
                  <a:pt x="190500" y="174836"/>
                  <a:pt x="188751" y="171301"/>
                  <a:pt x="185738" y="169069"/>
                </a:cubicBezTo>
                <a:lnTo>
                  <a:pt x="166688" y="154781"/>
                </a:lnTo>
                <a:lnTo>
                  <a:pt x="166688" y="77391"/>
                </a:lnTo>
                <a:lnTo>
                  <a:pt x="178594" y="77391"/>
                </a:lnTo>
                <a:cubicBezTo>
                  <a:pt x="183989" y="77391"/>
                  <a:pt x="188714" y="73744"/>
                  <a:pt x="190091" y="68535"/>
                </a:cubicBezTo>
                <a:cubicBezTo>
                  <a:pt x="191467" y="63326"/>
                  <a:pt x="189161" y="57820"/>
                  <a:pt x="184472" y="55141"/>
                </a:cubicBezTo>
                <a:lnTo>
                  <a:pt x="101129" y="7516"/>
                </a:lnTo>
                <a:close/>
                <a:moveTo>
                  <a:pt x="148828" y="77391"/>
                </a:moveTo>
                <a:lnTo>
                  <a:pt x="148828" y="154781"/>
                </a:lnTo>
                <a:lnTo>
                  <a:pt x="125016" y="154781"/>
                </a:lnTo>
                <a:lnTo>
                  <a:pt x="125016" y="77391"/>
                </a:lnTo>
                <a:lnTo>
                  <a:pt x="148828" y="77391"/>
                </a:lnTo>
                <a:close/>
                <a:moveTo>
                  <a:pt x="107156" y="77391"/>
                </a:moveTo>
                <a:lnTo>
                  <a:pt x="107156" y="154781"/>
                </a:lnTo>
                <a:lnTo>
                  <a:pt x="83344" y="154781"/>
                </a:lnTo>
                <a:lnTo>
                  <a:pt x="83344" y="77391"/>
                </a:lnTo>
                <a:lnTo>
                  <a:pt x="107156" y="77391"/>
                </a:lnTo>
                <a:close/>
                <a:moveTo>
                  <a:pt x="65484" y="77391"/>
                </a:moveTo>
                <a:lnTo>
                  <a:pt x="65484" y="154781"/>
                </a:lnTo>
                <a:lnTo>
                  <a:pt x="41672" y="154781"/>
                </a:lnTo>
                <a:lnTo>
                  <a:pt x="41672" y="77391"/>
                </a:lnTo>
                <a:lnTo>
                  <a:pt x="65484" y="77391"/>
                </a:lnTo>
                <a:close/>
                <a:moveTo>
                  <a:pt x="95250" y="35719"/>
                </a:moveTo>
                <a:cubicBezTo>
                  <a:pt x="101821" y="35719"/>
                  <a:pt x="107156" y="41054"/>
                  <a:pt x="107156" y="47625"/>
                </a:cubicBezTo>
                <a:cubicBezTo>
                  <a:pt x="107156" y="54196"/>
                  <a:pt x="101821" y="59531"/>
                  <a:pt x="95250" y="59531"/>
                </a:cubicBezTo>
                <a:cubicBezTo>
                  <a:pt x="88679" y="59531"/>
                  <a:pt x="83344" y="54196"/>
                  <a:pt x="83344" y="47625"/>
                </a:cubicBezTo>
                <a:cubicBezTo>
                  <a:pt x="83344" y="41054"/>
                  <a:pt x="88679" y="35719"/>
                  <a:pt x="95250" y="35719"/>
                </a:cubicBezTo>
                <a:close/>
              </a:path>
            </a:pathLst>
          </a:custGeom>
          <a:solidFill>
            <a:srgbClr val="5F85A5"/>
          </a:solidFill>
          <a:ln/>
        </p:spPr>
      </p:sp>
      <p:sp>
        <p:nvSpPr>
          <p:cNvPr id="717502627" name="Text 8"/>
          <p:cNvSpPr/>
          <p:nvPr/>
        </p:nvSpPr>
        <p:spPr bwMode="auto">
          <a:xfrm>
            <a:off x="990600" y="5008141"/>
            <a:ext cx="2867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350" b="1">
                <a:solidFill>
                  <a:srgbClr val="E0E2E5"/>
                </a:solidFill>
                <a:latin typeface="MiSans"/>
                <a:ea typeface="MiSans"/>
                <a:cs typeface="MiSans"/>
              </a:rPr>
              <a:t>Universidad de La Habana</a:t>
            </a:r>
            <a:endParaRPr lang="en-US" sz="1600"/>
          </a:p>
        </p:txBody>
      </p:sp>
      <p:sp>
        <p:nvSpPr>
          <p:cNvPr id="114221170" name="Text 9"/>
          <p:cNvSpPr/>
          <p:nvPr/>
        </p:nvSpPr>
        <p:spPr bwMode="auto">
          <a:xfrm>
            <a:off x="990600" y="5274841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>
                <a:solidFill>
                  <a:srgbClr val="E0E2E5">
                    <a:alpha val="60000"/>
                  </a:srgbClr>
                </a:solidFill>
                <a:latin typeface="MiSans"/>
                <a:ea typeface="MiSans"/>
                <a:cs typeface="MiSans"/>
              </a:rPr>
              <a:t>Facultad de Matemática y Computación</a:t>
            </a:r>
            <a:endParaRPr lang="en-US" sz="1600"/>
          </a:p>
        </p:txBody>
      </p:sp>
      <p:sp>
        <p:nvSpPr>
          <p:cNvPr id="1471854955" name="Shape 10"/>
          <p:cNvSpPr/>
          <p:nvPr/>
        </p:nvSpPr>
        <p:spPr bwMode="auto">
          <a:xfrm>
            <a:off x="385762" y="5679653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 fill="norm" stroke="1" extrusionOk="0">
                <a:moveTo>
                  <a:pt x="114300" y="0"/>
                </a:moveTo>
                <a:lnTo>
                  <a:pt x="333375" y="0"/>
                </a:lnTo>
                <a:cubicBezTo>
                  <a:pt x="396501" y="0"/>
                  <a:pt x="447675" y="51174"/>
                  <a:pt x="447675" y="114300"/>
                </a:cubicBezTo>
                <a:lnTo>
                  <a:pt x="447675" y="333375"/>
                </a:lnTo>
                <a:cubicBezTo>
                  <a:pt x="447675" y="396501"/>
                  <a:pt x="396501" y="447675"/>
                  <a:pt x="333375" y="447675"/>
                </a:cubicBezTo>
                <a:lnTo>
                  <a:pt x="114300" y="447675"/>
                </a:lnTo>
                <a:cubicBezTo>
                  <a:pt x="51174" y="447675"/>
                  <a:pt x="0" y="396501"/>
                  <a:pt x="0" y="333375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 w="12700">
            <a:solidFill>
              <a:srgbClr val="4ECDC4">
                <a:alpha val="40000"/>
              </a:srgbClr>
            </a:solidFill>
            <a:prstDash val="solid"/>
          </a:ln>
        </p:spPr>
      </p:sp>
      <p:sp>
        <p:nvSpPr>
          <p:cNvPr id="1664999668" name="Shape 11"/>
          <p:cNvSpPr/>
          <p:nvPr/>
        </p:nvSpPr>
        <p:spPr bwMode="auto">
          <a:xfrm>
            <a:off x="526256" y="5808241"/>
            <a:ext cx="166687" cy="190500"/>
          </a:xfrm>
          <a:custGeom>
            <a:avLst/>
            <a:gdLst/>
            <a:ahLst/>
            <a:cxnLst/>
            <a:rect l="l" t="t" r="r" b="b"/>
            <a:pathLst>
              <a:path w="166688" h="190500" fill="norm" stroke="1" extrusionOk="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23812" y="89297"/>
                </a:moveTo>
                <a:lnTo>
                  <a:pt x="23812" y="101203"/>
                </a:lnTo>
                <a:cubicBezTo>
                  <a:pt x="23812" y="104477"/>
                  <a:pt x="26491" y="107156"/>
                  <a:pt x="29766" y="107156"/>
                </a:cubicBezTo>
                <a:lnTo>
                  <a:pt x="41672" y="107156"/>
                </a:lnTo>
                <a:cubicBezTo>
                  <a:pt x="44946" y="107156"/>
                  <a:pt x="47625" y="104477"/>
                  <a:pt x="47625" y="101203"/>
                </a:cubicBezTo>
                <a:lnTo>
                  <a:pt x="47625" y="89297"/>
                </a:lnTo>
                <a:cubicBezTo>
                  <a:pt x="47625" y="86023"/>
                  <a:pt x="44946" y="83344"/>
                  <a:pt x="41672" y="83344"/>
                </a:cubicBezTo>
                <a:lnTo>
                  <a:pt x="29766" y="83344"/>
                </a:lnTo>
                <a:cubicBezTo>
                  <a:pt x="26491" y="83344"/>
                  <a:pt x="23812" y="86023"/>
                  <a:pt x="23812" y="89297"/>
                </a:cubicBezTo>
                <a:close/>
                <a:moveTo>
                  <a:pt x="71438" y="89297"/>
                </a:moveTo>
                <a:lnTo>
                  <a:pt x="71438" y="101203"/>
                </a:lnTo>
                <a:cubicBezTo>
                  <a:pt x="71438" y="104477"/>
                  <a:pt x="74116" y="107156"/>
                  <a:pt x="77391" y="107156"/>
                </a:cubicBezTo>
                <a:lnTo>
                  <a:pt x="89297" y="107156"/>
                </a:lnTo>
                <a:cubicBezTo>
                  <a:pt x="92571" y="107156"/>
                  <a:pt x="95250" y="104477"/>
                  <a:pt x="95250" y="101203"/>
                </a:cubicBezTo>
                <a:lnTo>
                  <a:pt x="95250" y="89297"/>
                </a:lnTo>
                <a:cubicBezTo>
                  <a:pt x="95250" y="86023"/>
                  <a:pt x="92571" y="83344"/>
                  <a:pt x="89297" y="83344"/>
                </a:cubicBezTo>
                <a:lnTo>
                  <a:pt x="77391" y="83344"/>
                </a:lnTo>
                <a:cubicBezTo>
                  <a:pt x="74116" y="83344"/>
                  <a:pt x="71438" y="86023"/>
                  <a:pt x="71438" y="89297"/>
                </a:cubicBezTo>
                <a:close/>
                <a:moveTo>
                  <a:pt x="125016" y="83344"/>
                </a:moveTo>
                <a:cubicBezTo>
                  <a:pt x="121741" y="83344"/>
                  <a:pt x="119063" y="86023"/>
                  <a:pt x="119063" y="89297"/>
                </a:cubicBezTo>
                <a:lnTo>
                  <a:pt x="119063" y="101203"/>
                </a:lnTo>
                <a:cubicBezTo>
                  <a:pt x="119063" y="104477"/>
                  <a:pt x="121741" y="107156"/>
                  <a:pt x="125016" y="107156"/>
                </a:cubicBezTo>
                <a:lnTo>
                  <a:pt x="136922" y="107156"/>
                </a:lnTo>
                <a:cubicBezTo>
                  <a:pt x="140196" y="107156"/>
                  <a:pt x="142875" y="104477"/>
                  <a:pt x="142875" y="101203"/>
                </a:cubicBezTo>
                <a:lnTo>
                  <a:pt x="142875" y="89297"/>
                </a:lnTo>
                <a:cubicBezTo>
                  <a:pt x="142875" y="86023"/>
                  <a:pt x="140196" y="83344"/>
                  <a:pt x="136922" y="83344"/>
                </a:cubicBezTo>
                <a:lnTo>
                  <a:pt x="125016" y="83344"/>
                </a:lnTo>
                <a:close/>
                <a:moveTo>
                  <a:pt x="23812" y="136922"/>
                </a:move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41672" y="154781"/>
                </a:lnTo>
                <a:cubicBezTo>
                  <a:pt x="44946" y="154781"/>
                  <a:pt x="47625" y="152102"/>
                  <a:pt x="47625" y="148828"/>
                </a:cubicBezTo>
                <a:lnTo>
                  <a:pt x="47625" y="136922"/>
                </a:lnTo>
                <a:cubicBezTo>
                  <a:pt x="47625" y="133648"/>
                  <a:pt x="44946" y="130969"/>
                  <a:pt x="41672" y="130969"/>
                </a:cubicBezTo>
                <a:lnTo>
                  <a:pt x="29766" y="130969"/>
                </a:lnTo>
                <a:cubicBezTo>
                  <a:pt x="26491" y="130969"/>
                  <a:pt x="23812" y="133648"/>
                  <a:pt x="23812" y="136922"/>
                </a:cubicBezTo>
                <a:close/>
                <a:moveTo>
                  <a:pt x="77391" y="130969"/>
                </a:moveTo>
                <a:cubicBezTo>
                  <a:pt x="74116" y="130969"/>
                  <a:pt x="71438" y="133648"/>
                  <a:pt x="71438" y="136922"/>
                </a:cubicBezTo>
                <a:lnTo>
                  <a:pt x="71438" y="148828"/>
                </a:lnTo>
                <a:cubicBezTo>
                  <a:pt x="71438" y="152102"/>
                  <a:pt x="74116" y="154781"/>
                  <a:pt x="77391" y="154781"/>
                </a:cubicBezTo>
                <a:lnTo>
                  <a:pt x="89297" y="154781"/>
                </a:lnTo>
                <a:cubicBezTo>
                  <a:pt x="92571" y="154781"/>
                  <a:pt x="95250" y="152102"/>
                  <a:pt x="95250" y="148828"/>
                </a:cubicBezTo>
                <a:lnTo>
                  <a:pt x="95250" y="136922"/>
                </a:lnTo>
                <a:cubicBezTo>
                  <a:pt x="95250" y="133648"/>
                  <a:pt x="92571" y="130969"/>
                  <a:pt x="89297" y="130969"/>
                </a:cubicBezTo>
                <a:lnTo>
                  <a:pt x="77391" y="130969"/>
                </a:lnTo>
                <a:close/>
                <a:moveTo>
                  <a:pt x="119063" y="136922"/>
                </a:moveTo>
                <a:lnTo>
                  <a:pt x="119063" y="148828"/>
                </a:lnTo>
                <a:cubicBezTo>
                  <a:pt x="119063" y="152102"/>
                  <a:pt x="121741" y="154781"/>
                  <a:pt x="125016" y="154781"/>
                </a:cubicBezTo>
                <a:lnTo>
                  <a:pt x="136922" y="154781"/>
                </a:lnTo>
                <a:cubicBezTo>
                  <a:pt x="140196" y="154781"/>
                  <a:pt x="142875" y="152102"/>
                  <a:pt x="142875" y="148828"/>
                </a:cubicBezTo>
                <a:lnTo>
                  <a:pt x="142875" y="136922"/>
                </a:lnTo>
                <a:cubicBezTo>
                  <a:pt x="142875" y="133648"/>
                  <a:pt x="140196" y="130969"/>
                  <a:pt x="136922" y="130969"/>
                </a:cubicBezTo>
                <a:lnTo>
                  <a:pt x="125016" y="130969"/>
                </a:lnTo>
                <a:cubicBezTo>
                  <a:pt x="121741" y="130969"/>
                  <a:pt x="119063" y="133648"/>
                  <a:pt x="119063" y="136922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140689046" name="Text 12"/>
          <p:cNvSpPr/>
          <p:nvPr/>
        </p:nvSpPr>
        <p:spPr bwMode="auto">
          <a:xfrm>
            <a:off x="990600" y="5655841"/>
            <a:ext cx="2105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350" b="1">
                <a:solidFill>
                  <a:srgbClr val="E0E2E5"/>
                </a:solidFill>
                <a:latin typeface="MiSans"/>
                <a:ea typeface="MiSans"/>
                <a:cs typeface="MiSans"/>
              </a:rPr>
              <a:t>Estadística 2025-2026</a:t>
            </a:r>
            <a:endParaRPr lang="en-US" sz="1600"/>
          </a:p>
        </p:txBody>
      </p:sp>
      <p:sp>
        <p:nvSpPr>
          <p:cNvPr id="779551417" name="Text 13"/>
          <p:cNvSpPr/>
          <p:nvPr/>
        </p:nvSpPr>
        <p:spPr bwMode="auto">
          <a:xfrm>
            <a:off x="990600" y="5922541"/>
            <a:ext cx="209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>
                <a:solidFill>
                  <a:srgbClr val="E0E2E5">
                    <a:alpha val="60000"/>
                  </a:srgbClr>
                </a:solidFill>
                <a:latin typeface="MiSans"/>
                <a:ea typeface="MiSans"/>
                <a:cs typeface="MiSans"/>
              </a:rPr>
              <a:t>Departamento de Estadística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1A1D2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6473648" name="Shape 0"/>
          <p:cNvSpPr/>
          <p:nvPr/>
        </p:nvSpPr>
        <p:spPr bwMode="auto">
          <a:xfrm>
            <a:off x="339610" y="373570"/>
            <a:ext cx="50942" cy="339610"/>
          </a:xfrm>
          <a:custGeom>
            <a:avLst/>
            <a:gdLst/>
            <a:ahLst/>
            <a:cxnLst/>
            <a:rect l="l" t="t" r="r" b="b"/>
            <a:pathLst>
              <a:path w="50942" h="339610" fill="norm" stroke="1" extrusionOk="0">
                <a:moveTo>
                  <a:pt x="25471" y="0"/>
                </a:moveTo>
                <a:lnTo>
                  <a:pt x="25471" y="0"/>
                </a:lnTo>
                <a:cubicBezTo>
                  <a:pt x="39538" y="0"/>
                  <a:pt x="50942" y="11404"/>
                  <a:pt x="50942" y="25471"/>
                </a:cubicBezTo>
                <a:lnTo>
                  <a:pt x="50942" y="314139"/>
                </a:lnTo>
                <a:cubicBezTo>
                  <a:pt x="50942" y="328206"/>
                  <a:pt x="39538" y="339610"/>
                  <a:pt x="25471" y="339610"/>
                </a:cubicBezTo>
                <a:lnTo>
                  <a:pt x="25471" y="339610"/>
                </a:lnTo>
                <a:cubicBezTo>
                  <a:pt x="11404" y="339610"/>
                  <a:pt x="0" y="328206"/>
                  <a:pt x="0" y="314139"/>
                </a:cubicBezTo>
                <a:lnTo>
                  <a:pt x="0" y="25471"/>
                </a:lnTo>
                <a:cubicBezTo>
                  <a:pt x="0" y="11404"/>
                  <a:pt x="11404" y="0"/>
                  <a:pt x="25471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864749181" name="Text 1"/>
          <p:cNvSpPr/>
          <p:nvPr/>
        </p:nvSpPr>
        <p:spPr bwMode="auto">
          <a:xfrm flipH="0" flipV="0">
            <a:off x="492435" y="339609"/>
            <a:ext cx="13258935" cy="407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  <a:defRPr/>
            </a:pPr>
            <a:r>
              <a:rPr lang="en-US" sz="3200" b="1">
                <a:solidFill>
                  <a:srgbClr val="E0E2E5"/>
                </a:solidFill>
                <a:latin typeface="MiSans"/>
                <a:ea typeface="MiSans"/>
                <a:cs typeface="MiSans"/>
              </a:rPr>
              <a:t>¿Por qué Análisis Estadístico para Ciberseguridad?</a:t>
            </a:r>
            <a:endParaRPr lang="en-US" sz="1600"/>
          </a:p>
        </p:txBody>
      </p:sp>
      <p:sp>
        <p:nvSpPr>
          <p:cNvPr id="1864666311" name="Text 2"/>
          <p:cNvSpPr/>
          <p:nvPr/>
        </p:nvSpPr>
        <p:spPr bwMode="auto">
          <a:xfrm>
            <a:off x="543376" y="849025"/>
            <a:ext cx="11393916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350">
                <a:solidFill>
                  <a:srgbClr val="5F85A5"/>
                </a:solidFill>
                <a:latin typeface="MiSans"/>
                <a:ea typeface="MiSans"/>
                <a:cs typeface="MiSans"/>
              </a:rPr>
              <a:t>Contexto y Motivación del Enfoque</a:t>
            </a:r>
            <a:endParaRPr lang="en-US" sz="1600"/>
          </a:p>
        </p:txBody>
      </p:sp>
      <p:sp>
        <p:nvSpPr>
          <p:cNvPr id="2019310211" name="Shape 3"/>
          <p:cNvSpPr/>
          <p:nvPr/>
        </p:nvSpPr>
        <p:spPr bwMode="auto">
          <a:xfrm>
            <a:off x="343855" y="1362685"/>
            <a:ext cx="7734618" cy="2657448"/>
          </a:xfrm>
          <a:custGeom>
            <a:avLst/>
            <a:gdLst/>
            <a:ahLst/>
            <a:cxnLst/>
            <a:rect l="l" t="t" r="r" b="b"/>
            <a:pathLst>
              <a:path w="7734618" h="2657448" fill="norm" stroke="1" extrusionOk="0">
                <a:moveTo>
                  <a:pt x="135849" y="0"/>
                </a:moveTo>
                <a:lnTo>
                  <a:pt x="7598770" y="0"/>
                </a:lnTo>
                <a:cubicBezTo>
                  <a:pt x="7673797" y="0"/>
                  <a:pt x="7734618" y="60822"/>
                  <a:pt x="7734618" y="135849"/>
                </a:cubicBezTo>
                <a:lnTo>
                  <a:pt x="7734618" y="2521600"/>
                </a:lnTo>
                <a:cubicBezTo>
                  <a:pt x="7734618" y="2596627"/>
                  <a:pt x="7673797" y="2657448"/>
                  <a:pt x="7598770" y="2657448"/>
                </a:cubicBezTo>
                <a:lnTo>
                  <a:pt x="135849" y="2657448"/>
                </a:lnTo>
                <a:cubicBezTo>
                  <a:pt x="60822" y="2657448"/>
                  <a:pt x="0" y="2596627"/>
                  <a:pt x="0" y="2521600"/>
                </a:cubicBezTo>
                <a:lnTo>
                  <a:pt x="0" y="135849"/>
                </a:lnTo>
                <a:cubicBezTo>
                  <a:pt x="0" y="60872"/>
                  <a:pt x="60872" y="0"/>
                  <a:pt x="135849" y="0"/>
                </a:cubicBezTo>
                <a:close/>
              </a:path>
            </a:pathLst>
          </a:custGeom>
          <a:solidFill>
            <a:srgbClr val="E74C3C">
              <a:alpha val="10196"/>
            </a:srgbClr>
          </a:solidFill>
          <a:ln w="12700">
            <a:solidFill>
              <a:srgbClr val="E74C3C">
                <a:alpha val="40000"/>
              </a:srgbClr>
            </a:solidFill>
            <a:prstDash val="solid"/>
          </a:ln>
        </p:spPr>
      </p:sp>
      <p:sp>
        <p:nvSpPr>
          <p:cNvPr id="608832439" name="Shape 4"/>
          <p:cNvSpPr/>
          <p:nvPr/>
        </p:nvSpPr>
        <p:spPr bwMode="auto">
          <a:xfrm>
            <a:off x="556111" y="1574942"/>
            <a:ext cx="466964" cy="466964"/>
          </a:xfrm>
          <a:custGeom>
            <a:avLst/>
            <a:gdLst/>
            <a:ahLst/>
            <a:cxnLst/>
            <a:rect l="l" t="t" r="r" b="b"/>
            <a:pathLst>
              <a:path w="466964" h="466964" fill="norm" stroke="1" extrusionOk="0">
                <a:moveTo>
                  <a:pt x="101882" y="0"/>
                </a:moveTo>
                <a:lnTo>
                  <a:pt x="365082" y="0"/>
                </a:lnTo>
                <a:cubicBezTo>
                  <a:pt x="421312" y="0"/>
                  <a:pt x="466964" y="45652"/>
                  <a:pt x="466964" y="101882"/>
                </a:cubicBezTo>
                <a:lnTo>
                  <a:pt x="466964" y="365082"/>
                </a:lnTo>
                <a:cubicBezTo>
                  <a:pt x="466964" y="421312"/>
                  <a:pt x="421312" y="466964"/>
                  <a:pt x="365082" y="466964"/>
                </a:cubicBezTo>
                <a:lnTo>
                  <a:pt x="101882" y="466964"/>
                </a:lnTo>
                <a:cubicBezTo>
                  <a:pt x="45652" y="466964"/>
                  <a:pt x="0" y="421312"/>
                  <a:pt x="0" y="365082"/>
                </a:cubicBezTo>
                <a:lnTo>
                  <a:pt x="0" y="101882"/>
                </a:lnTo>
                <a:cubicBezTo>
                  <a:pt x="0" y="45652"/>
                  <a:pt x="45652" y="0"/>
                  <a:pt x="101882" y="0"/>
                </a:cubicBezTo>
                <a:close/>
              </a:path>
            </a:pathLst>
          </a:custGeom>
          <a:solidFill>
            <a:srgbClr val="E74C3C">
              <a:alpha val="20000"/>
            </a:srgbClr>
          </a:solidFill>
          <a:ln w="12700">
            <a:solidFill>
              <a:srgbClr val="E74C3C">
                <a:alpha val="40000"/>
              </a:srgbClr>
            </a:solidFill>
            <a:prstDash val="solid"/>
          </a:ln>
        </p:spPr>
      </p:sp>
      <p:sp>
        <p:nvSpPr>
          <p:cNvPr id="1487020206" name="Shape 5"/>
          <p:cNvSpPr/>
          <p:nvPr/>
        </p:nvSpPr>
        <p:spPr bwMode="auto">
          <a:xfrm>
            <a:off x="687710" y="1706540"/>
            <a:ext cx="203766" cy="203766"/>
          </a:xfrm>
          <a:custGeom>
            <a:avLst/>
            <a:gdLst/>
            <a:ahLst/>
            <a:cxnLst/>
            <a:rect l="l" t="t" r="r" b="b"/>
            <a:pathLst>
              <a:path w="203766" h="203766" fill="norm" stroke="1" extrusionOk="0">
                <a:moveTo>
                  <a:pt x="101883" y="0"/>
                </a:moveTo>
                <a:cubicBezTo>
                  <a:pt x="107733" y="0"/>
                  <a:pt x="113106" y="3224"/>
                  <a:pt x="115892" y="8358"/>
                </a:cubicBezTo>
                <a:lnTo>
                  <a:pt x="201856" y="167550"/>
                </a:lnTo>
                <a:cubicBezTo>
                  <a:pt x="204522" y="172485"/>
                  <a:pt x="204403" y="178454"/>
                  <a:pt x="201537" y="183270"/>
                </a:cubicBezTo>
                <a:cubicBezTo>
                  <a:pt x="198672" y="188086"/>
                  <a:pt x="193458" y="191031"/>
                  <a:pt x="187847" y="191031"/>
                </a:cubicBezTo>
                <a:lnTo>
                  <a:pt x="15919" y="191031"/>
                </a:lnTo>
                <a:cubicBezTo>
                  <a:pt x="10308" y="191031"/>
                  <a:pt x="5134" y="188086"/>
                  <a:pt x="2229" y="183270"/>
                </a:cubicBezTo>
                <a:cubicBezTo>
                  <a:pt x="-677" y="178454"/>
                  <a:pt x="-756" y="172485"/>
                  <a:pt x="1910" y="167550"/>
                </a:cubicBezTo>
                <a:lnTo>
                  <a:pt x="87874" y="8358"/>
                </a:lnTo>
                <a:cubicBezTo>
                  <a:pt x="90660" y="3224"/>
                  <a:pt x="96033" y="0"/>
                  <a:pt x="101883" y="0"/>
                </a:cubicBezTo>
                <a:close/>
                <a:moveTo>
                  <a:pt x="101883" y="66861"/>
                </a:moveTo>
                <a:cubicBezTo>
                  <a:pt x="96590" y="66861"/>
                  <a:pt x="92331" y="71119"/>
                  <a:pt x="92331" y="76412"/>
                </a:cubicBezTo>
                <a:lnTo>
                  <a:pt x="92331" y="120986"/>
                </a:lnTo>
                <a:cubicBezTo>
                  <a:pt x="92331" y="126279"/>
                  <a:pt x="96590" y="130538"/>
                  <a:pt x="101883" y="130538"/>
                </a:cubicBezTo>
                <a:cubicBezTo>
                  <a:pt x="107176" y="130538"/>
                  <a:pt x="111435" y="126279"/>
                  <a:pt x="111435" y="120986"/>
                </a:cubicBezTo>
                <a:lnTo>
                  <a:pt x="111435" y="76412"/>
                </a:lnTo>
                <a:cubicBezTo>
                  <a:pt x="111435" y="71119"/>
                  <a:pt x="107176" y="66861"/>
                  <a:pt x="101883" y="66861"/>
                </a:cubicBezTo>
                <a:close/>
                <a:moveTo>
                  <a:pt x="112509" y="152825"/>
                </a:moveTo>
                <a:cubicBezTo>
                  <a:pt x="112751" y="148880"/>
                  <a:pt x="110784" y="145128"/>
                  <a:pt x="107403" y="143082"/>
                </a:cubicBezTo>
                <a:cubicBezTo>
                  <a:pt x="104021" y="141037"/>
                  <a:pt x="99784" y="141037"/>
                  <a:pt x="96403" y="143082"/>
                </a:cubicBezTo>
                <a:cubicBezTo>
                  <a:pt x="93022" y="145128"/>
                  <a:pt x="91055" y="148880"/>
                  <a:pt x="91297" y="152825"/>
                </a:cubicBezTo>
                <a:cubicBezTo>
                  <a:pt x="91055" y="156769"/>
                  <a:pt x="93022" y="160521"/>
                  <a:pt x="96403" y="162567"/>
                </a:cubicBezTo>
                <a:cubicBezTo>
                  <a:pt x="99784" y="164612"/>
                  <a:pt x="104021" y="164612"/>
                  <a:pt x="107403" y="162567"/>
                </a:cubicBezTo>
                <a:cubicBezTo>
                  <a:pt x="110784" y="160521"/>
                  <a:pt x="112751" y="156769"/>
                  <a:pt x="112509" y="152825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1658356146" name="Text 6"/>
          <p:cNvSpPr/>
          <p:nvPr/>
        </p:nvSpPr>
        <p:spPr bwMode="auto">
          <a:xfrm>
            <a:off x="1163164" y="1672579"/>
            <a:ext cx="1723521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600" b="1">
                <a:solidFill>
                  <a:srgbClr val="E74C3C"/>
                </a:solidFill>
                <a:latin typeface="MiSans"/>
                <a:ea typeface="MiSans"/>
                <a:cs typeface="MiSans"/>
              </a:rPr>
              <a:t>IDS Tradicionales</a:t>
            </a:r>
            <a:endParaRPr lang="en-US" sz="1600"/>
          </a:p>
        </p:txBody>
      </p:sp>
      <p:sp>
        <p:nvSpPr>
          <p:cNvPr id="981827625" name="Shape 7"/>
          <p:cNvSpPr/>
          <p:nvPr/>
        </p:nvSpPr>
        <p:spPr bwMode="auto">
          <a:xfrm>
            <a:off x="573092" y="2249916"/>
            <a:ext cx="169805" cy="169805"/>
          </a:xfrm>
          <a:custGeom>
            <a:avLst/>
            <a:gdLst/>
            <a:ahLst/>
            <a:cxnLst/>
            <a:rect l="l" t="t" r="r" b="b"/>
            <a:pathLst>
              <a:path w="169805" h="169805" fill="norm" stroke="1" extrusionOk="0">
                <a:moveTo>
                  <a:pt x="84903" y="169805"/>
                </a:moveTo>
                <a:cubicBezTo>
                  <a:pt x="131761" y="169805"/>
                  <a:pt x="169805" y="131761"/>
                  <a:pt x="169805" y="84903"/>
                </a:cubicBezTo>
                <a:cubicBezTo>
                  <a:pt x="169805" y="38044"/>
                  <a:pt x="131761" y="0"/>
                  <a:pt x="84903" y="0"/>
                </a:cubicBezTo>
                <a:cubicBezTo>
                  <a:pt x="38044" y="0"/>
                  <a:pt x="0" y="38044"/>
                  <a:pt x="0" y="84903"/>
                </a:cubicBezTo>
                <a:cubicBezTo>
                  <a:pt x="0" y="131761"/>
                  <a:pt x="38044" y="169805"/>
                  <a:pt x="84903" y="169805"/>
                </a:cubicBezTo>
                <a:close/>
                <a:moveTo>
                  <a:pt x="55386" y="55386"/>
                </a:moveTo>
                <a:cubicBezTo>
                  <a:pt x="58503" y="52268"/>
                  <a:pt x="63544" y="52268"/>
                  <a:pt x="66629" y="55386"/>
                </a:cubicBezTo>
                <a:lnTo>
                  <a:pt x="84869" y="73626"/>
                </a:lnTo>
                <a:lnTo>
                  <a:pt x="103110" y="55386"/>
                </a:lnTo>
                <a:cubicBezTo>
                  <a:pt x="106228" y="52268"/>
                  <a:pt x="111269" y="52268"/>
                  <a:pt x="114353" y="55386"/>
                </a:cubicBezTo>
                <a:cubicBezTo>
                  <a:pt x="117437" y="58503"/>
                  <a:pt x="117471" y="63544"/>
                  <a:pt x="114353" y="66629"/>
                </a:cubicBezTo>
                <a:lnTo>
                  <a:pt x="96112" y="84869"/>
                </a:lnTo>
                <a:lnTo>
                  <a:pt x="114353" y="103110"/>
                </a:lnTo>
                <a:cubicBezTo>
                  <a:pt x="117471" y="106228"/>
                  <a:pt x="117471" y="111269"/>
                  <a:pt x="114353" y="114353"/>
                </a:cubicBezTo>
                <a:cubicBezTo>
                  <a:pt x="111236" y="117437"/>
                  <a:pt x="106194" y="117471"/>
                  <a:pt x="103110" y="114353"/>
                </a:cubicBezTo>
                <a:lnTo>
                  <a:pt x="84869" y="96112"/>
                </a:lnTo>
                <a:lnTo>
                  <a:pt x="66629" y="114353"/>
                </a:lnTo>
                <a:cubicBezTo>
                  <a:pt x="63511" y="117471"/>
                  <a:pt x="58470" y="117471"/>
                  <a:pt x="55386" y="114353"/>
                </a:cubicBezTo>
                <a:cubicBezTo>
                  <a:pt x="52301" y="111236"/>
                  <a:pt x="52268" y="106194"/>
                  <a:pt x="55386" y="103110"/>
                </a:cubicBezTo>
                <a:lnTo>
                  <a:pt x="73626" y="84869"/>
                </a:lnTo>
                <a:lnTo>
                  <a:pt x="55386" y="66629"/>
                </a:lnTo>
                <a:cubicBezTo>
                  <a:pt x="52268" y="63511"/>
                  <a:pt x="52268" y="58470"/>
                  <a:pt x="55386" y="55386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928518514" name="Text 8"/>
          <p:cNvSpPr/>
          <p:nvPr/>
        </p:nvSpPr>
        <p:spPr bwMode="auto">
          <a:xfrm>
            <a:off x="866006" y="2215955"/>
            <a:ext cx="5085660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 b="1">
                <a:solidFill>
                  <a:srgbClr val="E0E2E5"/>
                </a:solidFill>
                <a:latin typeface="MiSans"/>
                <a:ea typeface="MiSans"/>
                <a:cs typeface="MiSans"/>
              </a:rPr>
              <a:t>Basados en Firmas Conocidas</a:t>
            </a:r>
            <a:endParaRPr lang="en-US" sz="1600"/>
          </a:p>
        </p:txBody>
      </p:sp>
      <p:sp>
        <p:nvSpPr>
          <p:cNvPr id="884644728" name="Text 9"/>
          <p:cNvSpPr/>
          <p:nvPr/>
        </p:nvSpPr>
        <p:spPr bwMode="auto">
          <a:xfrm>
            <a:off x="866006" y="2453682"/>
            <a:ext cx="5077170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>
                <a:solidFill>
                  <a:srgbClr val="E0E2E5">
                    <a:alpha val="70000"/>
                  </a:srgbClr>
                </a:solidFill>
                <a:latin typeface="MiSans"/>
                <a:ea typeface="MiSans"/>
                <a:cs typeface="MiSans"/>
              </a:rPr>
              <a:t>Requieren catálogo exhaustivo de patrones de ataque previamente identificados</a:t>
            </a:r>
            <a:endParaRPr lang="en-US" sz="1600"/>
          </a:p>
        </p:txBody>
      </p:sp>
      <p:sp>
        <p:nvSpPr>
          <p:cNvPr id="598124682" name="Shape 10"/>
          <p:cNvSpPr/>
          <p:nvPr/>
        </p:nvSpPr>
        <p:spPr bwMode="auto">
          <a:xfrm>
            <a:off x="562479" y="2827253"/>
            <a:ext cx="191031" cy="169805"/>
          </a:xfrm>
          <a:custGeom>
            <a:avLst/>
            <a:gdLst/>
            <a:ahLst/>
            <a:cxnLst/>
            <a:rect l="l" t="t" r="r" b="b"/>
            <a:pathLst>
              <a:path w="191031" h="169805" fill="norm" stroke="1" extrusionOk="0">
                <a:moveTo>
                  <a:pt x="63677" y="31838"/>
                </a:moveTo>
                <a:cubicBezTo>
                  <a:pt x="63677" y="14261"/>
                  <a:pt x="77938" y="0"/>
                  <a:pt x="95515" y="0"/>
                </a:cubicBezTo>
                <a:cubicBezTo>
                  <a:pt x="113093" y="0"/>
                  <a:pt x="127354" y="14261"/>
                  <a:pt x="127354" y="31838"/>
                </a:cubicBezTo>
                <a:lnTo>
                  <a:pt x="127354" y="33032"/>
                </a:lnTo>
                <a:cubicBezTo>
                  <a:pt x="127354" y="38239"/>
                  <a:pt x="123142" y="42451"/>
                  <a:pt x="117935" y="42451"/>
                </a:cubicBezTo>
                <a:lnTo>
                  <a:pt x="73129" y="42451"/>
                </a:lnTo>
                <a:cubicBezTo>
                  <a:pt x="67922" y="42451"/>
                  <a:pt x="63710" y="38239"/>
                  <a:pt x="63710" y="33032"/>
                </a:cubicBezTo>
                <a:lnTo>
                  <a:pt x="63710" y="31838"/>
                </a:lnTo>
                <a:close/>
                <a:moveTo>
                  <a:pt x="178295" y="36084"/>
                </a:moveTo>
                <a:cubicBezTo>
                  <a:pt x="181811" y="40760"/>
                  <a:pt x="180849" y="47426"/>
                  <a:pt x="176173" y="50942"/>
                </a:cubicBezTo>
                <a:lnTo>
                  <a:pt x="143737" y="75251"/>
                </a:lnTo>
                <a:cubicBezTo>
                  <a:pt x="145495" y="78203"/>
                  <a:pt x="146822" y="81453"/>
                  <a:pt x="147651" y="84903"/>
                </a:cubicBezTo>
                <a:lnTo>
                  <a:pt x="180418" y="84903"/>
                </a:lnTo>
                <a:cubicBezTo>
                  <a:pt x="186288" y="84903"/>
                  <a:pt x="191031" y="89645"/>
                  <a:pt x="191031" y="95515"/>
                </a:cubicBezTo>
                <a:cubicBezTo>
                  <a:pt x="191031" y="101386"/>
                  <a:pt x="186288" y="106128"/>
                  <a:pt x="180418" y="106128"/>
                </a:cubicBezTo>
                <a:lnTo>
                  <a:pt x="148579" y="106128"/>
                </a:lnTo>
                <a:lnTo>
                  <a:pt x="148579" y="116741"/>
                </a:lnTo>
                <a:cubicBezTo>
                  <a:pt x="148579" y="117603"/>
                  <a:pt x="148546" y="118499"/>
                  <a:pt x="148513" y="119361"/>
                </a:cubicBezTo>
                <a:lnTo>
                  <a:pt x="176173" y="140089"/>
                </a:lnTo>
                <a:cubicBezTo>
                  <a:pt x="180849" y="143605"/>
                  <a:pt x="181811" y="150271"/>
                  <a:pt x="178295" y="154947"/>
                </a:cubicBezTo>
                <a:cubicBezTo>
                  <a:pt x="174780" y="159623"/>
                  <a:pt x="168114" y="160585"/>
                  <a:pt x="163437" y="157070"/>
                </a:cubicBezTo>
                <a:lnTo>
                  <a:pt x="142510" y="141383"/>
                </a:lnTo>
                <a:cubicBezTo>
                  <a:pt x="134816" y="156042"/>
                  <a:pt x="120455" y="166654"/>
                  <a:pt x="103475" y="169208"/>
                </a:cubicBezTo>
                <a:lnTo>
                  <a:pt x="103475" y="92862"/>
                </a:lnTo>
                <a:cubicBezTo>
                  <a:pt x="103475" y="88451"/>
                  <a:pt x="99926" y="84903"/>
                  <a:pt x="95515" y="84903"/>
                </a:cubicBezTo>
                <a:cubicBezTo>
                  <a:pt x="91104" y="84903"/>
                  <a:pt x="87556" y="88451"/>
                  <a:pt x="87556" y="92862"/>
                </a:cubicBezTo>
                <a:lnTo>
                  <a:pt x="87556" y="169208"/>
                </a:lnTo>
                <a:cubicBezTo>
                  <a:pt x="70575" y="166654"/>
                  <a:pt x="56215" y="156042"/>
                  <a:pt x="48520" y="141383"/>
                </a:cubicBezTo>
                <a:lnTo>
                  <a:pt x="27593" y="157070"/>
                </a:lnTo>
                <a:cubicBezTo>
                  <a:pt x="22917" y="160585"/>
                  <a:pt x="16251" y="159623"/>
                  <a:pt x="12735" y="154947"/>
                </a:cubicBezTo>
                <a:cubicBezTo>
                  <a:pt x="9220" y="150271"/>
                  <a:pt x="10182" y="143605"/>
                  <a:pt x="14858" y="140089"/>
                </a:cubicBezTo>
                <a:lnTo>
                  <a:pt x="42518" y="119361"/>
                </a:lnTo>
                <a:cubicBezTo>
                  <a:pt x="42484" y="118499"/>
                  <a:pt x="42451" y="117636"/>
                  <a:pt x="42451" y="116741"/>
                </a:cubicBezTo>
                <a:lnTo>
                  <a:pt x="42451" y="106128"/>
                </a:lnTo>
                <a:lnTo>
                  <a:pt x="10613" y="106128"/>
                </a:lnTo>
                <a:cubicBezTo>
                  <a:pt x="4743" y="106128"/>
                  <a:pt x="0" y="101386"/>
                  <a:pt x="0" y="95515"/>
                </a:cubicBezTo>
                <a:cubicBezTo>
                  <a:pt x="0" y="89645"/>
                  <a:pt x="4743" y="84903"/>
                  <a:pt x="10613" y="84903"/>
                </a:cubicBezTo>
                <a:lnTo>
                  <a:pt x="43380" y="84903"/>
                </a:lnTo>
                <a:cubicBezTo>
                  <a:pt x="44209" y="81453"/>
                  <a:pt x="45536" y="78203"/>
                  <a:pt x="47293" y="75251"/>
                </a:cubicBezTo>
                <a:lnTo>
                  <a:pt x="14858" y="50942"/>
                </a:lnTo>
                <a:cubicBezTo>
                  <a:pt x="10182" y="47426"/>
                  <a:pt x="9220" y="40760"/>
                  <a:pt x="12735" y="36084"/>
                </a:cubicBezTo>
                <a:cubicBezTo>
                  <a:pt x="16251" y="31407"/>
                  <a:pt x="22917" y="30446"/>
                  <a:pt x="27593" y="33961"/>
                </a:cubicBezTo>
                <a:lnTo>
                  <a:pt x="63677" y="61024"/>
                </a:lnTo>
                <a:cubicBezTo>
                  <a:pt x="67756" y="59332"/>
                  <a:pt x="72233" y="58370"/>
                  <a:pt x="76943" y="58370"/>
                </a:cubicBezTo>
                <a:lnTo>
                  <a:pt x="114088" y="58370"/>
                </a:lnTo>
                <a:cubicBezTo>
                  <a:pt x="118797" y="58370"/>
                  <a:pt x="123274" y="59299"/>
                  <a:pt x="127354" y="61024"/>
                </a:cubicBezTo>
                <a:lnTo>
                  <a:pt x="163437" y="33961"/>
                </a:lnTo>
                <a:cubicBezTo>
                  <a:pt x="168114" y="30446"/>
                  <a:pt x="174780" y="31407"/>
                  <a:pt x="178295" y="36084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868466064" name="Text 11"/>
          <p:cNvSpPr/>
          <p:nvPr/>
        </p:nvSpPr>
        <p:spPr bwMode="auto">
          <a:xfrm>
            <a:off x="866006" y="2793292"/>
            <a:ext cx="3778162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 b="1">
                <a:solidFill>
                  <a:srgbClr val="E0E2E5"/>
                </a:solidFill>
                <a:latin typeface="MiSans"/>
                <a:ea typeface="MiSans"/>
                <a:cs typeface="MiSans"/>
              </a:rPr>
              <a:t>Vulnerables a Zero-Day</a:t>
            </a:r>
            <a:endParaRPr lang="en-US" sz="1600"/>
          </a:p>
        </p:txBody>
      </p:sp>
      <p:sp>
        <p:nvSpPr>
          <p:cNvPr id="1744106593" name="Text 12"/>
          <p:cNvSpPr/>
          <p:nvPr/>
        </p:nvSpPr>
        <p:spPr bwMode="auto">
          <a:xfrm>
            <a:off x="866006" y="3031019"/>
            <a:ext cx="3769671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 b="1">
                <a:solidFill>
                  <a:srgbClr val="E0E2E5">
                    <a:alpha val="70000"/>
                  </a:srgbClr>
                </a:solidFill>
                <a:latin typeface="MiSans"/>
                <a:ea typeface="MiSans"/>
                <a:cs typeface="MiSans"/>
              </a:rPr>
              <a:t>Fallan completamente</a:t>
            </a:r>
            <a:r>
              <a:rPr lang="en-US" sz="1050">
                <a:solidFill>
                  <a:srgbClr val="E0E2E5">
                    <a:alpha val="70000"/>
                  </a:srgbClr>
                </a:solidFill>
                <a:latin typeface="MiSans"/>
                <a:ea typeface="MiSans"/>
                <a:cs typeface="MiSans"/>
              </a:rPr>
              <a:t> ante ataques nuevos no catalogados</a:t>
            </a:r>
            <a:endParaRPr lang="en-US" sz="1600"/>
          </a:p>
        </p:txBody>
      </p:sp>
      <p:sp>
        <p:nvSpPr>
          <p:cNvPr id="1358086279" name="Shape 13"/>
          <p:cNvSpPr/>
          <p:nvPr/>
        </p:nvSpPr>
        <p:spPr bwMode="auto">
          <a:xfrm>
            <a:off x="583704" y="3404591"/>
            <a:ext cx="148579" cy="169805"/>
          </a:xfrm>
          <a:custGeom>
            <a:avLst/>
            <a:gdLst/>
            <a:ahLst/>
            <a:cxnLst/>
            <a:rect l="l" t="t" r="r" b="b"/>
            <a:pathLst>
              <a:path w="148579" h="169805" fill="norm" stroke="1" extrusionOk="0">
                <a:moveTo>
                  <a:pt x="148579" y="68254"/>
                </a:moveTo>
                <a:cubicBezTo>
                  <a:pt x="143671" y="71504"/>
                  <a:pt x="138033" y="74124"/>
                  <a:pt x="132163" y="76213"/>
                </a:cubicBezTo>
                <a:cubicBezTo>
                  <a:pt x="116575" y="81785"/>
                  <a:pt x="96112" y="84903"/>
                  <a:pt x="74290" y="84903"/>
                </a:cubicBezTo>
                <a:cubicBezTo>
                  <a:pt x="52467" y="84903"/>
                  <a:pt x="31971" y="81752"/>
                  <a:pt x="16417" y="76213"/>
                </a:cubicBezTo>
                <a:cubicBezTo>
                  <a:pt x="10580" y="74124"/>
                  <a:pt x="4908" y="71504"/>
                  <a:pt x="0" y="68254"/>
                </a:cubicBezTo>
                <a:lnTo>
                  <a:pt x="0" y="95515"/>
                </a:lnTo>
                <a:cubicBezTo>
                  <a:pt x="0" y="110174"/>
                  <a:pt x="33265" y="122047"/>
                  <a:pt x="74290" y="122047"/>
                </a:cubicBezTo>
                <a:cubicBezTo>
                  <a:pt x="115315" y="122047"/>
                  <a:pt x="148579" y="110174"/>
                  <a:pt x="148579" y="95515"/>
                </a:cubicBezTo>
                <a:lnTo>
                  <a:pt x="148579" y="68254"/>
                </a:lnTo>
                <a:close/>
                <a:moveTo>
                  <a:pt x="148579" y="42451"/>
                </a:moveTo>
                <a:lnTo>
                  <a:pt x="148579" y="26532"/>
                </a:lnTo>
                <a:cubicBezTo>
                  <a:pt x="148579" y="11873"/>
                  <a:pt x="115315" y="0"/>
                  <a:pt x="74290" y="0"/>
                </a:cubicBezTo>
                <a:cubicBezTo>
                  <a:pt x="33265" y="0"/>
                  <a:pt x="0" y="11873"/>
                  <a:pt x="0" y="26532"/>
                </a:cubicBezTo>
                <a:lnTo>
                  <a:pt x="0" y="42451"/>
                </a:lnTo>
                <a:cubicBezTo>
                  <a:pt x="0" y="57110"/>
                  <a:pt x="33265" y="68983"/>
                  <a:pt x="74290" y="68983"/>
                </a:cubicBezTo>
                <a:cubicBezTo>
                  <a:pt x="115315" y="68983"/>
                  <a:pt x="148579" y="57110"/>
                  <a:pt x="148579" y="42451"/>
                </a:cubicBezTo>
                <a:close/>
                <a:moveTo>
                  <a:pt x="132163" y="129277"/>
                </a:moveTo>
                <a:cubicBezTo>
                  <a:pt x="116608" y="134816"/>
                  <a:pt x="96145" y="137967"/>
                  <a:pt x="74290" y="137967"/>
                </a:cubicBezTo>
                <a:cubicBezTo>
                  <a:pt x="52434" y="137967"/>
                  <a:pt x="31971" y="134816"/>
                  <a:pt x="16417" y="129277"/>
                </a:cubicBezTo>
                <a:cubicBezTo>
                  <a:pt x="10580" y="127188"/>
                  <a:pt x="4908" y="124568"/>
                  <a:pt x="0" y="121318"/>
                </a:cubicBezTo>
                <a:lnTo>
                  <a:pt x="0" y="143273"/>
                </a:lnTo>
                <a:cubicBezTo>
                  <a:pt x="0" y="157932"/>
                  <a:pt x="33265" y="169805"/>
                  <a:pt x="74290" y="169805"/>
                </a:cubicBezTo>
                <a:cubicBezTo>
                  <a:pt x="115315" y="169805"/>
                  <a:pt x="148579" y="157932"/>
                  <a:pt x="148579" y="143273"/>
                </a:cubicBezTo>
                <a:lnTo>
                  <a:pt x="148579" y="121318"/>
                </a:lnTo>
                <a:cubicBezTo>
                  <a:pt x="143671" y="124568"/>
                  <a:pt x="138033" y="127188"/>
                  <a:pt x="132163" y="129277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806184259" name="Text 14"/>
          <p:cNvSpPr/>
          <p:nvPr/>
        </p:nvSpPr>
        <p:spPr bwMode="auto">
          <a:xfrm>
            <a:off x="866006" y="3370630"/>
            <a:ext cx="3345159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 b="1">
                <a:solidFill>
                  <a:srgbClr val="E0E2E5"/>
                </a:solidFill>
                <a:latin typeface="MiSans"/>
                <a:ea typeface="MiSans"/>
                <a:cs typeface="MiSans"/>
              </a:rPr>
              <a:t>Mantenimiento Costoso</a:t>
            </a:r>
            <a:endParaRPr lang="en-US" sz="1600"/>
          </a:p>
        </p:txBody>
      </p:sp>
      <p:sp>
        <p:nvSpPr>
          <p:cNvPr id="1482269978" name="Text 15"/>
          <p:cNvSpPr/>
          <p:nvPr/>
        </p:nvSpPr>
        <p:spPr bwMode="auto">
          <a:xfrm>
            <a:off x="866006" y="3608357"/>
            <a:ext cx="3336669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>
                <a:solidFill>
                  <a:srgbClr val="E0E2E5">
                    <a:alpha val="70000"/>
                  </a:srgbClr>
                </a:solidFill>
                <a:latin typeface="MiSans"/>
                <a:ea typeface="MiSans"/>
                <a:cs typeface="MiSans"/>
              </a:rPr>
              <a:t>Actualización constante de bases de datos de firmas</a:t>
            </a:r>
            <a:endParaRPr lang="en-US" sz="1600"/>
          </a:p>
        </p:txBody>
      </p:sp>
      <p:sp>
        <p:nvSpPr>
          <p:cNvPr id="1219965163" name="Shape 16"/>
          <p:cNvSpPr/>
          <p:nvPr/>
        </p:nvSpPr>
        <p:spPr bwMode="auto">
          <a:xfrm>
            <a:off x="339610" y="4164468"/>
            <a:ext cx="7734618" cy="2657448"/>
          </a:xfrm>
          <a:custGeom>
            <a:avLst/>
            <a:gdLst/>
            <a:ahLst/>
            <a:cxnLst/>
            <a:rect l="l" t="t" r="r" b="b"/>
            <a:pathLst>
              <a:path w="7734618" h="2657448" fill="norm" stroke="1" extrusionOk="0">
                <a:moveTo>
                  <a:pt x="135849" y="0"/>
                </a:moveTo>
                <a:lnTo>
                  <a:pt x="7598770" y="0"/>
                </a:lnTo>
                <a:cubicBezTo>
                  <a:pt x="7673797" y="0"/>
                  <a:pt x="7734618" y="60822"/>
                  <a:pt x="7734618" y="135849"/>
                </a:cubicBezTo>
                <a:lnTo>
                  <a:pt x="7734618" y="2521600"/>
                </a:lnTo>
                <a:cubicBezTo>
                  <a:pt x="7734618" y="2596627"/>
                  <a:pt x="7673797" y="2657448"/>
                  <a:pt x="7598770" y="2657448"/>
                </a:cubicBezTo>
                <a:lnTo>
                  <a:pt x="135849" y="2657448"/>
                </a:lnTo>
                <a:cubicBezTo>
                  <a:pt x="60822" y="2657448"/>
                  <a:pt x="0" y="2596627"/>
                  <a:pt x="0" y="2521600"/>
                </a:cubicBezTo>
                <a:lnTo>
                  <a:pt x="0" y="135849"/>
                </a:lnTo>
                <a:cubicBezTo>
                  <a:pt x="0" y="60872"/>
                  <a:pt x="60872" y="0"/>
                  <a:pt x="135849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12700">
            <a:solidFill>
              <a:srgbClr val="4ECDC4">
                <a:alpha val="40000"/>
              </a:srgbClr>
            </a:solidFill>
            <a:prstDash val="solid"/>
          </a:ln>
        </p:spPr>
      </p:sp>
      <p:sp>
        <p:nvSpPr>
          <p:cNvPr id="1445240121" name="Shape 17"/>
          <p:cNvSpPr/>
          <p:nvPr/>
        </p:nvSpPr>
        <p:spPr bwMode="auto">
          <a:xfrm>
            <a:off x="556111" y="4410685"/>
            <a:ext cx="466964" cy="466964"/>
          </a:xfrm>
          <a:custGeom>
            <a:avLst/>
            <a:gdLst/>
            <a:ahLst/>
            <a:cxnLst/>
            <a:rect l="l" t="t" r="r" b="b"/>
            <a:pathLst>
              <a:path w="466964" h="466964" fill="norm" stroke="1" extrusionOk="0">
                <a:moveTo>
                  <a:pt x="101882" y="0"/>
                </a:moveTo>
                <a:lnTo>
                  <a:pt x="365082" y="0"/>
                </a:lnTo>
                <a:cubicBezTo>
                  <a:pt x="421312" y="0"/>
                  <a:pt x="466964" y="45652"/>
                  <a:pt x="466964" y="101882"/>
                </a:cubicBezTo>
                <a:lnTo>
                  <a:pt x="466964" y="365082"/>
                </a:lnTo>
                <a:cubicBezTo>
                  <a:pt x="466964" y="421312"/>
                  <a:pt x="421312" y="466964"/>
                  <a:pt x="365082" y="466964"/>
                </a:cubicBezTo>
                <a:lnTo>
                  <a:pt x="101882" y="466964"/>
                </a:lnTo>
                <a:cubicBezTo>
                  <a:pt x="45652" y="466964"/>
                  <a:pt x="0" y="421312"/>
                  <a:pt x="0" y="365082"/>
                </a:cubicBezTo>
                <a:lnTo>
                  <a:pt x="0" y="101882"/>
                </a:lnTo>
                <a:cubicBezTo>
                  <a:pt x="0" y="45652"/>
                  <a:pt x="45652" y="0"/>
                  <a:pt x="101882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 w="12700">
            <a:solidFill>
              <a:srgbClr val="4ECDC4">
                <a:alpha val="40000"/>
              </a:srgbClr>
            </a:solidFill>
            <a:prstDash val="solid"/>
          </a:ln>
        </p:spPr>
      </p:sp>
      <p:sp>
        <p:nvSpPr>
          <p:cNvPr id="1960873668" name="Shape 18"/>
          <p:cNvSpPr/>
          <p:nvPr/>
        </p:nvSpPr>
        <p:spPr bwMode="auto">
          <a:xfrm>
            <a:off x="713181" y="4542284"/>
            <a:ext cx="152825" cy="203766"/>
          </a:xfrm>
          <a:custGeom>
            <a:avLst/>
            <a:gdLst/>
            <a:ahLst/>
            <a:cxnLst/>
            <a:rect l="l" t="t" r="r" b="b"/>
            <a:pathLst>
              <a:path w="152825" h="203766" fill="norm" stroke="1" extrusionOk="0">
                <a:moveTo>
                  <a:pt x="116568" y="152825"/>
                </a:moveTo>
                <a:cubicBezTo>
                  <a:pt x="119474" y="143950"/>
                  <a:pt x="125284" y="135910"/>
                  <a:pt x="131851" y="128985"/>
                </a:cubicBezTo>
                <a:cubicBezTo>
                  <a:pt x="144865" y="115295"/>
                  <a:pt x="152825" y="96789"/>
                  <a:pt x="152825" y="76412"/>
                </a:cubicBezTo>
                <a:cubicBezTo>
                  <a:pt x="152825" y="34226"/>
                  <a:pt x="118598" y="0"/>
                  <a:pt x="76412" y="0"/>
                </a:cubicBezTo>
                <a:cubicBezTo>
                  <a:pt x="34226" y="0"/>
                  <a:pt x="0" y="34226"/>
                  <a:pt x="0" y="76412"/>
                </a:cubicBezTo>
                <a:cubicBezTo>
                  <a:pt x="0" y="96789"/>
                  <a:pt x="7960" y="115295"/>
                  <a:pt x="20974" y="128985"/>
                </a:cubicBezTo>
                <a:cubicBezTo>
                  <a:pt x="27540" y="135910"/>
                  <a:pt x="33391" y="143950"/>
                  <a:pt x="36256" y="152825"/>
                </a:cubicBezTo>
                <a:lnTo>
                  <a:pt x="116529" y="152825"/>
                </a:lnTo>
                <a:close/>
                <a:moveTo>
                  <a:pt x="114618" y="171928"/>
                </a:moveTo>
                <a:lnTo>
                  <a:pt x="38206" y="171928"/>
                </a:lnTo>
                <a:lnTo>
                  <a:pt x="38206" y="178295"/>
                </a:lnTo>
                <a:cubicBezTo>
                  <a:pt x="38206" y="195886"/>
                  <a:pt x="52454" y="210134"/>
                  <a:pt x="70045" y="210134"/>
                </a:cubicBezTo>
                <a:lnTo>
                  <a:pt x="82780" y="210134"/>
                </a:lnTo>
                <a:cubicBezTo>
                  <a:pt x="100371" y="210134"/>
                  <a:pt x="114618" y="195886"/>
                  <a:pt x="114618" y="178295"/>
                </a:cubicBezTo>
                <a:lnTo>
                  <a:pt x="114618" y="171928"/>
                </a:lnTo>
                <a:close/>
                <a:moveTo>
                  <a:pt x="73228" y="44574"/>
                </a:moveTo>
                <a:cubicBezTo>
                  <a:pt x="57389" y="44574"/>
                  <a:pt x="44574" y="57389"/>
                  <a:pt x="44574" y="73228"/>
                </a:cubicBezTo>
                <a:cubicBezTo>
                  <a:pt x="44574" y="78522"/>
                  <a:pt x="40315" y="82780"/>
                  <a:pt x="35022" y="82780"/>
                </a:cubicBezTo>
                <a:cubicBezTo>
                  <a:pt x="29729" y="82780"/>
                  <a:pt x="25471" y="78522"/>
                  <a:pt x="25471" y="73228"/>
                </a:cubicBezTo>
                <a:cubicBezTo>
                  <a:pt x="25471" y="46842"/>
                  <a:pt x="46842" y="25471"/>
                  <a:pt x="73228" y="25471"/>
                </a:cubicBezTo>
                <a:cubicBezTo>
                  <a:pt x="78522" y="25471"/>
                  <a:pt x="82780" y="29729"/>
                  <a:pt x="82780" y="35022"/>
                </a:cubicBezTo>
                <a:cubicBezTo>
                  <a:pt x="82780" y="40315"/>
                  <a:pt x="78522" y="44574"/>
                  <a:pt x="73228" y="44574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53012299" name="Text 19"/>
          <p:cNvSpPr/>
          <p:nvPr/>
        </p:nvSpPr>
        <p:spPr bwMode="auto">
          <a:xfrm>
            <a:off x="1163164" y="4508323"/>
            <a:ext cx="1842383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600" b="1">
                <a:solidFill>
                  <a:srgbClr val="4ECDC4"/>
                </a:solidFill>
                <a:latin typeface="MiSans"/>
                <a:ea typeface="MiSans"/>
                <a:cs typeface="MiSans"/>
              </a:rPr>
              <a:t>Nuestra Propuesta</a:t>
            </a:r>
            <a:endParaRPr lang="en-US" sz="1600"/>
          </a:p>
        </p:txBody>
      </p:sp>
      <p:sp>
        <p:nvSpPr>
          <p:cNvPr id="1263660855" name="Shape 20"/>
          <p:cNvSpPr/>
          <p:nvPr/>
        </p:nvSpPr>
        <p:spPr bwMode="auto">
          <a:xfrm>
            <a:off x="573092" y="5085660"/>
            <a:ext cx="169805" cy="169805"/>
          </a:xfrm>
          <a:custGeom>
            <a:avLst/>
            <a:gdLst/>
            <a:ahLst/>
            <a:cxnLst/>
            <a:rect l="l" t="t" r="r" b="b"/>
            <a:pathLst>
              <a:path w="169805" h="169805" fill="norm" stroke="1" extrusionOk="0">
                <a:moveTo>
                  <a:pt x="21226" y="21226"/>
                </a:moveTo>
                <a:cubicBezTo>
                  <a:pt x="21226" y="15355"/>
                  <a:pt x="16483" y="10613"/>
                  <a:pt x="10613" y="10613"/>
                </a:cubicBezTo>
                <a:cubicBezTo>
                  <a:pt x="4743" y="10613"/>
                  <a:pt x="0" y="15355"/>
                  <a:pt x="0" y="21226"/>
                </a:cubicBezTo>
                <a:lnTo>
                  <a:pt x="0" y="132660"/>
                </a:lnTo>
                <a:cubicBezTo>
                  <a:pt x="0" y="147319"/>
                  <a:pt x="11873" y="159192"/>
                  <a:pt x="26532" y="159192"/>
                </a:cubicBezTo>
                <a:lnTo>
                  <a:pt x="159192" y="159192"/>
                </a:lnTo>
                <a:cubicBezTo>
                  <a:pt x="165062" y="159192"/>
                  <a:pt x="169805" y="154450"/>
                  <a:pt x="169805" y="148579"/>
                </a:cubicBezTo>
                <a:cubicBezTo>
                  <a:pt x="169805" y="142709"/>
                  <a:pt x="165062" y="137967"/>
                  <a:pt x="159192" y="137967"/>
                </a:cubicBezTo>
                <a:lnTo>
                  <a:pt x="26532" y="137967"/>
                </a:lnTo>
                <a:cubicBezTo>
                  <a:pt x="23614" y="137967"/>
                  <a:pt x="21226" y="135579"/>
                  <a:pt x="21226" y="132660"/>
                </a:cubicBezTo>
                <a:lnTo>
                  <a:pt x="21226" y="21226"/>
                </a:lnTo>
                <a:close/>
                <a:moveTo>
                  <a:pt x="156075" y="49947"/>
                </a:moveTo>
                <a:cubicBezTo>
                  <a:pt x="160220" y="45801"/>
                  <a:pt x="160220" y="39068"/>
                  <a:pt x="156075" y="34923"/>
                </a:cubicBezTo>
                <a:cubicBezTo>
                  <a:pt x="151929" y="30777"/>
                  <a:pt x="145197" y="30777"/>
                  <a:pt x="141051" y="34923"/>
                </a:cubicBezTo>
                <a:lnTo>
                  <a:pt x="106128" y="69879"/>
                </a:lnTo>
                <a:lnTo>
                  <a:pt x="87091" y="50875"/>
                </a:lnTo>
                <a:cubicBezTo>
                  <a:pt x="82946" y="46730"/>
                  <a:pt x="76213" y="46730"/>
                  <a:pt x="72068" y="50875"/>
                </a:cubicBezTo>
                <a:lnTo>
                  <a:pt x="40229" y="82714"/>
                </a:lnTo>
                <a:cubicBezTo>
                  <a:pt x="36084" y="86859"/>
                  <a:pt x="36084" y="93592"/>
                  <a:pt x="40229" y="97737"/>
                </a:cubicBezTo>
                <a:cubicBezTo>
                  <a:pt x="44375" y="101883"/>
                  <a:pt x="51107" y="101883"/>
                  <a:pt x="55253" y="97737"/>
                </a:cubicBezTo>
                <a:lnTo>
                  <a:pt x="79596" y="73394"/>
                </a:lnTo>
                <a:lnTo>
                  <a:pt x="98633" y="92431"/>
                </a:lnTo>
                <a:cubicBezTo>
                  <a:pt x="102778" y="96577"/>
                  <a:pt x="109511" y="96577"/>
                  <a:pt x="113657" y="92431"/>
                </a:cubicBezTo>
                <a:lnTo>
                  <a:pt x="156108" y="4998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05950189" name="Text 21"/>
          <p:cNvSpPr/>
          <p:nvPr/>
        </p:nvSpPr>
        <p:spPr bwMode="auto">
          <a:xfrm>
            <a:off x="866006" y="5051699"/>
            <a:ext cx="4414930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 b="1">
                <a:solidFill>
                  <a:srgbClr val="E0E2E5"/>
                </a:solidFill>
                <a:latin typeface="MiSans"/>
                <a:ea typeface="MiSans"/>
                <a:cs typeface="MiSans"/>
              </a:rPr>
              <a:t>Detección de Anomalías</a:t>
            </a:r>
            <a:endParaRPr lang="en-US" sz="1600"/>
          </a:p>
        </p:txBody>
      </p:sp>
      <p:sp>
        <p:nvSpPr>
          <p:cNvPr id="1239066452" name="Text 22"/>
          <p:cNvSpPr/>
          <p:nvPr/>
        </p:nvSpPr>
        <p:spPr bwMode="auto">
          <a:xfrm>
            <a:off x="866006" y="5289426"/>
            <a:ext cx="4406440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>
                <a:solidFill>
                  <a:srgbClr val="E0E2E5">
                    <a:alpha val="70000"/>
                  </a:srgbClr>
                </a:solidFill>
                <a:latin typeface="MiSans"/>
                <a:ea typeface="MiSans"/>
                <a:cs typeface="MiSans"/>
              </a:rPr>
              <a:t>Identifica comportamientos estadísticos anómalos en el tráfico de red</a:t>
            </a:r>
            <a:endParaRPr lang="en-US" sz="1600"/>
          </a:p>
        </p:txBody>
      </p:sp>
      <p:sp>
        <p:nvSpPr>
          <p:cNvPr id="1054974895" name="Shape 23"/>
          <p:cNvSpPr/>
          <p:nvPr/>
        </p:nvSpPr>
        <p:spPr bwMode="auto">
          <a:xfrm>
            <a:off x="573092" y="5662997"/>
            <a:ext cx="169805" cy="169805"/>
          </a:xfrm>
          <a:custGeom>
            <a:avLst/>
            <a:gdLst/>
            <a:ahLst/>
            <a:cxnLst/>
            <a:rect l="l" t="t" r="r" b="b"/>
            <a:pathLst>
              <a:path w="169805" h="169805" fill="norm" stroke="1" extrusionOk="0">
                <a:moveTo>
                  <a:pt x="84903" y="169805"/>
                </a:moveTo>
                <a:cubicBezTo>
                  <a:pt x="131761" y="169805"/>
                  <a:pt x="169805" y="131761"/>
                  <a:pt x="169805" y="84903"/>
                </a:cubicBezTo>
                <a:cubicBezTo>
                  <a:pt x="169805" y="38044"/>
                  <a:pt x="131761" y="0"/>
                  <a:pt x="84903" y="0"/>
                </a:cubicBezTo>
                <a:cubicBezTo>
                  <a:pt x="38044" y="0"/>
                  <a:pt x="0" y="38044"/>
                  <a:pt x="0" y="84903"/>
                </a:cubicBezTo>
                <a:cubicBezTo>
                  <a:pt x="0" y="131761"/>
                  <a:pt x="38044" y="169805"/>
                  <a:pt x="84903" y="169805"/>
                </a:cubicBezTo>
                <a:close/>
                <a:moveTo>
                  <a:pt x="112894" y="70542"/>
                </a:moveTo>
                <a:lnTo>
                  <a:pt x="86362" y="112993"/>
                </a:lnTo>
                <a:cubicBezTo>
                  <a:pt x="84969" y="115215"/>
                  <a:pt x="82581" y="116608"/>
                  <a:pt x="79961" y="116741"/>
                </a:cubicBezTo>
                <a:cubicBezTo>
                  <a:pt x="77341" y="116874"/>
                  <a:pt x="74820" y="115680"/>
                  <a:pt x="73262" y="113557"/>
                </a:cubicBezTo>
                <a:lnTo>
                  <a:pt x="57342" y="92331"/>
                </a:lnTo>
                <a:cubicBezTo>
                  <a:pt x="54689" y="88816"/>
                  <a:pt x="55419" y="83841"/>
                  <a:pt x="58934" y="81188"/>
                </a:cubicBezTo>
                <a:cubicBezTo>
                  <a:pt x="62450" y="78535"/>
                  <a:pt x="67425" y="79264"/>
                  <a:pt x="70078" y="82780"/>
                </a:cubicBezTo>
                <a:lnTo>
                  <a:pt x="79032" y="94719"/>
                </a:lnTo>
                <a:lnTo>
                  <a:pt x="99396" y="62118"/>
                </a:lnTo>
                <a:cubicBezTo>
                  <a:pt x="101717" y="58404"/>
                  <a:pt x="106626" y="57243"/>
                  <a:pt x="110373" y="59598"/>
                </a:cubicBezTo>
                <a:cubicBezTo>
                  <a:pt x="114121" y="61952"/>
                  <a:pt x="115249" y="66828"/>
                  <a:pt x="112894" y="70575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079566517" name="Text 24"/>
          <p:cNvSpPr/>
          <p:nvPr/>
        </p:nvSpPr>
        <p:spPr bwMode="auto">
          <a:xfrm>
            <a:off x="866006" y="5629036"/>
            <a:ext cx="3582886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 b="1">
                <a:solidFill>
                  <a:srgbClr val="E0E2E5"/>
                </a:solidFill>
                <a:latin typeface="MiSans"/>
                <a:ea typeface="MiSans"/>
                <a:cs typeface="MiSans"/>
              </a:rPr>
              <a:t>Sin Catálogo Previo</a:t>
            </a:r>
            <a:endParaRPr lang="en-US" sz="1600"/>
          </a:p>
        </p:txBody>
      </p:sp>
      <p:sp>
        <p:nvSpPr>
          <p:cNvPr id="1262108071" name="Text 25"/>
          <p:cNvSpPr/>
          <p:nvPr/>
        </p:nvSpPr>
        <p:spPr bwMode="auto">
          <a:xfrm>
            <a:off x="866006" y="5866763"/>
            <a:ext cx="3574396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 b="1">
                <a:solidFill>
                  <a:srgbClr val="E0E2E5">
                    <a:alpha val="70000"/>
                  </a:srgbClr>
                </a:solidFill>
                <a:latin typeface="MiSans"/>
                <a:ea typeface="MiSans"/>
                <a:cs typeface="MiSans"/>
              </a:rPr>
              <a:t>No requiere conocimiento previo</a:t>
            </a:r>
            <a:r>
              <a:rPr lang="en-US" sz="1050">
                <a:solidFill>
                  <a:srgbClr val="E0E2E5">
                    <a:alpha val="70000"/>
                  </a:srgbClr>
                </a:solidFill>
                <a:latin typeface="MiSans"/>
                <a:ea typeface="MiSans"/>
                <a:cs typeface="MiSans"/>
              </a:rPr>
              <a:t> de ataques específicos</a:t>
            </a:r>
            <a:endParaRPr lang="en-US" sz="1600"/>
          </a:p>
        </p:txBody>
      </p:sp>
      <p:sp>
        <p:nvSpPr>
          <p:cNvPr id="1047228882" name="Shape 26"/>
          <p:cNvSpPr/>
          <p:nvPr/>
        </p:nvSpPr>
        <p:spPr bwMode="auto">
          <a:xfrm>
            <a:off x="573092" y="6240333"/>
            <a:ext cx="169805" cy="169805"/>
          </a:xfrm>
          <a:custGeom>
            <a:avLst/>
            <a:gdLst/>
            <a:ahLst/>
            <a:cxnLst/>
            <a:rect l="l" t="t" r="r" b="b"/>
            <a:pathLst>
              <a:path w="169805" h="169805" fill="norm" stroke="1" extrusionOk="0">
                <a:moveTo>
                  <a:pt x="39798" y="18572"/>
                </a:moveTo>
                <a:cubicBezTo>
                  <a:pt x="39798" y="8324"/>
                  <a:pt x="48122" y="0"/>
                  <a:pt x="58370" y="0"/>
                </a:cubicBezTo>
                <a:lnTo>
                  <a:pt x="66330" y="0"/>
                </a:lnTo>
                <a:cubicBezTo>
                  <a:pt x="72200" y="0"/>
                  <a:pt x="76943" y="4743"/>
                  <a:pt x="76943" y="10613"/>
                </a:cubicBezTo>
                <a:lnTo>
                  <a:pt x="76943" y="159192"/>
                </a:lnTo>
                <a:cubicBezTo>
                  <a:pt x="76943" y="165062"/>
                  <a:pt x="72200" y="169805"/>
                  <a:pt x="66330" y="169805"/>
                </a:cubicBezTo>
                <a:lnTo>
                  <a:pt x="55717" y="169805"/>
                </a:lnTo>
                <a:cubicBezTo>
                  <a:pt x="45834" y="169805"/>
                  <a:pt x="37510" y="163039"/>
                  <a:pt x="35155" y="153886"/>
                </a:cubicBezTo>
                <a:cubicBezTo>
                  <a:pt x="34923" y="153886"/>
                  <a:pt x="34724" y="153886"/>
                  <a:pt x="34492" y="153886"/>
                </a:cubicBezTo>
                <a:cubicBezTo>
                  <a:pt x="19833" y="153886"/>
                  <a:pt x="7960" y="142013"/>
                  <a:pt x="7960" y="127354"/>
                </a:cubicBezTo>
                <a:cubicBezTo>
                  <a:pt x="7960" y="121384"/>
                  <a:pt x="9950" y="115879"/>
                  <a:pt x="13266" y="111435"/>
                </a:cubicBezTo>
                <a:cubicBezTo>
                  <a:pt x="6832" y="106592"/>
                  <a:pt x="2653" y="98898"/>
                  <a:pt x="2653" y="90209"/>
                </a:cubicBezTo>
                <a:cubicBezTo>
                  <a:pt x="2653" y="79961"/>
                  <a:pt x="8490" y="71040"/>
                  <a:pt x="16981" y="66629"/>
                </a:cubicBezTo>
                <a:cubicBezTo>
                  <a:pt x="14626" y="62649"/>
                  <a:pt x="13266" y="58006"/>
                  <a:pt x="13266" y="53064"/>
                </a:cubicBezTo>
                <a:cubicBezTo>
                  <a:pt x="13266" y="38405"/>
                  <a:pt x="25139" y="26532"/>
                  <a:pt x="39798" y="26532"/>
                </a:cubicBezTo>
                <a:lnTo>
                  <a:pt x="39798" y="18572"/>
                </a:lnTo>
                <a:close/>
                <a:moveTo>
                  <a:pt x="130007" y="18572"/>
                </a:moveTo>
                <a:lnTo>
                  <a:pt x="130007" y="26532"/>
                </a:lnTo>
                <a:cubicBezTo>
                  <a:pt x="144666" y="26532"/>
                  <a:pt x="156539" y="38405"/>
                  <a:pt x="156539" y="53064"/>
                </a:cubicBezTo>
                <a:cubicBezTo>
                  <a:pt x="156539" y="58039"/>
                  <a:pt x="155179" y="62682"/>
                  <a:pt x="152825" y="66629"/>
                </a:cubicBezTo>
                <a:cubicBezTo>
                  <a:pt x="161348" y="71040"/>
                  <a:pt x="167152" y="79928"/>
                  <a:pt x="167152" y="90209"/>
                </a:cubicBezTo>
                <a:cubicBezTo>
                  <a:pt x="167152" y="98898"/>
                  <a:pt x="162973" y="106592"/>
                  <a:pt x="156539" y="111435"/>
                </a:cubicBezTo>
                <a:cubicBezTo>
                  <a:pt x="159856" y="115879"/>
                  <a:pt x="161845" y="121384"/>
                  <a:pt x="161845" y="127354"/>
                </a:cubicBezTo>
                <a:cubicBezTo>
                  <a:pt x="161845" y="142013"/>
                  <a:pt x="149972" y="153886"/>
                  <a:pt x="135313" y="153886"/>
                </a:cubicBezTo>
                <a:cubicBezTo>
                  <a:pt x="135081" y="153886"/>
                  <a:pt x="134882" y="153886"/>
                  <a:pt x="134650" y="153886"/>
                </a:cubicBezTo>
                <a:cubicBezTo>
                  <a:pt x="132295" y="163039"/>
                  <a:pt x="123971" y="169805"/>
                  <a:pt x="114088" y="169805"/>
                </a:cubicBezTo>
                <a:lnTo>
                  <a:pt x="103475" y="169805"/>
                </a:lnTo>
                <a:cubicBezTo>
                  <a:pt x="97605" y="169805"/>
                  <a:pt x="92862" y="165062"/>
                  <a:pt x="92862" y="159192"/>
                </a:cubicBezTo>
                <a:lnTo>
                  <a:pt x="92862" y="10613"/>
                </a:lnTo>
                <a:cubicBezTo>
                  <a:pt x="92862" y="4743"/>
                  <a:pt x="97605" y="0"/>
                  <a:pt x="103475" y="0"/>
                </a:cubicBezTo>
                <a:lnTo>
                  <a:pt x="111435" y="0"/>
                </a:lnTo>
                <a:cubicBezTo>
                  <a:pt x="121683" y="0"/>
                  <a:pt x="130007" y="8324"/>
                  <a:pt x="130007" y="18572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713452882" name="Text 27"/>
          <p:cNvSpPr/>
          <p:nvPr/>
        </p:nvSpPr>
        <p:spPr bwMode="auto">
          <a:xfrm>
            <a:off x="866006" y="6206373"/>
            <a:ext cx="3149883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 b="1">
                <a:solidFill>
                  <a:srgbClr val="E0E2E5"/>
                </a:solidFill>
                <a:latin typeface="MiSans"/>
                <a:ea typeface="MiSans"/>
                <a:cs typeface="MiSans"/>
              </a:rPr>
              <a:t>Aprendizaje Adaptativo</a:t>
            </a:r>
            <a:endParaRPr lang="en-US" sz="1600"/>
          </a:p>
        </p:txBody>
      </p:sp>
      <p:sp>
        <p:nvSpPr>
          <p:cNvPr id="564561028" name="Text 28"/>
          <p:cNvSpPr/>
          <p:nvPr/>
        </p:nvSpPr>
        <p:spPr bwMode="auto">
          <a:xfrm>
            <a:off x="866006" y="6444100"/>
            <a:ext cx="3141392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>
                <a:solidFill>
                  <a:srgbClr val="E0E2E5">
                    <a:alpha val="70000"/>
                  </a:srgbClr>
                </a:solidFill>
                <a:latin typeface="MiSans"/>
                <a:ea typeface="MiSans"/>
                <a:cs typeface="MiSans"/>
              </a:rPr>
              <a:t>Se adapta a nuevos patrones de comportamiento</a:t>
            </a:r>
            <a:endParaRPr lang="en-US" sz="1600"/>
          </a:p>
        </p:txBody>
      </p:sp>
      <p:sp>
        <p:nvSpPr>
          <p:cNvPr id="1372442065" name="Shape 29"/>
          <p:cNvSpPr/>
          <p:nvPr/>
        </p:nvSpPr>
        <p:spPr bwMode="auto">
          <a:xfrm>
            <a:off x="8294444" y="1362685"/>
            <a:ext cx="3557415" cy="4236635"/>
          </a:xfrm>
          <a:custGeom>
            <a:avLst/>
            <a:gdLst/>
            <a:ahLst/>
            <a:cxnLst/>
            <a:rect l="l" t="t" r="r" b="b"/>
            <a:pathLst>
              <a:path w="3557415" h="4236635" fill="norm" stroke="1" extrusionOk="0">
                <a:moveTo>
                  <a:pt x="135858" y="0"/>
                </a:moveTo>
                <a:lnTo>
                  <a:pt x="3421557" y="0"/>
                </a:lnTo>
                <a:cubicBezTo>
                  <a:pt x="3496589" y="0"/>
                  <a:pt x="3557415" y="60826"/>
                  <a:pt x="3557415" y="135858"/>
                </a:cubicBezTo>
                <a:lnTo>
                  <a:pt x="3557415" y="4100777"/>
                </a:lnTo>
                <a:cubicBezTo>
                  <a:pt x="3557415" y="4175810"/>
                  <a:pt x="3496589" y="4236635"/>
                  <a:pt x="3421557" y="4236635"/>
                </a:cubicBezTo>
                <a:lnTo>
                  <a:pt x="135858" y="4236635"/>
                </a:lnTo>
                <a:cubicBezTo>
                  <a:pt x="60826" y="4236635"/>
                  <a:pt x="0" y="4175810"/>
                  <a:pt x="0" y="4100777"/>
                </a:cubicBezTo>
                <a:lnTo>
                  <a:pt x="0" y="135858"/>
                </a:lnTo>
                <a:cubicBezTo>
                  <a:pt x="0" y="60876"/>
                  <a:pt x="60876" y="0"/>
                  <a:pt x="135858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5F85A5">
                <a:alpha val="30193"/>
              </a:srgbClr>
            </a:solidFill>
            <a:prstDash val="solid"/>
          </a:ln>
        </p:spPr>
      </p:sp>
      <p:sp>
        <p:nvSpPr>
          <p:cNvPr id="1862404875" name="Text 30"/>
          <p:cNvSpPr/>
          <p:nvPr/>
        </p:nvSpPr>
        <p:spPr bwMode="auto">
          <a:xfrm>
            <a:off x="8451514" y="1570696"/>
            <a:ext cx="3243276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1600" b="1">
                <a:solidFill>
                  <a:srgbClr val="E0E2E5"/>
                </a:solidFill>
                <a:latin typeface="MiSans"/>
                <a:ea typeface="MiSans"/>
                <a:cs typeface="MiSans"/>
              </a:rPr>
              <a:t>Comparación de Enfoques</a:t>
            </a:r>
            <a:endParaRPr lang="en-US" sz="1600"/>
          </a:p>
        </p:txBody>
      </p:sp>
      <p:sp>
        <p:nvSpPr>
          <p:cNvPr id="462520753" name="Shape 31"/>
          <p:cNvSpPr/>
          <p:nvPr/>
        </p:nvSpPr>
        <p:spPr bwMode="auto">
          <a:xfrm>
            <a:off x="8506701" y="2016435"/>
            <a:ext cx="3132903" cy="1468813"/>
          </a:xfrm>
          <a:custGeom>
            <a:avLst/>
            <a:gdLst/>
            <a:ahLst/>
            <a:cxnLst/>
            <a:rect l="l" t="t" r="r" b="b"/>
            <a:pathLst>
              <a:path w="3132903" h="1468813" fill="norm" stroke="1" extrusionOk="0">
                <a:moveTo>
                  <a:pt x="101877" y="0"/>
                </a:moveTo>
                <a:lnTo>
                  <a:pt x="3031026" y="0"/>
                </a:lnTo>
                <a:cubicBezTo>
                  <a:pt x="3087291" y="0"/>
                  <a:pt x="3132903" y="45612"/>
                  <a:pt x="3132903" y="101877"/>
                </a:cubicBezTo>
                <a:lnTo>
                  <a:pt x="3132903" y="1366936"/>
                </a:lnTo>
                <a:cubicBezTo>
                  <a:pt x="3132903" y="1423202"/>
                  <a:pt x="3087291" y="1468813"/>
                  <a:pt x="3031026" y="1468813"/>
                </a:cubicBezTo>
                <a:lnTo>
                  <a:pt x="101877" y="1468813"/>
                </a:lnTo>
                <a:cubicBezTo>
                  <a:pt x="45612" y="1468813"/>
                  <a:pt x="0" y="1423202"/>
                  <a:pt x="0" y="1366936"/>
                </a:cubicBezTo>
                <a:lnTo>
                  <a:pt x="0" y="101877"/>
                </a:lnTo>
                <a:cubicBezTo>
                  <a:pt x="0" y="45612"/>
                  <a:pt x="45612" y="0"/>
                  <a:pt x="10187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E74C3C">
                <a:alpha val="30193"/>
              </a:srgbClr>
            </a:solidFill>
            <a:prstDash val="solid"/>
          </a:ln>
        </p:spPr>
      </p:sp>
      <p:sp>
        <p:nvSpPr>
          <p:cNvPr id="267016177" name="Text 32"/>
          <p:cNvSpPr/>
          <p:nvPr/>
        </p:nvSpPr>
        <p:spPr bwMode="auto">
          <a:xfrm>
            <a:off x="8680751" y="2190485"/>
            <a:ext cx="1757482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350" b="1">
                <a:solidFill>
                  <a:srgbClr val="E74C3C"/>
                </a:solidFill>
                <a:latin typeface="MiSans"/>
                <a:ea typeface="MiSans"/>
                <a:cs typeface="MiSans"/>
              </a:rPr>
              <a:t>Detección por Firmas</a:t>
            </a:r>
            <a:endParaRPr lang="en-US" sz="1600"/>
          </a:p>
        </p:txBody>
      </p:sp>
      <p:sp>
        <p:nvSpPr>
          <p:cNvPr id="1323734792" name="Shape 33"/>
          <p:cNvSpPr/>
          <p:nvPr/>
        </p:nvSpPr>
        <p:spPr bwMode="auto">
          <a:xfrm>
            <a:off x="11210845" y="2207465"/>
            <a:ext cx="254708" cy="203766"/>
          </a:xfrm>
          <a:custGeom>
            <a:avLst/>
            <a:gdLst/>
            <a:ahLst/>
            <a:cxnLst/>
            <a:rect l="l" t="t" r="r" b="b"/>
            <a:pathLst>
              <a:path w="254708" h="203766" fill="norm" stroke="1" extrusionOk="0">
                <a:moveTo>
                  <a:pt x="25511" y="25471"/>
                </a:moveTo>
                <a:cubicBezTo>
                  <a:pt x="25511" y="11422"/>
                  <a:pt x="36933" y="0"/>
                  <a:pt x="50981" y="0"/>
                </a:cubicBezTo>
                <a:lnTo>
                  <a:pt x="110479" y="0"/>
                </a:lnTo>
                <a:cubicBezTo>
                  <a:pt x="117245" y="0"/>
                  <a:pt x="123732" y="2666"/>
                  <a:pt x="128508" y="7442"/>
                </a:cubicBezTo>
                <a:lnTo>
                  <a:pt x="170853" y="49867"/>
                </a:lnTo>
                <a:cubicBezTo>
                  <a:pt x="175629" y="54643"/>
                  <a:pt x="178295" y="61130"/>
                  <a:pt x="178295" y="67895"/>
                </a:cubicBezTo>
                <a:lnTo>
                  <a:pt x="178295" y="106699"/>
                </a:lnTo>
                <a:lnTo>
                  <a:pt x="125762" y="159232"/>
                </a:lnTo>
                <a:lnTo>
                  <a:pt x="109007" y="159232"/>
                </a:lnTo>
                <a:lnTo>
                  <a:pt x="102599" y="137900"/>
                </a:lnTo>
                <a:cubicBezTo>
                  <a:pt x="100729" y="131652"/>
                  <a:pt x="94998" y="127394"/>
                  <a:pt x="88471" y="127394"/>
                </a:cubicBezTo>
                <a:cubicBezTo>
                  <a:pt x="83974" y="127394"/>
                  <a:pt x="79755" y="129423"/>
                  <a:pt x="76969" y="132925"/>
                </a:cubicBezTo>
                <a:lnTo>
                  <a:pt x="53051" y="162774"/>
                </a:lnTo>
                <a:cubicBezTo>
                  <a:pt x="49748" y="166873"/>
                  <a:pt x="50424" y="172923"/>
                  <a:pt x="54523" y="176186"/>
                </a:cubicBezTo>
                <a:cubicBezTo>
                  <a:pt x="58623" y="179449"/>
                  <a:pt x="64672" y="178813"/>
                  <a:pt x="67935" y="174674"/>
                </a:cubicBezTo>
                <a:lnTo>
                  <a:pt x="86680" y="151272"/>
                </a:lnTo>
                <a:lnTo>
                  <a:pt x="92729" y="171450"/>
                </a:lnTo>
                <a:cubicBezTo>
                  <a:pt x="93923" y="175509"/>
                  <a:pt x="97664" y="178255"/>
                  <a:pt x="101883" y="178255"/>
                </a:cubicBezTo>
                <a:lnTo>
                  <a:pt x="114419" y="178255"/>
                </a:lnTo>
                <a:cubicBezTo>
                  <a:pt x="114061" y="179489"/>
                  <a:pt x="113743" y="180763"/>
                  <a:pt x="113504" y="182036"/>
                </a:cubicBezTo>
                <a:lnTo>
                  <a:pt x="109166" y="203726"/>
                </a:lnTo>
                <a:lnTo>
                  <a:pt x="50981" y="203726"/>
                </a:lnTo>
                <a:cubicBezTo>
                  <a:pt x="36933" y="203726"/>
                  <a:pt x="25511" y="192304"/>
                  <a:pt x="25511" y="178255"/>
                </a:cubicBezTo>
                <a:lnTo>
                  <a:pt x="25511" y="25431"/>
                </a:lnTo>
                <a:close/>
                <a:moveTo>
                  <a:pt x="108290" y="23282"/>
                </a:moveTo>
                <a:lnTo>
                  <a:pt x="108290" y="60493"/>
                </a:lnTo>
                <a:cubicBezTo>
                  <a:pt x="108290" y="65786"/>
                  <a:pt x="112549" y="70045"/>
                  <a:pt x="117842" y="70045"/>
                </a:cubicBezTo>
                <a:lnTo>
                  <a:pt x="155053" y="70045"/>
                </a:lnTo>
                <a:lnTo>
                  <a:pt x="108290" y="23282"/>
                </a:lnTo>
                <a:close/>
                <a:moveTo>
                  <a:pt x="132249" y="185817"/>
                </a:moveTo>
                <a:cubicBezTo>
                  <a:pt x="133244" y="180882"/>
                  <a:pt x="135672" y="176345"/>
                  <a:pt x="139214" y="172803"/>
                </a:cubicBezTo>
                <a:lnTo>
                  <a:pt x="186533" y="125483"/>
                </a:lnTo>
                <a:lnTo>
                  <a:pt x="218372" y="157322"/>
                </a:lnTo>
                <a:lnTo>
                  <a:pt x="171052" y="204642"/>
                </a:lnTo>
                <a:cubicBezTo>
                  <a:pt x="167510" y="208184"/>
                  <a:pt x="162973" y="210611"/>
                  <a:pt x="158038" y="211606"/>
                </a:cubicBezTo>
                <a:lnTo>
                  <a:pt x="134318" y="216342"/>
                </a:lnTo>
                <a:cubicBezTo>
                  <a:pt x="133960" y="216422"/>
                  <a:pt x="133562" y="216462"/>
                  <a:pt x="133164" y="216462"/>
                </a:cubicBezTo>
                <a:cubicBezTo>
                  <a:pt x="129980" y="216462"/>
                  <a:pt x="127354" y="213875"/>
                  <a:pt x="127354" y="210651"/>
                </a:cubicBezTo>
                <a:cubicBezTo>
                  <a:pt x="127354" y="210253"/>
                  <a:pt x="127394" y="209895"/>
                  <a:pt x="127473" y="209497"/>
                </a:cubicBezTo>
                <a:lnTo>
                  <a:pt x="132209" y="185777"/>
                </a:lnTo>
                <a:close/>
                <a:moveTo>
                  <a:pt x="238828" y="136865"/>
                </a:moveTo>
                <a:lnTo>
                  <a:pt x="227366" y="148327"/>
                </a:lnTo>
                <a:lnTo>
                  <a:pt x="195528" y="116489"/>
                </a:lnTo>
                <a:lnTo>
                  <a:pt x="206990" y="105027"/>
                </a:lnTo>
                <a:cubicBezTo>
                  <a:pt x="215785" y="96232"/>
                  <a:pt x="230033" y="96232"/>
                  <a:pt x="238828" y="105027"/>
                </a:cubicBezTo>
                <a:cubicBezTo>
                  <a:pt x="247623" y="113822"/>
                  <a:pt x="247623" y="128070"/>
                  <a:pt x="238828" y="136865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1641552347" name="Shape 34"/>
          <p:cNvSpPr/>
          <p:nvPr/>
        </p:nvSpPr>
        <p:spPr bwMode="auto">
          <a:xfrm>
            <a:off x="8680751" y="2581036"/>
            <a:ext cx="101883" cy="101883"/>
          </a:xfrm>
          <a:custGeom>
            <a:avLst/>
            <a:gdLst/>
            <a:ahLst/>
            <a:cxnLst/>
            <a:rect l="l" t="t" r="r" b="b"/>
            <a:pathLst>
              <a:path w="101883" h="101883" fill="norm" stroke="1" extrusionOk="0">
                <a:moveTo>
                  <a:pt x="50942" y="0"/>
                </a:moveTo>
                <a:lnTo>
                  <a:pt x="50942" y="0"/>
                </a:lnTo>
                <a:cubicBezTo>
                  <a:pt x="79076" y="0"/>
                  <a:pt x="101883" y="22807"/>
                  <a:pt x="101883" y="50942"/>
                </a:cubicBezTo>
                <a:lnTo>
                  <a:pt x="101883" y="50942"/>
                </a:lnTo>
                <a:cubicBezTo>
                  <a:pt x="101883" y="79076"/>
                  <a:pt x="79076" y="101883"/>
                  <a:pt x="50942" y="101883"/>
                </a:cubicBezTo>
                <a:lnTo>
                  <a:pt x="50942" y="101883"/>
                </a:lnTo>
                <a:cubicBezTo>
                  <a:pt x="22807" y="101883"/>
                  <a:pt x="0" y="79076"/>
                  <a:pt x="0" y="50942"/>
                </a:cubicBezTo>
                <a:lnTo>
                  <a:pt x="0" y="50942"/>
                </a:lnTo>
                <a:cubicBezTo>
                  <a:pt x="0" y="22807"/>
                  <a:pt x="22807" y="0"/>
                  <a:pt x="50942" y="0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868971832" name="Text 35"/>
          <p:cNvSpPr/>
          <p:nvPr/>
        </p:nvSpPr>
        <p:spPr bwMode="auto">
          <a:xfrm>
            <a:off x="8884517" y="2530095"/>
            <a:ext cx="1842383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>
                <a:solidFill>
                  <a:srgbClr val="E0E2E5">
                    <a:alpha val="80000"/>
                  </a:srgbClr>
                </a:solidFill>
                <a:latin typeface="MiSans"/>
                <a:ea typeface="MiSans"/>
                <a:cs typeface="MiSans"/>
              </a:rPr>
              <a:t>Ataque conocido: Detectado</a:t>
            </a:r>
            <a:endParaRPr lang="en-US" sz="1600"/>
          </a:p>
        </p:txBody>
      </p:sp>
      <p:sp>
        <p:nvSpPr>
          <p:cNvPr id="1994909740" name="Shape 36"/>
          <p:cNvSpPr/>
          <p:nvPr/>
        </p:nvSpPr>
        <p:spPr bwMode="auto">
          <a:xfrm>
            <a:off x="8680751" y="2869705"/>
            <a:ext cx="101883" cy="101883"/>
          </a:xfrm>
          <a:custGeom>
            <a:avLst/>
            <a:gdLst/>
            <a:ahLst/>
            <a:cxnLst/>
            <a:rect l="l" t="t" r="r" b="b"/>
            <a:pathLst>
              <a:path w="101883" h="101883" fill="norm" stroke="1" extrusionOk="0">
                <a:moveTo>
                  <a:pt x="50942" y="0"/>
                </a:moveTo>
                <a:lnTo>
                  <a:pt x="50942" y="0"/>
                </a:lnTo>
                <a:cubicBezTo>
                  <a:pt x="79076" y="0"/>
                  <a:pt x="101883" y="22807"/>
                  <a:pt x="101883" y="50942"/>
                </a:cubicBezTo>
                <a:lnTo>
                  <a:pt x="101883" y="50942"/>
                </a:lnTo>
                <a:cubicBezTo>
                  <a:pt x="101883" y="79076"/>
                  <a:pt x="79076" y="101883"/>
                  <a:pt x="50942" y="101883"/>
                </a:cubicBezTo>
                <a:lnTo>
                  <a:pt x="50942" y="101883"/>
                </a:lnTo>
                <a:cubicBezTo>
                  <a:pt x="22807" y="101883"/>
                  <a:pt x="0" y="79076"/>
                  <a:pt x="0" y="50942"/>
                </a:cubicBezTo>
                <a:lnTo>
                  <a:pt x="0" y="50942"/>
                </a:lnTo>
                <a:cubicBezTo>
                  <a:pt x="0" y="22807"/>
                  <a:pt x="22807" y="0"/>
                  <a:pt x="50942" y="0"/>
                </a:cubicBezTo>
                <a:close/>
              </a:path>
            </a:pathLst>
          </a:custGeom>
          <a:solidFill>
            <a:srgbClr val="E74C3C">
              <a:alpha val="40000"/>
            </a:srgbClr>
          </a:solidFill>
          <a:ln/>
        </p:spPr>
      </p:sp>
      <p:sp>
        <p:nvSpPr>
          <p:cNvPr id="867265101" name="Text 37"/>
          <p:cNvSpPr/>
          <p:nvPr/>
        </p:nvSpPr>
        <p:spPr bwMode="auto">
          <a:xfrm>
            <a:off x="8884517" y="2818763"/>
            <a:ext cx="1850875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>
                <a:solidFill>
                  <a:srgbClr val="E0E2E5">
                    <a:alpha val="80000"/>
                  </a:srgbClr>
                </a:solidFill>
                <a:latin typeface="MiSans"/>
                <a:ea typeface="MiSans"/>
                <a:cs typeface="MiSans"/>
              </a:rPr>
              <a:t>Ataque nuevo: No detectado</a:t>
            </a:r>
            <a:endParaRPr lang="en-US" sz="1600"/>
          </a:p>
        </p:txBody>
      </p:sp>
      <p:sp>
        <p:nvSpPr>
          <p:cNvPr id="676542919" name="Shape 38"/>
          <p:cNvSpPr/>
          <p:nvPr/>
        </p:nvSpPr>
        <p:spPr bwMode="auto">
          <a:xfrm>
            <a:off x="8680751" y="3158373"/>
            <a:ext cx="101883" cy="101883"/>
          </a:xfrm>
          <a:custGeom>
            <a:avLst/>
            <a:gdLst/>
            <a:ahLst/>
            <a:cxnLst/>
            <a:rect l="l" t="t" r="r" b="b"/>
            <a:pathLst>
              <a:path w="101883" h="101883" fill="norm" stroke="1" extrusionOk="0">
                <a:moveTo>
                  <a:pt x="50942" y="0"/>
                </a:moveTo>
                <a:lnTo>
                  <a:pt x="50942" y="0"/>
                </a:lnTo>
                <a:cubicBezTo>
                  <a:pt x="79076" y="0"/>
                  <a:pt x="101883" y="22807"/>
                  <a:pt x="101883" y="50942"/>
                </a:cubicBezTo>
                <a:lnTo>
                  <a:pt x="101883" y="50942"/>
                </a:lnTo>
                <a:cubicBezTo>
                  <a:pt x="101883" y="79076"/>
                  <a:pt x="79076" y="101883"/>
                  <a:pt x="50942" y="101883"/>
                </a:cubicBezTo>
                <a:lnTo>
                  <a:pt x="50942" y="101883"/>
                </a:lnTo>
                <a:cubicBezTo>
                  <a:pt x="22807" y="101883"/>
                  <a:pt x="0" y="79076"/>
                  <a:pt x="0" y="50942"/>
                </a:cubicBezTo>
                <a:lnTo>
                  <a:pt x="0" y="50942"/>
                </a:lnTo>
                <a:cubicBezTo>
                  <a:pt x="0" y="22807"/>
                  <a:pt x="22807" y="0"/>
                  <a:pt x="50942" y="0"/>
                </a:cubicBezTo>
                <a:close/>
              </a:path>
            </a:pathLst>
          </a:custGeom>
          <a:solidFill>
            <a:srgbClr val="E74C3C">
              <a:alpha val="40000"/>
            </a:srgbClr>
          </a:solidFill>
          <a:ln/>
        </p:spPr>
      </p:sp>
      <p:sp>
        <p:nvSpPr>
          <p:cNvPr id="1839784084" name="Text 39"/>
          <p:cNvSpPr/>
          <p:nvPr/>
        </p:nvSpPr>
        <p:spPr bwMode="auto">
          <a:xfrm>
            <a:off x="8884517" y="3107432"/>
            <a:ext cx="2173504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>
                <a:solidFill>
                  <a:srgbClr val="E0E2E5">
                    <a:alpha val="80000"/>
                  </a:srgbClr>
                </a:solidFill>
                <a:latin typeface="MiSans"/>
                <a:ea typeface="MiSans"/>
                <a:cs typeface="MiSans"/>
              </a:rPr>
              <a:t>Variante de ataque: No detectado</a:t>
            </a:r>
            <a:endParaRPr lang="en-US" sz="1600"/>
          </a:p>
        </p:txBody>
      </p:sp>
      <p:sp>
        <p:nvSpPr>
          <p:cNvPr id="625806392" name="Shape 40"/>
          <p:cNvSpPr/>
          <p:nvPr/>
        </p:nvSpPr>
        <p:spPr bwMode="auto">
          <a:xfrm>
            <a:off x="8506701" y="3574396"/>
            <a:ext cx="3132903" cy="1388156"/>
          </a:xfrm>
          <a:custGeom>
            <a:avLst/>
            <a:gdLst/>
            <a:ahLst/>
            <a:cxnLst/>
            <a:rect l="l" t="t" r="r" b="b"/>
            <a:pathLst>
              <a:path w="3132903" h="1388156" fill="norm" stroke="1" extrusionOk="0">
                <a:moveTo>
                  <a:pt x="101877" y="0"/>
                </a:moveTo>
                <a:lnTo>
                  <a:pt x="3031026" y="0"/>
                </a:lnTo>
                <a:cubicBezTo>
                  <a:pt x="3087291" y="0"/>
                  <a:pt x="3132903" y="43107"/>
                  <a:pt x="3132903" y="96282"/>
                </a:cubicBezTo>
                <a:lnTo>
                  <a:pt x="3132903" y="1291873"/>
                </a:lnTo>
                <a:cubicBezTo>
                  <a:pt x="3132903" y="1345049"/>
                  <a:pt x="3087291" y="1388156"/>
                  <a:pt x="3031026" y="1388156"/>
                </a:cubicBezTo>
                <a:lnTo>
                  <a:pt x="101877" y="1388156"/>
                </a:lnTo>
                <a:cubicBezTo>
                  <a:pt x="45612" y="1388156"/>
                  <a:pt x="0" y="1345049"/>
                  <a:pt x="0" y="1291873"/>
                </a:cubicBezTo>
                <a:lnTo>
                  <a:pt x="0" y="96282"/>
                </a:lnTo>
                <a:cubicBezTo>
                  <a:pt x="0" y="43107"/>
                  <a:pt x="45612" y="0"/>
                  <a:pt x="10187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4ECDC4">
                <a:alpha val="30193"/>
              </a:srgbClr>
            </a:solidFill>
            <a:prstDash val="solid"/>
          </a:ln>
        </p:spPr>
      </p:sp>
      <p:sp>
        <p:nvSpPr>
          <p:cNvPr id="2011979282" name="Text 41"/>
          <p:cNvSpPr/>
          <p:nvPr/>
        </p:nvSpPr>
        <p:spPr bwMode="auto">
          <a:xfrm>
            <a:off x="8680751" y="3667788"/>
            <a:ext cx="2037660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350" b="1">
                <a:solidFill>
                  <a:srgbClr val="4ECDC4"/>
                </a:solidFill>
                <a:latin typeface="MiSans"/>
                <a:ea typeface="MiSans"/>
                <a:cs typeface="MiSans"/>
              </a:rPr>
              <a:t>Detección por Anomalías</a:t>
            </a:r>
            <a:endParaRPr lang="en-US" sz="1600"/>
          </a:p>
        </p:txBody>
      </p:sp>
      <p:sp>
        <p:nvSpPr>
          <p:cNvPr id="1509179879" name="Shape 42"/>
          <p:cNvSpPr/>
          <p:nvPr/>
        </p:nvSpPr>
        <p:spPr bwMode="auto">
          <a:xfrm>
            <a:off x="11236316" y="3684769"/>
            <a:ext cx="203766" cy="203766"/>
          </a:xfrm>
          <a:custGeom>
            <a:avLst/>
            <a:gdLst/>
            <a:ahLst/>
            <a:cxnLst/>
            <a:rect l="l" t="t" r="r" b="b"/>
            <a:pathLst>
              <a:path w="203766" h="203766" fill="norm" stroke="1" extrusionOk="0">
                <a:moveTo>
                  <a:pt x="165560" y="82780"/>
                </a:moveTo>
                <a:cubicBezTo>
                  <a:pt x="165560" y="101047"/>
                  <a:pt x="159630" y="117922"/>
                  <a:pt x="149641" y="131612"/>
                </a:cubicBezTo>
                <a:lnTo>
                  <a:pt x="200025" y="182036"/>
                </a:lnTo>
                <a:cubicBezTo>
                  <a:pt x="205000" y="187011"/>
                  <a:pt x="205000" y="195090"/>
                  <a:pt x="200025" y="200065"/>
                </a:cubicBezTo>
                <a:cubicBezTo>
                  <a:pt x="195050" y="205040"/>
                  <a:pt x="186971" y="205040"/>
                  <a:pt x="181996" y="200065"/>
                </a:cubicBezTo>
                <a:lnTo>
                  <a:pt x="131612" y="149641"/>
                </a:lnTo>
                <a:cubicBezTo>
                  <a:pt x="117922" y="159630"/>
                  <a:pt x="101047" y="165560"/>
                  <a:pt x="82780" y="165560"/>
                </a:cubicBezTo>
                <a:cubicBezTo>
                  <a:pt x="37052" y="165560"/>
                  <a:pt x="0" y="128508"/>
                  <a:pt x="0" y="82780"/>
                </a:cubicBezTo>
                <a:cubicBezTo>
                  <a:pt x="0" y="37052"/>
                  <a:pt x="37052" y="0"/>
                  <a:pt x="82780" y="0"/>
                </a:cubicBezTo>
                <a:cubicBezTo>
                  <a:pt x="128508" y="0"/>
                  <a:pt x="165560" y="37052"/>
                  <a:pt x="165560" y="82780"/>
                </a:cubicBezTo>
                <a:close/>
                <a:moveTo>
                  <a:pt x="82780" y="140089"/>
                </a:moveTo>
                <a:cubicBezTo>
                  <a:pt x="114410" y="140089"/>
                  <a:pt x="140089" y="114410"/>
                  <a:pt x="140089" y="82780"/>
                </a:cubicBezTo>
                <a:cubicBezTo>
                  <a:pt x="140089" y="51150"/>
                  <a:pt x="114410" y="25471"/>
                  <a:pt x="82780" y="25471"/>
                </a:cubicBezTo>
                <a:cubicBezTo>
                  <a:pt x="51150" y="25471"/>
                  <a:pt x="25471" y="51150"/>
                  <a:pt x="25471" y="82780"/>
                </a:cubicBezTo>
                <a:cubicBezTo>
                  <a:pt x="25471" y="114410"/>
                  <a:pt x="51150" y="140089"/>
                  <a:pt x="82780" y="140089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961887800" name="Shape 43"/>
          <p:cNvSpPr/>
          <p:nvPr/>
        </p:nvSpPr>
        <p:spPr bwMode="auto">
          <a:xfrm>
            <a:off x="8680751" y="4058340"/>
            <a:ext cx="101883" cy="101883"/>
          </a:xfrm>
          <a:custGeom>
            <a:avLst/>
            <a:gdLst/>
            <a:ahLst/>
            <a:cxnLst/>
            <a:rect l="l" t="t" r="r" b="b"/>
            <a:pathLst>
              <a:path w="101883" h="101883" fill="norm" stroke="1" extrusionOk="0">
                <a:moveTo>
                  <a:pt x="50942" y="0"/>
                </a:moveTo>
                <a:lnTo>
                  <a:pt x="50942" y="0"/>
                </a:lnTo>
                <a:cubicBezTo>
                  <a:pt x="79076" y="0"/>
                  <a:pt x="101883" y="22807"/>
                  <a:pt x="101883" y="50942"/>
                </a:cubicBezTo>
                <a:lnTo>
                  <a:pt x="101883" y="50942"/>
                </a:lnTo>
                <a:cubicBezTo>
                  <a:pt x="101883" y="79076"/>
                  <a:pt x="79076" y="101883"/>
                  <a:pt x="50942" y="101883"/>
                </a:cubicBezTo>
                <a:lnTo>
                  <a:pt x="50942" y="101883"/>
                </a:lnTo>
                <a:cubicBezTo>
                  <a:pt x="22807" y="101883"/>
                  <a:pt x="0" y="79076"/>
                  <a:pt x="0" y="50942"/>
                </a:cubicBezTo>
                <a:lnTo>
                  <a:pt x="0" y="50942"/>
                </a:lnTo>
                <a:cubicBezTo>
                  <a:pt x="0" y="22807"/>
                  <a:pt x="22807" y="0"/>
                  <a:pt x="50942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910091380" name="Text 44"/>
          <p:cNvSpPr/>
          <p:nvPr/>
        </p:nvSpPr>
        <p:spPr bwMode="auto">
          <a:xfrm>
            <a:off x="8884517" y="4007398"/>
            <a:ext cx="1842383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>
                <a:solidFill>
                  <a:srgbClr val="E0E2E5">
                    <a:alpha val="80000"/>
                  </a:srgbClr>
                </a:solidFill>
                <a:latin typeface="MiSans"/>
                <a:ea typeface="MiSans"/>
                <a:cs typeface="MiSans"/>
              </a:rPr>
              <a:t>Ataque conocido: Detectado</a:t>
            </a:r>
            <a:endParaRPr lang="en-US" sz="1600"/>
          </a:p>
        </p:txBody>
      </p:sp>
      <p:sp>
        <p:nvSpPr>
          <p:cNvPr id="149130250" name="Shape 45"/>
          <p:cNvSpPr/>
          <p:nvPr/>
        </p:nvSpPr>
        <p:spPr bwMode="auto">
          <a:xfrm>
            <a:off x="8680751" y="4347008"/>
            <a:ext cx="101883" cy="101883"/>
          </a:xfrm>
          <a:custGeom>
            <a:avLst/>
            <a:gdLst/>
            <a:ahLst/>
            <a:cxnLst/>
            <a:rect l="l" t="t" r="r" b="b"/>
            <a:pathLst>
              <a:path w="101883" h="101883" fill="norm" stroke="1" extrusionOk="0">
                <a:moveTo>
                  <a:pt x="50942" y="0"/>
                </a:moveTo>
                <a:lnTo>
                  <a:pt x="50942" y="0"/>
                </a:lnTo>
                <a:cubicBezTo>
                  <a:pt x="79076" y="0"/>
                  <a:pt x="101883" y="22807"/>
                  <a:pt x="101883" y="50942"/>
                </a:cubicBezTo>
                <a:lnTo>
                  <a:pt x="101883" y="50942"/>
                </a:lnTo>
                <a:cubicBezTo>
                  <a:pt x="101883" y="79076"/>
                  <a:pt x="79076" y="101883"/>
                  <a:pt x="50942" y="101883"/>
                </a:cubicBezTo>
                <a:lnTo>
                  <a:pt x="50942" y="101883"/>
                </a:lnTo>
                <a:cubicBezTo>
                  <a:pt x="22807" y="101883"/>
                  <a:pt x="0" y="79076"/>
                  <a:pt x="0" y="50942"/>
                </a:cubicBezTo>
                <a:lnTo>
                  <a:pt x="0" y="50942"/>
                </a:lnTo>
                <a:cubicBezTo>
                  <a:pt x="0" y="22807"/>
                  <a:pt x="22807" y="0"/>
                  <a:pt x="50942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827272668" name="Text 46"/>
          <p:cNvSpPr/>
          <p:nvPr/>
        </p:nvSpPr>
        <p:spPr bwMode="auto">
          <a:xfrm>
            <a:off x="8884517" y="4296067"/>
            <a:ext cx="1655599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>
                <a:solidFill>
                  <a:srgbClr val="E0E2E5">
                    <a:alpha val="80000"/>
                  </a:srgbClr>
                </a:solidFill>
                <a:latin typeface="MiSans"/>
                <a:ea typeface="MiSans"/>
                <a:cs typeface="MiSans"/>
              </a:rPr>
              <a:t>Ataque nuevo: Detectado</a:t>
            </a:r>
            <a:endParaRPr lang="en-US" sz="1600"/>
          </a:p>
        </p:txBody>
      </p:sp>
      <p:sp>
        <p:nvSpPr>
          <p:cNvPr id="1324062237" name="Shape 47"/>
          <p:cNvSpPr/>
          <p:nvPr/>
        </p:nvSpPr>
        <p:spPr bwMode="auto">
          <a:xfrm>
            <a:off x="8680751" y="4635677"/>
            <a:ext cx="101883" cy="101883"/>
          </a:xfrm>
          <a:custGeom>
            <a:avLst/>
            <a:gdLst/>
            <a:ahLst/>
            <a:cxnLst/>
            <a:rect l="l" t="t" r="r" b="b"/>
            <a:pathLst>
              <a:path w="101883" h="101883" fill="norm" stroke="1" extrusionOk="0">
                <a:moveTo>
                  <a:pt x="50942" y="0"/>
                </a:moveTo>
                <a:lnTo>
                  <a:pt x="50942" y="0"/>
                </a:lnTo>
                <a:cubicBezTo>
                  <a:pt x="79076" y="0"/>
                  <a:pt x="101883" y="22807"/>
                  <a:pt x="101883" y="50942"/>
                </a:cubicBezTo>
                <a:lnTo>
                  <a:pt x="101883" y="50942"/>
                </a:lnTo>
                <a:cubicBezTo>
                  <a:pt x="101883" y="79076"/>
                  <a:pt x="79076" y="101883"/>
                  <a:pt x="50942" y="101883"/>
                </a:cubicBezTo>
                <a:lnTo>
                  <a:pt x="50942" y="101883"/>
                </a:lnTo>
                <a:cubicBezTo>
                  <a:pt x="22807" y="101883"/>
                  <a:pt x="0" y="79076"/>
                  <a:pt x="0" y="50942"/>
                </a:cubicBezTo>
                <a:lnTo>
                  <a:pt x="0" y="50942"/>
                </a:lnTo>
                <a:cubicBezTo>
                  <a:pt x="0" y="22807"/>
                  <a:pt x="22807" y="0"/>
                  <a:pt x="50942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852977421" name="Text 48"/>
          <p:cNvSpPr/>
          <p:nvPr/>
        </p:nvSpPr>
        <p:spPr bwMode="auto">
          <a:xfrm>
            <a:off x="8884517" y="4584735"/>
            <a:ext cx="1978228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>
                <a:solidFill>
                  <a:srgbClr val="E0E2E5">
                    <a:alpha val="80000"/>
                  </a:srgbClr>
                </a:solidFill>
                <a:latin typeface="MiSans"/>
                <a:ea typeface="MiSans"/>
                <a:cs typeface="MiSans"/>
              </a:rPr>
              <a:t>Variante de ataque: Detectado</a:t>
            </a:r>
            <a:endParaRPr lang="en-US" sz="1600"/>
          </a:p>
        </p:txBody>
      </p:sp>
      <p:sp>
        <p:nvSpPr>
          <p:cNvPr id="1228107178" name="Shape 49"/>
          <p:cNvSpPr/>
          <p:nvPr/>
        </p:nvSpPr>
        <p:spPr bwMode="auto">
          <a:xfrm>
            <a:off x="8506701" y="5064647"/>
            <a:ext cx="3132903" cy="416022"/>
          </a:xfrm>
          <a:custGeom>
            <a:avLst/>
            <a:gdLst/>
            <a:ahLst/>
            <a:cxnLst/>
            <a:rect l="l" t="t" r="r" b="b"/>
            <a:pathLst>
              <a:path w="3132903" h="416022" fill="norm" stroke="1" extrusionOk="0">
                <a:moveTo>
                  <a:pt x="101884" y="0"/>
                </a:moveTo>
                <a:lnTo>
                  <a:pt x="3031019" y="0"/>
                </a:lnTo>
                <a:cubicBezTo>
                  <a:pt x="3087288" y="0"/>
                  <a:pt x="3132903" y="45615"/>
                  <a:pt x="3132903" y="101884"/>
                </a:cubicBezTo>
                <a:lnTo>
                  <a:pt x="3132903" y="314138"/>
                </a:lnTo>
                <a:cubicBezTo>
                  <a:pt x="3132903" y="370407"/>
                  <a:pt x="3087288" y="416022"/>
                  <a:pt x="3031019" y="416022"/>
                </a:cubicBezTo>
                <a:lnTo>
                  <a:pt x="101884" y="416022"/>
                </a:lnTo>
                <a:cubicBezTo>
                  <a:pt x="45615" y="416022"/>
                  <a:pt x="0" y="370407"/>
                  <a:pt x="0" y="314138"/>
                </a:cubicBezTo>
                <a:lnTo>
                  <a:pt x="0" y="101884"/>
                </a:lnTo>
                <a:cubicBezTo>
                  <a:pt x="0" y="45653"/>
                  <a:pt x="45653" y="0"/>
                  <a:pt x="101884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12700">
            <a:solidFill>
              <a:srgbClr val="4ECDC4">
                <a:alpha val="30193"/>
              </a:srgbClr>
            </a:solidFill>
            <a:prstDash val="solid"/>
          </a:ln>
        </p:spPr>
      </p:sp>
      <p:sp>
        <p:nvSpPr>
          <p:cNvPr id="364289743" name="Shape 50"/>
          <p:cNvSpPr/>
          <p:nvPr/>
        </p:nvSpPr>
        <p:spPr bwMode="auto">
          <a:xfrm>
            <a:off x="9004773" y="5187755"/>
            <a:ext cx="191031" cy="169805"/>
          </a:xfrm>
          <a:custGeom>
            <a:avLst/>
            <a:gdLst/>
            <a:ahLst/>
            <a:cxnLst/>
            <a:rect l="l" t="t" r="r" b="b"/>
            <a:pathLst>
              <a:path w="191031" h="169805" fill="norm" stroke="1" extrusionOk="0">
                <a:moveTo>
                  <a:pt x="102646" y="-6268"/>
                </a:moveTo>
                <a:cubicBezTo>
                  <a:pt x="101286" y="-8921"/>
                  <a:pt x="98533" y="-10613"/>
                  <a:pt x="95548" y="-10613"/>
                </a:cubicBezTo>
                <a:cubicBezTo>
                  <a:pt x="92564" y="-10613"/>
                  <a:pt x="89811" y="-8921"/>
                  <a:pt x="88451" y="-6268"/>
                </a:cubicBezTo>
                <a:lnTo>
                  <a:pt x="64042" y="41556"/>
                </a:lnTo>
                <a:lnTo>
                  <a:pt x="11011" y="49980"/>
                </a:lnTo>
                <a:cubicBezTo>
                  <a:pt x="8059" y="50444"/>
                  <a:pt x="5605" y="52533"/>
                  <a:pt x="4676" y="55386"/>
                </a:cubicBezTo>
                <a:cubicBezTo>
                  <a:pt x="3748" y="58238"/>
                  <a:pt x="4510" y="61355"/>
                  <a:pt x="6600" y="63478"/>
                </a:cubicBezTo>
                <a:lnTo>
                  <a:pt x="44541" y="101452"/>
                </a:lnTo>
                <a:lnTo>
                  <a:pt x="36183" y="154483"/>
                </a:lnTo>
                <a:cubicBezTo>
                  <a:pt x="35719" y="157434"/>
                  <a:pt x="36946" y="160419"/>
                  <a:pt x="39367" y="162177"/>
                </a:cubicBezTo>
                <a:cubicBezTo>
                  <a:pt x="41788" y="163935"/>
                  <a:pt x="44972" y="164200"/>
                  <a:pt x="47658" y="162840"/>
                </a:cubicBezTo>
                <a:lnTo>
                  <a:pt x="95548" y="138497"/>
                </a:lnTo>
                <a:lnTo>
                  <a:pt x="143406" y="162840"/>
                </a:lnTo>
                <a:cubicBezTo>
                  <a:pt x="146059" y="164200"/>
                  <a:pt x="149276" y="163935"/>
                  <a:pt x="151697" y="162177"/>
                </a:cubicBezTo>
                <a:cubicBezTo>
                  <a:pt x="154118" y="160419"/>
                  <a:pt x="155345" y="157468"/>
                  <a:pt x="154881" y="154483"/>
                </a:cubicBezTo>
                <a:lnTo>
                  <a:pt x="146490" y="101452"/>
                </a:lnTo>
                <a:lnTo>
                  <a:pt x="184431" y="63478"/>
                </a:lnTo>
                <a:cubicBezTo>
                  <a:pt x="186553" y="61355"/>
                  <a:pt x="187283" y="58238"/>
                  <a:pt x="186354" y="55386"/>
                </a:cubicBezTo>
                <a:cubicBezTo>
                  <a:pt x="185426" y="52533"/>
                  <a:pt x="183005" y="50444"/>
                  <a:pt x="180020" y="49980"/>
                </a:cubicBezTo>
                <a:lnTo>
                  <a:pt x="127022" y="41556"/>
                </a:lnTo>
                <a:lnTo>
                  <a:pt x="102646" y="-6268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597384382" name="Text 51"/>
          <p:cNvSpPr/>
          <p:nvPr/>
        </p:nvSpPr>
        <p:spPr bwMode="auto">
          <a:xfrm>
            <a:off x="9308300" y="5170775"/>
            <a:ext cx="1910306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 b="1">
                <a:solidFill>
                  <a:srgbClr val="E0E2E5"/>
                </a:solidFill>
                <a:latin typeface="MiSans"/>
                <a:ea typeface="MiSans"/>
                <a:cs typeface="MiSans"/>
              </a:rPr>
              <a:t>Ventaja Clave: Generalización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1A1D2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1693330" name="Shape 0"/>
          <p:cNvSpPr/>
          <p:nvPr/>
        </p:nvSpPr>
        <p:spPr bwMode="auto">
          <a:xfrm>
            <a:off x="381000" y="419100"/>
            <a:ext cx="57150" cy="381000"/>
          </a:xfrm>
          <a:custGeom>
            <a:avLst/>
            <a:gdLst/>
            <a:ahLst/>
            <a:cxnLst/>
            <a:rect l="l" t="t" r="r" b="b"/>
            <a:pathLst>
              <a:path w="57150" h="381000" fill="norm" stroke="1" extrusionOk="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352425"/>
                </a:lnTo>
                <a:cubicBezTo>
                  <a:pt x="57150" y="368196"/>
                  <a:pt x="44346" y="381000"/>
                  <a:pt x="28575" y="381000"/>
                </a:cubicBezTo>
                <a:lnTo>
                  <a:pt x="28575" y="381000"/>
                </a:lnTo>
                <a:cubicBezTo>
                  <a:pt x="12804" y="381000"/>
                  <a:pt x="0" y="368196"/>
                  <a:pt x="0" y="35242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3887868" name="Text 1"/>
          <p:cNvSpPr/>
          <p:nvPr/>
        </p:nvSpPr>
        <p:spPr bwMode="auto">
          <a:xfrm flipH="0" flipV="0">
            <a:off x="552449" y="380999"/>
            <a:ext cx="118162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  <a:defRPr/>
            </a:pPr>
            <a:r>
              <a:rPr lang="en-US" sz="3600" b="1">
                <a:solidFill>
                  <a:srgbClr val="E0E2E5"/>
                </a:solidFill>
                <a:latin typeface="MiSans"/>
                <a:ea typeface="MiSans"/>
                <a:cs typeface="MiSans"/>
              </a:rPr>
              <a:t>Dataset NSL-KDD: Benchmark Académico</a:t>
            </a:r>
            <a:endParaRPr lang="en-US" sz="1600"/>
          </a:p>
        </p:txBody>
      </p:sp>
      <p:sp>
        <p:nvSpPr>
          <p:cNvPr id="741343000" name="Text 2"/>
          <p:cNvSpPr/>
          <p:nvPr/>
        </p:nvSpPr>
        <p:spPr bwMode="auto">
          <a:xfrm>
            <a:off x="609600" y="914400"/>
            <a:ext cx="11296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500">
                <a:solidFill>
                  <a:srgbClr val="5F85A5"/>
                </a:solidFill>
                <a:latin typeface="MiSans"/>
                <a:ea typeface="MiSans"/>
                <a:cs typeface="MiSans"/>
              </a:rPr>
              <a:t>Fundamento Empírico del Estudio</a:t>
            </a:r>
            <a:endParaRPr lang="en-US" sz="1600"/>
          </a:p>
        </p:txBody>
      </p:sp>
      <p:sp>
        <p:nvSpPr>
          <p:cNvPr id="630791839" name="Shape 3"/>
          <p:cNvSpPr/>
          <p:nvPr/>
        </p:nvSpPr>
        <p:spPr bwMode="auto">
          <a:xfrm>
            <a:off x="385762" y="1376363"/>
            <a:ext cx="7562850" cy="3019425"/>
          </a:xfrm>
          <a:custGeom>
            <a:avLst/>
            <a:gdLst/>
            <a:ahLst/>
            <a:cxnLst/>
            <a:rect l="l" t="t" r="r" b="b"/>
            <a:pathLst>
              <a:path w="7562850" h="3019425" fill="norm" stroke="1" extrusionOk="0">
                <a:moveTo>
                  <a:pt x="152390" y="0"/>
                </a:moveTo>
                <a:lnTo>
                  <a:pt x="7410460" y="0"/>
                </a:lnTo>
                <a:cubicBezTo>
                  <a:pt x="7494623" y="0"/>
                  <a:pt x="7562850" y="68227"/>
                  <a:pt x="7562850" y="152390"/>
                </a:cubicBezTo>
                <a:lnTo>
                  <a:pt x="7562850" y="2867035"/>
                </a:lnTo>
                <a:cubicBezTo>
                  <a:pt x="7562850" y="2951198"/>
                  <a:pt x="7494623" y="3019425"/>
                  <a:pt x="7410460" y="3019425"/>
                </a:cubicBezTo>
                <a:lnTo>
                  <a:pt x="152390" y="3019425"/>
                </a:lnTo>
                <a:cubicBezTo>
                  <a:pt x="68227" y="3019425"/>
                  <a:pt x="0" y="2951198"/>
                  <a:pt x="0" y="2867035"/>
                </a:cubicBezTo>
                <a:lnTo>
                  <a:pt x="0" y="152390"/>
                </a:lnTo>
                <a:cubicBezTo>
                  <a:pt x="0" y="68284"/>
                  <a:pt x="68284" y="0"/>
                  <a:pt x="15239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5F85A5">
                <a:alpha val="30193"/>
              </a:srgbClr>
            </a:solidFill>
            <a:prstDash val="solid"/>
          </a:ln>
        </p:spPr>
      </p:sp>
      <p:sp>
        <p:nvSpPr>
          <p:cNvPr id="1143713185" name="Shape 4"/>
          <p:cNvSpPr/>
          <p:nvPr/>
        </p:nvSpPr>
        <p:spPr bwMode="auto">
          <a:xfrm>
            <a:off x="585788" y="1576388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 fill="norm" stroke="1" extrusionOk="0">
                <a:moveTo>
                  <a:pt x="114300" y="0"/>
                </a:moveTo>
                <a:lnTo>
                  <a:pt x="333375" y="0"/>
                </a:lnTo>
                <a:cubicBezTo>
                  <a:pt x="396501" y="0"/>
                  <a:pt x="447675" y="51174"/>
                  <a:pt x="447675" y="114300"/>
                </a:cubicBezTo>
                <a:lnTo>
                  <a:pt x="447675" y="333375"/>
                </a:lnTo>
                <a:cubicBezTo>
                  <a:pt x="447675" y="396501"/>
                  <a:pt x="396501" y="447675"/>
                  <a:pt x="333375" y="447675"/>
                </a:cubicBezTo>
                <a:lnTo>
                  <a:pt x="114300" y="447675"/>
                </a:lnTo>
                <a:cubicBezTo>
                  <a:pt x="51174" y="447675"/>
                  <a:pt x="0" y="396501"/>
                  <a:pt x="0" y="333375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F85A5">
              <a:alpha val="20000"/>
            </a:srgbClr>
          </a:solidFill>
          <a:ln w="12700">
            <a:solidFill>
              <a:srgbClr val="5F85A5">
                <a:alpha val="40000"/>
              </a:srgbClr>
            </a:solidFill>
            <a:prstDash val="solid"/>
          </a:ln>
        </p:spPr>
      </p:sp>
      <p:sp>
        <p:nvSpPr>
          <p:cNvPr id="296337178" name="Shape 5"/>
          <p:cNvSpPr/>
          <p:nvPr/>
        </p:nvSpPr>
        <p:spPr bwMode="auto">
          <a:xfrm>
            <a:off x="726281" y="1704975"/>
            <a:ext cx="166687" cy="190500"/>
          </a:xfrm>
          <a:custGeom>
            <a:avLst/>
            <a:gdLst/>
            <a:ahLst/>
            <a:cxnLst/>
            <a:rect l="l" t="t" r="r" b="b"/>
            <a:pathLst>
              <a:path w="166688" h="190500" fill="norm" stroke="1" extrusionOk="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5F85A5"/>
          </a:solidFill>
          <a:ln/>
        </p:spPr>
      </p:sp>
      <p:sp>
        <p:nvSpPr>
          <p:cNvPr id="120392059" name="Text 6"/>
          <p:cNvSpPr/>
          <p:nvPr/>
        </p:nvSpPr>
        <p:spPr bwMode="auto">
          <a:xfrm>
            <a:off x="1190625" y="1571625"/>
            <a:ext cx="6657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500" b="1">
                <a:solidFill>
                  <a:srgbClr val="E0E2E5"/>
                </a:solidFill>
                <a:latin typeface="MiSans"/>
                <a:ea typeface="MiSans"/>
                <a:cs typeface="MiSans"/>
              </a:rPr>
              <a:t>Versión Mejorada de KDD Cup 1999</a:t>
            </a:r>
            <a:endParaRPr lang="en-US" sz="1600"/>
          </a:p>
        </p:txBody>
      </p:sp>
      <p:sp>
        <p:nvSpPr>
          <p:cNvPr id="197976323" name="Text 7"/>
          <p:cNvSpPr/>
          <p:nvPr/>
        </p:nvSpPr>
        <p:spPr bwMode="auto">
          <a:xfrm>
            <a:off x="1190625" y="1876425"/>
            <a:ext cx="66389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200">
                <a:solidFill>
                  <a:srgbClr val="E0E2E5">
                    <a:alpha val="70000"/>
                  </a:srgbClr>
                </a:solidFill>
                <a:latin typeface="MiSans"/>
                <a:ea typeface="MiSans"/>
                <a:cs typeface="MiSans"/>
              </a:rPr>
              <a:t>Eliminación del </a:t>
            </a:r>
            <a:r>
              <a:rPr lang="en-US" sz="1200" b="1">
                <a:solidFill>
                  <a:srgbClr val="4ECDC4"/>
                </a:solidFill>
                <a:latin typeface="MiSans"/>
                <a:ea typeface="MiSans"/>
                <a:cs typeface="MiSans"/>
              </a:rPr>
              <a:t>78% de registros redundantes</a:t>
            </a:r>
            <a:r>
              <a:rPr lang="en-US" sz="1200">
                <a:solidFill>
                  <a:srgbClr val="E0E2E5">
                    <a:alpha val="70000"/>
                  </a:srgbClr>
                </a:solidFill>
                <a:latin typeface="MiSans"/>
                <a:ea typeface="MiSans"/>
                <a:cs typeface="MiSans"/>
              </a:rPr>
              <a:t> presentes en el dataset original, mejorando significativamente la calidad para entrenamiento de modelos.</a:t>
            </a:r>
            <a:endParaRPr lang="en-US" sz="1600"/>
          </a:p>
        </p:txBody>
      </p:sp>
      <p:sp>
        <p:nvSpPr>
          <p:cNvPr id="357596997" name="Shape 8"/>
          <p:cNvSpPr/>
          <p:nvPr/>
        </p:nvSpPr>
        <p:spPr bwMode="auto">
          <a:xfrm>
            <a:off x="585788" y="2528888"/>
            <a:ext cx="3514725" cy="771525"/>
          </a:xfrm>
          <a:custGeom>
            <a:avLst/>
            <a:gdLst/>
            <a:ahLst/>
            <a:cxnLst/>
            <a:rect l="l" t="t" r="r" b="b"/>
            <a:pathLst>
              <a:path w="3514725" h="771525" fill="norm" stroke="1" extrusionOk="0">
                <a:moveTo>
                  <a:pt x="114301" y="0"/>
                </a:moveTo>
                <a:lnTo>
                  <a:pt x="3400424" y="0"/>
                </a:lnTo>
                <a:cubicBezTo>
                  <a:pt x="3463551" y="0"/>
                  <a:pt x="3514725" y="51174"/>
                  <a:pt x="3514725" y="114301"/>
                </a:cubicBezTo>
                <a:lnTo>
                  <a:pt x="3514725" y="657224"/>
                </a:lnTo>
                <a:cubicBezTo>
                  <a:pt x="3514725" y="720351"/>
                  <a:pt x="3463551" y="771525"/>
                  <a:pt x="3400424" y="771525"/>
                </a:cubicBezTo>
                <a:lnTo>
                  <a:pt x="114301" y="771525"/>
                </a:lnTo>
                <a:cubicBezTo>
                  <a:pt x="51174" y="771525"/>
                  <a:pt x="0" y="720351"/>
                  <a:pt x="0" y="6572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5F85A5">
                <a:alpha val="20000"/>
              </a:srgbClr>
            </a:solidFill>
            <a:prstDash val="solid"/>
          </a:ln>
        </p:spPr>
      </p:sp>
      <p:sp>
        <p:nvSpPr>
          <p:cNvPr id="1378753044" name="Shape 9"/>
          <p:cNvSpPr/>
          <p:nvPr/>
        </p:nvSpPr>
        <p:spPr bwMode="auto">
          <a:xfrm>
            <a:off x="709613" y="2728913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 fill="norm" stroke="1" extrusionOk="0">
                <a:moveTo>
                  <a:pt x="76201" y="0"/>
                </a:moveTo>
                <a:lnTo>
                  <a:pt x="295274" y="0"/>
                </a:lnTo>
                <a:cubicBezTo>
                  <a:pt x="337331" y="0"/>
                  <a:pt x="371475" y="34144"/>
                  <a:pt x="371475" y="76201"/>
                </a:cubicBezTo>
                <a:lnTo>
                  <a:pt x="371475" y="295274"/>
                </a:lnTo>
                <a:cubicBezTo>
                  <a:pt x="371475" y="337359"/>
                  <a:pt x="337359" y="371475"/>
                  <a:pt x="295274" y="371475"/>
                </a:cubicBezTo>
                <a:lnTo>
                  <a:pt x="76201" y="371475"/>
                </a:lnTo>
                <a:cubicBezTo>
                  <a:pt x="34116" y="371475"/>
                  <a:pt x="0" y="337359"/>
                  <a:pt x="0" y="29527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 w="12700">
            <a:solidFill>
              <a:srgbClr val="4ECDC4">
                <a:alpha val="40000"/>
              </a:srgbClr>
            </a:solidFill>
            <a:prstDash val="solid"/>
          </a:ln>
        </p:spPr>
      </p:sp>
      <p:sp>
        <p:nvSpPr>
          <p:cNvPr id="1196000896" name="Shape 10"/>
          <p:cNvSpPr/>
          <p:nvPr/>
        </p:nvSpPr>
        <p:spPr bwMode="auto">
          <a:xfrm>
            <a:off x="828675" y="28384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 fill="norm" stroke="1" extrusionOk="0">
                <a:moveTo>
                  <a:pt x="76200" y="47625"/>
                </a:moveTo>
                <a:lnTo>
                  <a:pt x="76200" y="76200"/>
                </a:lnTo>
                <a:lnTo>
                  <a:pt x="114300" y="76200"/>
                </a:lnTo>
                <a:lnTo>
                  <a:pt x="114300" y="47625"/>
                </a:lnTo>
                <a:lnTo>
                  <a:pt x="76200" y="47625"/>
                </a:lnTo>
                <a:close/>
                <a:moveTo>
                  <a:pt x="57150" y="47625"/>
                </a:moveTo>
                <a:lnTo>
                  <a:pt x="19050" y="47625"/>
                </a:lnTo>
                <a:lnTo>
                  <a:pt x="19050" y="76200"/>
                </a:lnTo>
                <a:lnTo>
                  <a:pt x="57150" y="76200"/>
                </a:lnTo>
                <a:lnTo>
                  <a:pt x="57150" y="47625"/>
                </a:lnTo>
                <a:close/>
                <a:moveTo>
                  <a:pt x="0" y="95250"/>
                </a:moveTo>
                <a:lnTo>
                  <a:pt x="0" y="28575"/>
                </a:lnTo>
                <a:cubicBezTo>
                  <a:pt x="0" y="18068"/>
                  <a:pt x="8543" y="9525"/>
                  <a:pt x="19050" y="9525"/>
                </a:cubicBezTo>
                <a:lnTo>
                  <a:pt x="114300" y="9525"/>
                </a:lnTo>
                <a:cubicBezTo>
                  <a:pt x="124807" y="9525"/>
                  <a:pt x="133350" y="18068"/>
                  <a:pt x="133350" y="28575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95250"/>
                </a:lnTo>
                <a:close/>
                <a:moveTo>
                  <a:pt x="114300" y="95250"/>
                </a:moveTo>
                <a:lnTo>
                  <a:pt x="76200" y="95250"/>
                </a:lnTo>
                <a:lnTo>
                  <a:pt x="76200" y="123825"/>
                </a:lnTo>
                <a:lnTo>
                  <a:pt x="114300" y="123825"/>
                </a:lnTo>
                <a:lnTo>
                  <a:pt x="114300" y="95250"/>
                </a:lnTo>
                <a:close/>
                <a:moveTo>
                  <a:pt x="57150" y="123825"/>
                </a:moveTo>
                <a:lnTo>
                  <a:pt x="57150" y="95250"/>
                </a:lnTo>
                <a:lnTo>
                  <a:pt x="19050" y="95250"/>
                </a:lnTo>
                <a:lnTo>
                  <a:pt x="19050" y="123825"/>
                </a:lnTo>
                <a:lnTo>
                  <a:pt x="57150" y="123825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056000716" name="Text 11"/>
          <p:cNvSpPr/>
          <p:nvPr/>
        </p:nvSpPr>
        <p:spPr bwMode="auto">
          <a:xfrm>
            <a:off x="1200150" y="2647949"/>
            <a:ext cx="1543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800" b="1">
                <a:solidFill>
                  <a:srgbClr val="4ECDC4"/>
                </a:solidFill>
                <a:latin typeface="MiSans"/>
                <a:ea typeface="MiSans"/>
                <a:cs typeface="MiSans"/>
              </a:rPr>
              <a:t>25,192</a:t>
            </a:r>
            <a:endParaRPr lang="en-US" sz="1600"/>
          </a:p>
        </p:txBody>
      </p:sp>
      <p:sp>
        <p:nvSpPr>
          <p:cNvPr id="1365880047" name="Text 12"/>
          <p:cNvSpPr/>
          <p:nvPr/>
        </p:nvSpPr>
        <p:spPr bwMode="auto">
          <a:xfrm>
            <a:off x="1200150" y="2952750"/>
            <a:ext cx="150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>
                <a:solidFill>
                  <a:srgbClr val="E0E2E5">
                    <a:alpha val="70000"/>
                  </a:srgbClr>
                </a:solidFill>
                <a:latin typeface="MiSans"/>
                <a:ea typeface="MiSans"/>
                <a:cs typeface="MiSans"/>
              </a:rPr>
              <a:t>Observaciones Train</a:t>
            </a:r>
            <a:endParaRPr lang="en-US" sz="1600"/>
          </a:p>
        </p:txBody>
      </p:sp>
      <p:sp>
        <p:nvSpPr>
          <p:cNvPr id="904025074" name="Shape 13"/>
          <p:cNvSpPr/>
          <p:nvPr/>
        </p:nvSpPr>
        <p:spPr bwMode="auto">
          <a:xfrm>
            <a:off x="4227463" y="2528888"/>
            <a:ext cx="3514725" cy="771525"/>
          </a:xfrm>
          <a:custGeom>
            <a:avLst/>
            <a:gdLst/>
            <a:ahLst/>
            <a:cxnLst/>
            <a:rect l="l" t="t" r="r" b="b"/>
            <a:pathLst>
              <a:path w="3514725" h="771525" fill="norm" stroke="1" extrusionOk="0">
                <a:moveTo>
                  <a:pt x="114301" y="0"/>
                </a:moveTo>
                <a:lnTo>
                  <a:pt x="3400424" y="0"/>
                </a:lnTo>
                <a:cubicBezTo>
                  <a:pt x="3463551" y="0"/>
                  <a:pt x="3514725" y="51174"/>
                  <a:pt x="3514725" y="114301"/>
                </a:cubicBezTo>
                <a:lnTo>
                  <a:pt x="3514725" y="657224"/>
                </a:lnTo>
                <a:cubicBezTo>
                  <a:pt x="3514725" y="720351"/>
                  <a:pt x="3463551" y="771525"/>
                  <a:pt x="3400424" y="771525"/>
                </a:cubicBezTo>
                <a:lnTo>
                  <a:pt x="114301" y="771525"/>
                </a:lnTo>
                <a:cubicBezTo>
                  <a:pt x="51174" y="771525"/>
                  <a:pt x="0" y="720351"/>
                  <a:pt x="0" y="6572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5F85A5">
                <a:alpha val="20000"/>
              </a:srgbClr>
            </a:solidFill>
            <a:prstDash val="solid"/>
          </a:ln>
        </p:spPr>
      </p:sp>
      <p:sp>
        <p:nvSpPr>
          <p:cNvPr id="1714574663" name="Shape 14"/>
          <p:cNvSpPr/>
          <p:nvPr/>
        </p:nvSpPr>
        <p:spPr bwMode="auto">
          <a:xfrm>
            <a:off x="4351288" y="2728913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 fill="norm" stroke="1" extrusionOk="0">
                <a:moveTo>
                  <a:pt x="76201" y="0"/>
                </a:moveTo>
                <a:lnTo>
                  <a:pt x="295274" y="0"/>
                </a:lnTo>
                <a:cubicBezTo>
                  <a:pt x="337331" y="0"/>
                  <a:pt x="371475" y="34144"/>
                  <a:pt x="371475" y="76201"/>
                </a:cubicBezTo>
                <a:lnTo>
                  <a:pt x="371475" y="295274"/>
                </a:lnTo>
                <a:cubicBezTo>
                  <a:pt x="371475" y="337359"/>
                  <a:pt x="337359" y="371475"/>
                  <a:pt x="295274" y="371475"/>
                </a:cubicBezTo>
                <a:lnTo>
                  <a:pt x="76201" y="371475"/>
                </a:lnTo>
                <a:cubicBezTo>
                  <a:pt x="34116" y="371475"/>
                  <a:pt x="0" y="337359"/>
                  <a:pt x="0" y="29527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5F85A5">
              <a:alpha val="20000"/>
            </a:srgbClr>
          </a:solidFill>
          <a:ln w="12700">
            <a:solidFill>
              <a:srgbClr val="5F85A5">
                <a:alpha val="40000"/>
              </a:srgbClr>
            </a:solidFill>
            <a:prstDash val="solid"/>
          </a:ln>
        </p:spPr>
      </p:sp>
      <p:sp>
        <p:nvSpPr>
          <p:cNvPr id="1419078063" name="Shape 15"/>
          <p:cNvSpPr/>
          <p:nvPr/>
        </p:nvSpPr>
        <p:spPr bwMode="auto">
          <a:xfrm>
            <a:off x="4460825" y="2838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 fill="norm" stroke="1" extrusionOk="0">
                <a:moveTo>
                  <a:pt x="101977" y="2798"/>
                </a:moveTo>
                <a:cubicBezTo>
                  <a:pt x="98256" y="-923"/>
                  <a:pt x="92214" y="-923"/>
                  <a:pt x="88493" y="2798"/>
                </a:cubicBezTo>
                <a:cubicBezTo>
                  <a:pt x="84773" y="6519"/>
                  <a:pt x="84773" y="12561"/>
                  <a:pt x="88493" y="16282"/>
                </a:cubicBezTo>
                <a:lnTo>
                  <a:pt x="91291" y="19050"/>
                </a:lnTo>
                <a:lnTo>
                  <a:pt x="8364" y="101977"/>
                </a:lnTo>
                <a:cubicBezTo>
                  <a:pt x="3006" y="107335"/>
                  <a:pt x="0" y="114598"/>
                  <a:pt x="0" y="122188"/>
                </a:cubicBezTo>
                <a:lnTo>
                  <a:pt x="0" y="123825"/>
                </a:lnTo>
                <a:cubicBezTo>
                  <a:pt x="0" y="139601"/>
                  <a:pt x="12799" y="152400"/>
                  <a:pt x="28575" y="152400"/>
                </a:cubicBezTo>
                <a:lnTo>
                  <a:pt x="30212" y="152400"/>
                </a:lnTo>
                <a:cubicBezTo>
                  <a:pt x="37802" y="152400"/>
                  <a:pt x="45065" y="149394"/>
                  <a:pt x="50423" y="144036"/>
                </a:cubicBezTo>
                <a:lnTo>
                  <a:pt x="133350" y="61109"/>
                </a:lnTo>
                <a:lnTo>
                  <a:pt x="136148" y="63907"/>
                </a:lnTo>
                <a:cubicBezTo>
                  <a:pt x="139869" y="67627"/>
                  <a:pt x="145911" y="67627"/>
                  <a:pt x="149632" y="63907"/>
                </a:cubicBezTo>
                <a:cubicBezTo>
                  <a:pt x="153353" y="60186"/>
                  <a:pt x="153353" y="54144"/>
                  <a:pt x="149632" y="50423"/>
                </a:cubicBezTo>
                <a:lnTo>
                  <a:pt x="102007" y="2798"/>
                </a:lnTo>
                <a:close/>
                <a:moveTo>
                  <a:pt x="61109" y="76200"/>
                </a:moveTo>
                <a:lnTo>
                  <a:pt x="104775" y="32534"/>
                </a:lnTo>
                <a:lnTo>
                  <a:pt x="119866" y="47625"/>
                </a:lnTo>
                <a:lnTo>
                  <a:pt x="91291" y="76200"/>
                </a:lnTo>
                <a:lnTo>
                  <a:pt x="61079" y="76200"/>
                </a:lnTo>
                <a:close/>
              </a:path>
            </a:pathLst>
          </a:custGeom>
          <a:solidFill>
            <a:srgbClr val="5F85A5"/>
          </a:solidFill>
          <a:ln/>
        </p:spPr>
      </p:sp>
      <p:sp>
        <p:nvSpPr>
          <p:cNvPr id="1695799035" name="Text 16"/>
          <p:cNvSpPr/>
          <p:nvPr/>
        </p:nvSpPr>
        <p:spPr bwMode="auto">
          <a:xfrm>
            <a:off x="4841825" y="2647949"/>
            <a:ext cx="1495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800" b="1">
                <a:solidFill>
                  <a:srgbClr val="5F85A5"/>
                </a:solidFill>
                <a:latin typeface="MiSans"/>
                <a:ea typeface="MiSans"/>
                <a:cs typeface="MiSans"/>
              </a:rPr>
              <a:t>22,544</a:t>
            </a:r>
            <a:endParaRPr lang="en-US" sz="1600"/>
          </a:p>
        </p:txBody>
      </p:sp>
      <p:sp>
        <p:nvSpPr>
          <p:cNvPr id="474341218" name="Text 17"/>
          <p:cNvSpPr/>
          <p:nvPr/>
        </p:nvSpPr>
        <p:spPr bwMode="auto">
          <a:xfrm>
            <a:off x="4841825" y="2952750"/>
            <a:ext cx="145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>
                <a:solidFill>
                  <a:srgbClr val="E0E2E5">
                    <a:alpha val="70000"/>
                  </a:srgbClr>
                </a:solidFill>
                <a:latin typeface="MiSans"/>
                <a:ea typeface="MiSans"/>
                <a:cs typeface="MiSans"/>
              </a:rPr>
              <a:t>Observaciones Test</a:t>
            </a:r>
            <a:endParaRPr lang="en-US" sz="1600"/>
          </a:p>
        </p:txBody>
      </p:sp>
      <p:sp>
        <p:nvSpPr>
          <p:cNvPr id="454260323" name="Shape 18"/>
          <p:cNvSpPr/>
          <p:nvPr/>
        </p:nvSpPr>
        <p:spPr bwMode="auto">
          <a:xfrm>
            <a:off x="585788" y="3424238"/>
            <a:ext cx="3514725" cy="771525"/>
          </a:xfrm>
          <a:custGeom>
            <a:avLst/>
            <a:gdLst/>
            <a:ahLst/>
            <a:cxnLst/>
            <a:rect l="l" t="t" r="r" b="b"/>
            <a:pathLst>
              <a:path w="3514725" h="771525" fill="norm" stroke="1" extrusionOk="0">
                <a:moveTo>
                  <a:pt x="114301" y="0"/>
                </a:moveTo>
                <a:lnTo>
                  <a:pt x="3400424" y="0"/>
                </a:lnTo>
                <a:cubicBezTo>
                  <a:pt x="3463551" y="0"/>
                  <a:pt x="3514725" y="51174"/>
                  <a:pt x="3514725" y="114301"/>
                </a:cubicBezTo>
                <a:lnTo>
                  <a:pt x="3514725" y="657224"/>
                </a:lnTo>
                <a:cubicBezTo>
                  <a:pt x="3514725" y="720351"/>
                  <a:pt x="3463551" y="771525"/>
                  <a:pt x="3400424" y="771525"/>
                </a:cubicBezTo>
                <a:lnTo>
                  <a:pt x="114301" y="771525"/>
                </a:lnTo>
                <a:cubicBezTo>
                  <a:pt x="51174" y="771525"/>
                  <a:pt x="0" y="720351"/>
                  <a:pt x="0" y="6572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5F85A5">
                <a:alpha val="20000"/>
              </a:srgbClr>
            </a:solidFill>
            <a:prstDash val="solid"/>
          </a:ln>
        </p:spPr>
      </p:sp>
      <p:sp>
        <p:nvSpPr>
          <p:cNvPr id="1768678403" name="Shape 19"/>
          <p:cNvSpPr/>
          <p:nvPr/>
        </p:nvSpPr>
        <p:spPr bwMode="auto">
          <a:xfrm>
            <a:off x="709613" y="3624263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 fill="norm" stroke="1" extrusionOk="0">
                <a:moveTo>
                  <a:pt x="76201" y="0"/>
                </a:moveTo>
                <a:lnTo>
                  <a:pt x="295274" y="0"/>
                </a:lnTo>
                <a:cubicBezTo>
                  <a:pt x="337331" y="0"/>
                  <a:pt x="371475" y="34144"/>
                  <a:pt x="371475" y="76201"/>
                </a:cubicBezTo>
                <a:lnTo>
                  <a:pt x="371475" y="295274"/>
                </a:lnTo>
                <a:cubicBezTo>
                  <a:pt x="371475" y="337359"/>
                  <a:pt x="337359" y="371475"/>
                  <a:pt x="295274" y="371475"/>
                </a:cubicBezTo>
                <a:lnTo>
                  <a:pt x="76201" y="371475"/>
                </a:lnTo>
                <a:cubicBezTo>
                  <a:pt x="34116" y="371475"/>
                  <a:pt x="0" y="337359"/>
                  <a:pt x="0" y="29527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F39C12">
              <a:alpha val="20000"/>
            </a:srgbClr>
          </a:solidFill>
          <a:ln w="12700">
            <a:solidFill>
              <a:srgbClr val="F39C12">
                <a:alpha val="40000"/>
              </a:srgbClr>
            </a:solidFill>
            <a:prstDash val="solid"/>
          </a:ln>
        </p:spPr>
      </p:sp>
      <p:sp>
        <p:nvSpPr>
          <p:cNvPr id="1087433703" name="Shape 20"/>
          <p:cNvSpPr/>
          <p:nvPr/>
        </p:nvSpPr>
        <p:spPr bwMode="auto">
          <a:xfrm>
            <a:off x="819150" y="3733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 fill="norm" stroke="1" extrusionOk="0">
                <a:moveTo>
                  <a:pt x="0" y="21431"/>
                </a:moveTo>
                <a:cubicBezTo>
                  <a:pt x="0" y="17502"/>
                  <a:pt x="3185" y="14288"/>
                  <a:pt x="7144" y="14288"/>
                </a:cubicBezTo>
                <a:lnTo>
                  <a:pt x="21431" y="14288"/>
                </a:lnTo>
                <a:cubicBezTo>
                  <a:pt x="25390" y="14288"/>
                  <a:pt x="28575" y="17472"/>
                  <a:pt x="28575" y="21431"/>
                </a:cubicBezTo>
                <a:lnTo>
                  <a:pt x="28575" y="52388"/>
                </a:lnTo>
                <a:lnTo>
                  <a:pt x="35719" y="52388"/>
                </a:lnTo>
                <a:cubicBezTo>
                  <a:pt x="39678" y="52388"/>
                  <a:pt x="42863" y="55572"/>
                  <a:pt x="42863" y="59531"/>
                </a:cubicBezTo>
                <a:cubicBezTo>
                  <a:pt x="42863" y="63490"/>
                  <a:pt x="39678" y="66675"/>
                  <a:pt x="35719" y="66675"/>
                </a:cubicBezTo>
                <a:lnTo>
                  <a:pt x="7144" y="66675"/>
                </a:lnTo>
                <a:cubicBezTo>
                  <a:pt x="3185" y="66675"/>
                  <a:pt x="0" y="63490"/>
                  <a:pt x="0" y="59531"/>
                </a:cubicBezTo>
                <a:cubicBezTo>
                  <a:pt x="0" y="55572"/>
                  <a:pt x="3185" y="52388"/>
                  <a:pt x="7144" y="52388"/>
                </a:cubicBezTo>
                <a:lnTo>
                  <a:pt x="14288" y="52388"/>
                </a:lnTo>
                <a:lnTo>
                  <a:pt x="14288" y="28575"/>
                </a:lnTo>
                <a:lnTo>
                  <a:pt x="7144" y="28575"/>
                </a:lnTo>
                <a:cubicBezTo>
                  <a:pt x="3185" y="28575"/>
                  <a:pt x="0" y="25390"/>
                  <a:pt x="0" y="21431"/>
                </a:cubicBezTo>
                <a:close/>
                <a:moveTo>
                  <a:pt x="9049" y="89654"/>
                </a:moveTo>
                <a:cubicBezTo>
                  <a:pt x="12442" y="87094"/>
                  <a:pt x="16579" y="85725"/>
                  <a:pt x="20836" y="85725"/>
                </a:cubicBezTo>
                <a:lnTo>
                  <a:pt x="22294" y="85725"/>
                </a:lnTo>
                <a:cubicBezTo>
                  <a:pt x="32325" y="85725"/>
                  <a:pt x="40481" y="93881"/>
                  <a:pt x="40481" y="103912"/>
                </a:cubicBezTo>
                <a:cubicBezTo>
                  <a:pt x="40481" y="109746"/>
                  <a:pt x="37683" y="115193"/>
                  <a:pt x="32980" y="118616"/>
                </a:cubicBezTo>
                <a:lnTo>
                  <a:pt x="25837" y="123825"/>
                </a:lnTo>
                <a:lnTo>
                  <a:pt x="35719" y="123825"/>
                </a:lnTo>
                <a:cubicBezTo>
                  <a:pt x="39678" y="123825"/>
                  <a:pt x="42863" y="127010"/>
                  <a:pt x="42863" y="130969"/>
                </a:cubicBezTo>
                <a:cubicBezTo>
                  <a:pt x="42863" y="134928"/>
                  <a:pt x="39678" y="138113"/>
                  <a:pt x="35719" y="138113"/>
                </a:cubicBezTo>
                <a:lnTo>
                  <a:pt x="8721" y="138113"/>
                </a:lnTo>
                <a:cubicBezTo>
                  <a:pt x="3899" y="138113"/>
                  <a:pt x="0" y="134213"/>
                  <a:pt x="0" y="129391"/>
                </a:cubicBezTo>
                <a:cubicBezTo>
                  <a:pt x="0" y="126593"/>
                  <a:pt x="1339" y="123974"/>
                  <a:pt x="3602" y="122337"/>
                </a:cubicBezTo>
                <a:lnTo>
                  <a:pt x="24586" y="107067"/>
                </a:lnTo>
                <a:cubicBezTo>
                  <a:pt x="25598" y="106323"/>
                  <a:pt x="26194" y="105162"/>
                  <a:pt x="26194" y="103912"/>
                </a:cubicBezTo>
                <a:cubicBezTo>
                  <a:pt x="26194" y="101769"/>
                  <a:pt x="24438" y="100012"/>
                  <a:pt x="22294" y="100012"/>
                </a:cubicBezTo>
                <a:lnTo>
                  <a:pt x="20836" y="100013"/>
                </a:lnTo>
                <a:cubicBezTo>
                  <a:pt x="19675" y="100013"/>
                  <a:pt x="18544" y="100399"/>
                  <a:pt x="17621" y="101084"/>
                </a:cubicBezTo>
                <a:lnTo>
                  <a:pt x="11430" y="105728"/>
                </a:lnTo>
                <a:cubicBezTo>
                  <a:pt x="8275" y="108109"/>
                  <a:pt x="3810" y="107454"/>
                  <a:pt x="1429" y="104299"/>
                </a:cubicBezTo>
                <a:cubicBezTo>
                  <a:pt x="-953" y="101144"/>
                  <a:pt x="-298" y="96679"/>
                  <a:pt x="2858" y="94298"/>
                </a:cubicBezTo>
                <a:lnTo>
                  <a:pt x="9049" y="89654"/>
                </a:lnTo>
                <a:close/>
                <a:moveTo>
                  <a:pt x="66675" y="19050"/>
                </a:moveTo>
                <a:lnTo>
                  <a:pt x="142875" y="19050"/>
                </a:lnTo>
                <a:cubicBezTo>
                  <a:pt x="148144" y="19050"/>
                  <a:pt x="152400" y="23306"/>
                  <a:pt x="152400" y="28575"/>
                </a:cubicBezTo>
                <a:cubicBezTo>
                  <a:pt x="152400" y="33844"/>
                  <a:pt x="148144" y="38100"/>
                  <a:pt x="142875" y="38100"/>
                </a:cubicBezTo>
                <a:lnTo>
                  <a:pt x="66675" y="38100"/>
                </a:lnTo>
                <a:cubicBezTo>
                  <a:pt x="61406" y="38100"/>
                  <a:pt x="57150" y="33844"/>
                  <a:pt x="57150" y="28575"/>
                </a:cubicBezTo>
                <a:cubicBezTo>
                  <a:pt x="57150" y="23306"/>
                  <a:pt x="61406" y="19050"/>
                  <a:pt x="66675" y="19050"/>
                </a:cubicBezTo>
                <a:close/>
                <a:moveTo>
                  <a:pt x="66675" y="66675"/>
                </a:moveTo>
                <a:lnTo>
                  <a:pt x="142875" y="66675"/>
                </a:lnTo>
                <a:cubicBezTo>
                  <a:pt x="148144" y="66675"/>
                  <a:pt x="152400" y="70931"/>
                  <a:pt x="152400" y="76200"/>
                </a:cubicBezTo>
                <a:cubicBezTo>
                  <a:pt x="152400" y="81469"/>
                  <a:pt x="148144" y="85725"/>
                  <a:pt x="142875" y="85725"/>
                </a:cubicBezTo>
                <a:lnTo>
                  <a:pt x="66675" y="85725"/>
                </a:lnTo>
                <a:cubicBezTo>
                  <a:pt x="61406" y="85725"/>
                  <a:pt x="57150" y="81469"/>
                  <a:pt x="57150" y="76200"/>
                </a:cubicBezTo>
                <a:cubicBezTo>
                  <a:pt x="57150" y="70931"/>
                  <a:pt x="61406" y="66675"/>
                  <a:pt x="66675" y="66675"/>
                </a:cubicBezTo>
                <a:close/>
                <a:moveTo>
                  <a:pt x="66675" y="114300"/>
                </a:moveTo>
                <a:lnTo>
                  <a:pt x="142875" y="114300"/>
                </a:lnTo>
                <a:cubicBezTo>
                  <a:pt x="148144" y="114300"/>
                  <a:pt x="152400" y="118556"/>
                  <a:pt x="152400" y="123825"/>
                </a:cubicBezTo>
                <a:cubicBezTo>
                  <a:pt x="152400" y="129094"/>
                  <a:pt x="148144" y="133350"/>
                  <a:pt x="142875" y="133350"/>
                </a:cubicBezTo>
                <a:lnTo>
                  <a:pt x="66675" y="133350"/>
                </a:lnTo>
                <a:cubicBezTo>
                  <a:pt x="61406" y="133350"/>
                  <a:pt x="57150" y="129094"/>
                  <a:pt x="57150" y="123825"/>
                </a:cubicBezTo>
                <a:cubicBezTo>
                  <a:pt x="57150" y="118556"/>
                  <a:pt x="61406" y="114300"/>
                  <a:pt x="66675" y="114300"/>
                </a:cubicBezTo>
                <a:close/>
              </a:path>
            </a:pathLst>
          </a:custGeom>
          <a:solidFill>
            <a:srgbClr val="F39C12"/>
          </a:solidFill>
          <a:ln/>
        </p:spPr>
      </p:sp>
      <p:sp>
        <p:nvSpPr>
          <p:cNvPr id="1394103790" name="Text 21"/>
          <p:cNvSpPr/>
          <p:nvPr/>
        </p:nvSpPr>
        <p:spPr bwMode="auto">
          <a:xfrm>
            <a:off x="1200150" y="3543300"/>
            <a:ext cx="1504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800" b="1">
                <a:solidFill>
                  <a:srgbClr val="F39C12"/>
                </a:solidFill>
                <a:latin typeface="MiSans"/>
                <a:ea typeface="MiSans"/>
                <a:cs typeface="MiSans"/>
              </a:rPr>
              <a:t>41</a:t>
            </a:r>
            <a:endParaRPr lang="en-US" sz="1600"/>
          </a:p>
        </p:txBody>
      </p:sp>
      <p:sp>
        <p:nvSpPr>
          <p:cNvPr id="1296354189" name="Text 22"/>
          <p:cNvSpPr/>
          <p:nvPr/>
        </p:nvSpPr>
        <p:spPr bwMode="auto">
          <a:xfrm>
            <a:off x="1200150" y="3848100"/>
            <a:ext cx="14668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>
                <a:solidFill>
                  <a:srgbClr val="E0E2E5">
                    <a:alpha val="70000"/>
                  </a:srgbClr>
                </a:solidFill>
                <a:latin typeface="MiSans"/>
                <a:ea typeface="MiSans"/>
                <a:cs typeface="MiSans"/>
              </a:rPr>
              <a:t>Variables de Tráfico</a:t>
            </a:r>
            <a:endParaRPr lang="en-US" sz="1600"/>
          </a:p>
        </p:txBody>
      </p:sp>
      <p:sp>
        <p:nvSpPr>
          <p:cNvPr id="1244008070" name="Shape 23"/>
          <p:cNvSpPr/>
          <p:nvPr/>
        </p:nvSpPr>
        <p:spPr bwMode="auto">
          <a:xfrm>
            <a:off x="4227463" y="3424238"/>
            <a:ext cx="3514725" cy="771525"/>
          </a:xfrm>
          <a:custGeom>
            <a:avLst/>
            <a:gdLst/>
            <a:ahLst/>
            <a:cxnLst/>
            <a:rect l="l" t="t" r="r" b="b"/>
            <a:pathLst>
              <a:path w="3514725" h="771525" fill="norm" stroke="1" extrusionOk="0">
                <a:moveTo>
                  <a:pt x="114301" y="0"/>
                </a:moveTo>
                <a:lnTo>
                  <a:pt x="3400424" y="0"/>
                </a:lnTo>
                <a:cubicBezTo>
                  <a:pt x="3463551" y="0"/>
                  <a:pt x="3514725" y="51174"/>
                  <a:pt x="3514725" y="114301"/>
                </a:cubicBezTo>
                <a:lnTo>
                  <a:pt x="3514725" y="657224"/>
                </a:lnTo>
                <a:cubicBezTo>
                  <a:pt x="3514725" y="720351"/>
                  <a:pt x="3463551" y="771525"/>
                  <a:pt x="3400424" y="771525"/>
                </a:cubicBezTo>
                <a:lnTo>
                  <a:pt x="114301" y="771525"/>
                </a:lnTo>
                <a:cubicBezTo>
                  <a:pt x="51174" y="771525"/>
                  <a:pt x="0" y="720351"/>
                  <a:pt x="0" y="6572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5F85A5">
                <a:alpha val="20000"/>
              </a:srgbClr>
            </a:solidFill>
            <a:prstDash val="solid"/>
          </a:ln>
        </p:spPr>
      </p:sp>
      <p:sp>
        <p:nvSpPr>
          <p:cNvPr id="278321868" name="Shape 24"/>
          <p:cNvSpPr/>
          <p:nvPr/>
        </p:nvSpPr>
        <p:spPr bwMode="auto">
          <a:xfrm>
            <a:off x="4351288" y="3624263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 fill="norm" stroke="1" extrusionOk="0">
                <a:moveTo>
                  <a:pt x="76201" y="0"/>
                </a:moveTo>
                <a:lnTo>
                  <a:pt x="295274" y="0"/>
                </a:lnTo>
                <a:cubicBezTo>
                  <a:pt x="337331" y="0"/>
                  <a:pt x="371475" y="34144"/>
                  <a:pt x="371475" y="76201"/>
                </a:cubicBezTo>
                <a:lnTo>
                  <a:pt x="371475" y="295274"/>
                </a:lnTo>
                <a:cubicBezTo>
                  <a:pt x="371475" y="337359"/>
                  <a:pt x="337359" y="371475"/>
                  <a:pt x="295274" y="371475"/>
                </a:cubicBezTo>
                <a:lnTo>
                  <a:pt x="76201" y="371475"/>
                </a:lnTo>
                <a:cubicBezTo>
                  <a:pt x="34116" y="371475"/>
                  <a:pt x="0" y="337359"/>
                  <a:pt x="0" y="29527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9B59B6">
              <a:alpha val="20000"/>
            </a:srgbClr>
          </a:solidFill>
          <a:ln w="12700">
            <a:solidFill>
              <a:srgbClr val="9B59B6">
                <a:alpha val="40000"/>
              </a:srgbClr>
            </a:solidFill>
            <a:prstDash val="solid"/>
          </a:ln>
        </p:spPr>
      </p:sp>
      <p:sp>
        <p:nvSpPr>
          <p:cNvPr id="285855755" name="Shape 25"/>
          <p:cNvSpPr/>
          <p:nvPr/>
        </p:nvSpPr>
        <p:spPr bwMode="auto">
          <a:xfrm>
            <a:off x="4451300" y="37338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 fill="norm" stroke="1" extrusionOk="0">
                <a:moveTo>
                  <a:pt x="119420" y="11638"/>
                </a:moveTo>
                <a:lnTo>
                  <a:pt x="163532" y="56376"/>
                </a:lnTo>
                <a:cubicBezTo>
                  <a:pt x="171777" y="64740"/>
                  <a:pt x="171777" y="78135"/>
                  <a:pt x="163532" y="86499"/>
                </a:cubicBezTo>
                <a:lnTo>
                  <a:pt x="116979" y="133618"/>
                </a:lnTo>
                <a:cubicBezTo>
                  <a:pt x="114211" y="136416"/>
                  <a:pt x="109686" y="136446"/>
                  <a:pt x="106888" y="133677"/>
                </a:cubicBezTo>
                <a:cubicBezTo>
                  <a:pt x="104090" y="130909"/>
                  <a:pt x="104061" y="126385"/>
                  <a:pt x="106829" y="123587"/>
                </a:cubicBezTo>
                <a:lnTo>
                  <a:pt x="153382" y="76438"/>
                </a:lnTo>
                <a:cubicBezTo>
                  <a:pt x="156121" y="73670"/>
                  <a:pt x="156121" y="69175"/>
                  <a:pt x="153382" y="66407"/>
                </a:cubicBezTo>
                <a:lnTo>
                  <a:pt x="109240" y="21699"/>
                </a:lnTo>
                <a:cubicBezTo>
                  <a:pt x="106472" y="18901"/>
                  <a:pt x="106501" y="14377"/>
                  <a:pt x="109299" y="11609"/>
                </a:cubicBezTo>
                <a:cubicBezTo>
                  <a:pt x="112097" y="8840"/>
                  <a:pt x="116622" y="8870"/>
                  <a:pt x="119390" y="11668"/>
                </a:cubicBezTo>
                <a:close/>
                <a:moveTo>
                  <a:pt x="9555" y="68312"/>
                </a:moveTo>
                <a:lnTo>
                  <a:pt x="9555" y="28575"/>
                </a:lnTo>
                <a:cubicBezTo>
                  <a:pt x="9555" y="18068"/>
                  <a:pt x="18098" y="9525"/>
                  <a:pt x="28605" y="9525"/>
                </a:cubicBezTo>
                <a:lnTo>
                  <a:pt x="68342" y="9525"/>
                </a:lnTo>
                <a:cubicBezTo>
                  <a:pt x="73402" y="9525"/>
                  <a:pt x="78254" y="11519"/>
                  <a:pt x="81826" y="15091"/>
                </a:cubicBezTo>
                <a:lnTo>
                  <a:pt x="124688" y="57954"/>
                </a:lnTo>
                <a:cubicBezTo>
                  <a:pt x="132130" y="65395"/>
                  <a:pt x="132130" y="77450"/>
                  <a:pt x="124688" y="84892"/>
                </a:cubicBezTo>
                <a:lnTo>
                  <a:pt x="84951" y="124629"/>
                </a:lnTo>
                <a:cubicBezTo>
                  <a:pt x="77510" y="132070"/>
                  <a:pt x="65455" y="132070"/>
                  <a:pt x="58013" y="124629"/>
                </a:cubicBezTo>
                <a:lnTo>
                  <a:pt x="15151" y="81766"/>
                </a:lnTo>
                <a:cubicBezTo>
                  <a:pt x="11579" y="78194"/>
                  <a:pt x="9585" y="73343"/>
                  <a:pt x="9585" y="68282"/>
                </a:cubicBezTo>
                <a:close/>
                <a:moveTo>
                  <a:pt x="52417" y="42863"/>
                </a:moveTo>
                <a:cubicBezTo>
                  <a:pt x="52417" y="37606"/>
                  <a:pt x="48149" y="33338"/>
                  <a:pt x="42892" y="33338"/>
                </a:cubicBezTo>
                <a:cubicBezTo>
                  <a:pt x="37635" y="33338"/>
                  <a:pt x="33367" y="37606"/>
                  <a:pt x="33367" y="42863"/>
                </a:cubicBezTo>
                <a:cubicBezTo>
                  <a:pt x="33367" y="48119"/>
                  <a:pt x="37635" y="52388"/>
                  <a:pt x="42892" y="52388"/>
                </a:cubicBezTo>
                <a:cubicBezTo>
                  <a:pt x="48149" y="52388"/>
                  <a:pt x="52417" y="48119"/>
                  <a:pt x="52417" y="42863"/>
                </a:cubicBezTo>
                <a:close/>
              </a:path>
            </a:pathLst>
          </a:custGeom>
          <a:solidFill>
            <a:srgbClr val="9B59B6"/>
          </a:solidFill>
          <a:ln/>
        </p:spPr>
      </p:sp>
      <p:sp>
        <p:nvSpPr>
          <p:cNvPr id="24526155" name="Text 26"/>
          <p:cNvSpPr/>
          <p:nvPr/>
        </p:nvSpPr>
        <p:spPr bwMode="auto">
          <a:xfrm>
            <a:off x="4841825" y="3543300"/>
            <a:ext cx="160972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800" b="1">
                <a:solidFill>
                  <a:srgbClr val="9B59B6"/>
                </a:solidFill>
                <a:latin typeface="MiSans"/>
                <a:ea typeface="MiSans"/>
                <a:cs typeface="MiSans"/>
              </a:rPr>
              <a:t>5</a:t>
            </a:r>
            <a:endParaRPr lang="en-US" sz="1600"/>
          </a:p>
        </p:txBody>
      </p:sp>
      <p:sp>
        <p:nvSpPr>
          <p:cNvPr id="746476434" name="Text 27"/>
          <p:cNvSpPr/>
          <p:nvPr/>
        </p:nvSpPr>
        <p:spPr bwMode="auto">
          <a:xfrm>
            <a:off x="4841825" y="3848100"/>
            <a:ext cx="1571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>
                <a:solidFill>
                  <a:srgbClr val="E0E2E5">
                    <a:alpha val="70000"/>
                  </a:srgbClr>
                </a:solidFill>
                <a:latin typeface="MiSans"/>
                <a:ea typeface="MiSans"/>
                <a:cs typeface="MiSans"/>
              </a:rPr>
              <a:t>Categorías de Tráfico</a:t>
            </a:r>
            <a:endParaRPr lang="en-US" sz="1600"/>
          </a:p>
        </p:txBody>
      </p:sp>
      <p:sp>
        <p:nvSpPr>
          <p:cNvPr id="1181669626" name="Shape 28"/>
          <p:cNvSpPr/>
          <p:nvPr/>
        </p:nvSpPr>
        <p:spPr bwMode="auto">
          <a:xfrm>
            <a:off x="8107338" y="1376363"/>
            <a:ext cx="3695700" cy="3019425"/>
          </a:xfrm>
          <a:custGeom>
            <a:avLst/>
            <a:gdLst/>
            <a:ahLst/>
            <a:cxnLst/>
            <a:rect l="l" t="t" r="r" b="b"/>
            <a:pathLst>
              <a:path w="3695700" h="3019425" fill="norm" stroke="1" extrusionOk="0">
                <a:moveTo>
                  <a:pt x="152390" y="0"/>
                </a:moveTo>
                <a:lnTo>
                  <a:pt x="3543310" y="0"/>
                </a:lnTo>
                <a:cubicBezTo>
                  <a:pt x="3627473" y="0"/>
                  <a:pt x="3695700" y="68227"/>
                  <a:pt x="3695700" y="152390"/>
                </a:cubicBezTo>
                <a:lnTo>
                  <a:pt x="3695700" y="2867035"/>
                </a:lnTo>
                <a:cubicBezTo>
                  <a:pt x="3695700" y="2951198"/>
                  <a:pt x="3627473" y="3019425"/>
                  <a:pt x="3543310" y="3019425"/>
                </a:cubicBezTo>
                <a:lnTo>
                  <a:pt x="152390" y="3019425"/>
                </a:lnTo>
                <a:cubicBezTo>
                  <a:pt x="68227" y="3019425"/>
                  <a:pt x="0" y="2951198"/>
                  <a:pt x="0" y="2867035"/>
                </a:cubicBezTo>
                <a:lnTo>
                  <a:pt x="0" y="152390"/>
                </a:lnTo>
                <a:cubicBezTo>
                  <a:pt x="0" y="68284"/>
                  <a:pt x="68284" y="0"/>
                  <a:pt x="15239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5F85A5">
                <a:alpha val="30193"/>
              </a:srgbClr>
            </a:solidFill>
            <a:prstDash val="solid"/>
          </a:ln>
        </p:spPr>
      </p:sp>
      <p:sp>
        <p:nvSpPr>
          <p:cNvPr id="947794053" name="Text 29"/>
          <p:cNvSpPr/>
          <p:nvPr/>
        </p:nvSpPr>
        <p:spPr bwMode="auto">
          <a:xfrm>
            <a:off x="8259738" y="1571625"/>
            <a:ext cx="3390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350" b="1">
                <a:solidFill>
                  <a:srgbClr val="E0E2E5"/>
                </a:solidFill>
                <a:latin typeface="MiSans"/>
                <a:ea typeface="MiSans"/>
                <a:cs typeface="MiSans"/>
              </a:rPr>
              <a:t>Distribución de Categorías</a:t>
            </a:r>
            <a:endParaRPr lang="en-US" sz="1600"/>
          </a:p>
        </p:txBody>
      </p:sp>
      <p:pic>
        <p:nvPicPr>
          <p:cNvPr id="2066621622" name="Image 0" descr="https://kimi-img.moonshot.cn/pub/slides/26-01-29-03:40:55-d5t6chrid4ma1laigeeg.png"/>
          <p:cNvPicPr>
            <a:picLocks noChangeAspect="1"/>
          </p:cNvPicPr>
          <p:nvPr/>
        </p:nvPicPr>
        <p:blipFill rotWithShape="1">
          <a:blip r:embed="rId3"/>
          <a:srcRect l="0" t="0" r="0" b="0"/>
          <a:stretch/>
        </p:blipFill>
        <p:spPr bwMode="auto">
          <a:xfrm>
            <a:off x="8302600" y="1952625"/>
            <a:ext cx="3305175" cy="2247900"/>
          </a:xfrm>
          <a:prstGeom prst="roundRect">
            <a:avLst>
              <a:gd name="adj" fmla="val 0"/>
            </a:avLst>
          </a:prstGeom>
        </p:spPr>
      </p:pic>
      <p:sp>
        <p:nvSpPr>
          <p:cNvPr id="829945893" name="Shape 30"/>
          <p:cNvSpPr/>
          <p:nvPr/>
        </p:nvSpPr>
        <p:spPr bwMode="auto">
          <a:xfrm>
            <a:off x="385762" y="4595813"/>
            <a:ext cx="11420475" cy="1666875"/>
          </a:xfrm>
          <a:custGeom>
            <a:avLst/>
            <a:gdLst/>
            <a:ahLst/>
            <a:cxnLst/>
            <a:rect l="l" t="t" r="r" b="b"/>
            <a:pathLst>
              <a:path w="11420475" h="1666875" fill="norm" stroke="1" extrusionOk="0">
                <a:moveTo>
                  <a:pt x="152402" y="0"/>
                </a:moveTo>
                <a:lnTo>
                  <a:pt x="11268073" y="0"/>
                </a:lnTo>
                <a:cubicBezTo>
                  <a:pt x="11352242" y="0"/>
                  <a:pt x="11420475" y="68233"/>
                  <a:pt x="11420475" y="152402"/>
                </a:cubicBezTo>
                <a:lnTo>
                  <a:pt x="11420475" y="1514473"/>
                </a:lnTo>
                <a:cubicBezTo>
                  <a:pt x="11420475" y="1598642"/>
                  <a:pt x="11352242" y="1666875"/>
                  <a:pt x="11268073" y="1666875"/>
                </a:cubicBezTo>
                <a:lnTo>
                  <a:pt x="152402" y="1666875"/>
                </a:lnTo>
                <a:cubicBezTo>
                  <a:pt x="68233" y="1666875"/>
                  <a:pt x="0" y="1598642"/>
                  <a:pt x="0" y="1514473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5F85A5">
                <a:alpha val="30193"/>
              </a:srgbClr>
            </a:solidFill>
            <a:prstDash val="solid"/>
          </a:ln>
        </p:spPr>
      </p:sp>
      <p:sp>
        <p:nvSpPr>
          <p:cNvPr id="1637486297" name="Shape 31"/>
          <p:cNvSpPr/>
          <p:nvPr/>
        </p:nvSpPr>
        <p:spPr bwMode="auto">
          <a:xfrm>
            <a:off x="585788" y="4795838"/>
            <a:ext cx="2076450" cy="1266825"/>
          </a:xfrm>
          <a:custGeom>
            <a:avLst/>
            <a:gdLst/>
            <a:ahLst/>
            <a:cxnLst/>
            <a:rect l="l" t="t" r="r" b="b"/>
            <a:pathLst>
              <a:path w="2076450" h="1266825" fill="norm" stroke="1" extrusionOk="0">
                <a:moveTo>
                  <a:pt x="114306" y="0"/>
                </a:moveTo>
                <a:lnTo>
                  <a:pt x="1962144" y="0"/>
                </a:lnTo>
                <a:cubicBezTo>
                  <a:pt x="2025274" y="0"/>
                  <a:pt x="2076450" y="51176"/>
                  <a:pt x="2076450" y="114306"/>
                </a:cubicBezTo>
                <a:lnTo>
                  <a:pt x="2076450" y="1152519"/>
                </a:lnTo>
                <a:cubicBezTo>
                  <a:pt x="2076450" y="1215649"/>
                  <a:pt x="2025274" y="1266825"/>
                  <a:pt x="1962144" y="1266825"/>
                </a:cubicBezTo>
                <a:lnTo>
                  <a:pt x="114306" y="1266825"/>
                </a:lnTo>
                <a:cubicBezTo>
                  <a:pt x="51176" y="1266825"/>
                  <a:pt x="0" y="1215649"/>
                  <a:pt x="0" y="1152519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4ECDC4">
                <a:alpha val="30193"/>
              </a:srgbClr>
            </a:solidFill>
            <a:prstDash val="solid"/>
          </a:ln>
        </p:spPr>
      </p:sp>
      <p:sp>
        <p:nvSpPr>
          <p:cNvPr id="60387074" name="Shape 32"/>
          <p:cNvSpPr/>
          <p:nvPr/>
        </p:nvSpPr>
        <p:spPr bwMode="auto">
          <a:xfrm>
            <a:off x="747713" y="5243513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 fill="norm" stroke="1" extrusionOk="0">
                <a:moveTo>
                  <a:pt x="76201" y="0"/>
                </a:moveTo>
                <a:lnTo>
                  <a:pt x="295274" y="0"/>
                </a:lnTo>
                <a:cubicBezTo>
                  <a:pt x="337331" y="0"/>
                  <a:pt x="371475" y="34144"/>
                  <a:pt x="371475" y="76201"/>
                </a:cubicBezTo>
                <a:lnTo>
                  <a:pt x="371475" y="295274"/>
                </a:lnTo>
                <a:cubicBezTo>
                  <a:pt x="371475" y="337359"/>
                  <a:pt x="337359" y="371475"/>
                  <a:pt x="295274" y="371475"/>
                </a:cubicBezTo>
                <a:lnTo>
                  <a:pt x="76201" y="371475"/>
                </a:lnTo>
                <a:cubicBezTo>
                  <a:pt x="34116" y="371475"/>
                  <a:pt x="0" y="337359"/>
                  <a:pt x="0" y="29527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 w="12700">
            <a:solidFill>
              <a:srgbClr val="4ECDC4">
                <a:alpha val="40000"/>
              </a:srgbClr>
            </a:solidFill>
            <a:prstDash val="solid"/>
          </a:ln>
        </p:spPr>
      </p:sp>
      <p:sp>
        <p:nvSpPr>
          <p:cNvPr id="1584839088" name="Shape 33"/>
          <p:cNvSpPr/>
          <p:nvPr/>
        </p:nvSpPr>
        <p:spPr bwMode="auto">
          <a:xfrm>
            <a:off x="857250" y="53530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 fill="norm" stroke="1" extrusionOk="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042106599" name="Text 34"/>
          <p:cNvSpPr/>
          <p:nvPr/>
        </p:nvSpPr>
        <p:spPr bwMode="auto">
          <a:xfrm>
            <a:off x="1238250" y="5067300"/>
            <a:ext cx="657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350" b="1">
                <a:solidFill>
                  <a:srgbClr val="4ECDC4"/>
                </a:solidFill>
                <a:latin typeface="MiSans"/>
                <a:ea typeface="MiSans"/>
                <a:cs typeface="MiSans"/>
              </a:rPr>
              <a:t>Normal</a:t>
            </a:r>
            <a:endParaRPr lang="en-US" sz="1600"/>
          </a:p>
        </p:txBody>
      </p:sp>
      <p:sp>
        <p:nvSpPr>
          <p:cNvPr id="1676591407" name="Text 35"/>
          <p:cNvSpPr/>
          <p:nvPr/>
        </p:nvSpPr>
        <p:spPr bwMode="auto">
          <a:xfrm>
            <a:off x="1238250" y="5334000"/>
            <a:ext cx="64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>
                <a:solidFill>
                  <a:srgbClr val="E0E2E5">
                    <a:alpha val="70000"/>
                  </a:srgbClr>
                </a:solidFill>
                <a:latin typeface="MiSans"/>
                <a:ea typeface="MiSans"/>
                <a:cs typeface="MiSans"/>
              </a:rPr>
              <a:t>Tráfico legítimo</a:t>
            </a:r>
            <a:endParaRPr lang="en-US" sz="1600"/>
          </a:p>
        </p:txBody>
      </p:sp>
      <p:sp>
        <p:nvSpPr>
          <p:cNvPr id="1611425153" name="Text 36"/>
          <p:cNvSpPr/>
          <p:nvPr/>
        </p:nvSpPr>
        <p:spPr bwMode="auto">
          <a:xfrm>
            <a:off x="1924720" y="5276850"/>
            <a:ext cx="771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800" b="1">
                <a:solidFill>
                  <a:srgbClr val="4ECDC4"/>
                </a:solidFill>
                <a:latin typeface="MiSans"/>
                <a:ea typeface="MiSans"/>
                <a:cs typeface="MiSans"/>
              </a:rPr>
              <a:t>53.4%</a:t>
            </a:r>
            <a:endParaRPr lang="en-US" sz="1600"/>
          </a:p>
        </p:txBody>
      </p:sp>
      <p:sp>
        <p:nvSpPr>
          <p:cNvPr id="561840376" name="Shape 37"/>
          <p:cNvSpPr/>
          <p:nvPr/>
        </p:nvSpPr>
        <p:spPr bwMode="auto">
          <a:xfrm>
            <a:off x="2822228" y="4795838"/>
            <a:ext cx="2076450" cy="1266825"/>
          </a:xfrm>
          <a:custGeom>
            <a:avLst/>
            <a:gdLst/>
            <a:ahLst/>
            <a:cxnLst/>
            <a:rect l="l" t="t" r="r" b="b"/>
            <a:pathLst>
              <a:path w="2076450" h="1266825" fill="norm" stroke="1" extrusionOk="0">
                <a:moveTo>
                  <a:pt x="114306" y="0"/>
                </a:moveTo>
                <a:lnTo>
                  <a:pt x="1962144" y="0"/>
                </a:lnTo>
                <a:cubicBezTo>
                  <a:pt x="2025274" y="0"/>
                  <a:pt x="2076450" y="51176"/>
                  <a:pt x="2076450" y="114306"/>
                </a:cubicBezTo>
                <a:lnTo>
                  <a:pt x="2076450" y="1152519"/>
                </a:lnTo>
                <a:cubicBezTo>
                  <a:pt x="2076450" y="1215649"/>
                  <a:pt x="2025274" y="1266825"/>
                  <a:pt x="1962144" y="1266825"/>
                </a:cubicBezTo>
                <a:lnTo>
                  <a:pt x="114306" y="1266825"/>
                </a:lnTo>
                <a:cubicBezTo>
                  <a:pt x="51176" y="1266825"/>
                  <a:pt x="0" y="1215649"/>
                  <a:pt x="0" y="1152519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E74C3C">
                <a:alpha val="30193"/>
              </a:srgbClr>
            </a:solidFill>
            <a:prstDash val="solid"/>
          </a:ln>
        </p:spPr>
      </p:sp>
      <p:sp>
        <p:nvSpPr>
          <p:cNvPr id="630652833" name="Shape 38"/>
          <p:cNvSpPr/>
          <p:nvPr/>
        </p:nvSpPr>
        <p:spPr bwMode="auto">
          <a:xfrm>
            <a:off x="2984153" y="5243513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 fill="norm" stroke="1" extrusionOk="0">
                <a:moveTo>
                  <a:pt x="76201" y="0"/>
                </a:moveTo>
                <a:lnTo>
                  <a:pt x="295274" y="0"/>
                </a:lnTo>
                <a:cubicBezTo>
                  <a:pt x="337331" y="0"/>
                  <a:pt x="371475" y="34144"/>
                  <a:pt x="371475" y="76201"/>
                </a:cubicBezTo>
                <a:lnTo>
                  <a:pt x="371475" y="295274"/>
                </a:lnTo>
                <a:cubicBezTo>
                  <a:pt x="371475" y="337359"/>
                  <a:pt x="337359" y="371475"/>
                  <a:pt x="295274" y="371475"/>
                </a:cubicBezTo>
                <a:lnTo>
                  <a:pt x="76201" y="371475"/>
                </a:lnTo>
                <a:cubicBezTo>
                  <a:pt x="34116" y="371475"/>
                  <a:pt x="0" y="337359"/>
                  <a:pt x="0" y="29527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E74C3C">
              <a:alpha val="20000"/>
            </a:srgbClr>
          </a:solidFill>
          <a:ln w="12700">
            <a:solidFill>
              <a:srgbClr val="E74C3C">
                <a:alpha val="4000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03896060" name="Shape 39"/>
          <p:cNvSpPr/>
          <p:nvPr/>
        </p:nvSpPr>
        <p:spPr bwMode="auto">
          <a:xfrm>
            <a:off x="3084165" y="53530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 fill="norm" stroke="1" extrusionOk="0">
                <a:moveTo>
                  <a:pt x="142875" y="-4762"/>
                </a:moveTo>
                <a:cubicBezTo>
                  <a:pt x="144929" y="-4762"/>
                  <a:pt x="146745" y="-3453"/>
                  <a:pt x="147399" y="-1518"/>
                </a:cubicBezTo>
                <a:lnTo>
                  <a:pt x="151418" y="10507"/>
                </a:lnTo>
                <a:lnTo>
                  <a:pt x="163443" y="14526"/>
                </a:lnTo>
                <a:cubicBezTo>
                  <a:pt x="165378" y="15180"/>
                  <a:pt x="166688" y="16996"/>
                  <a:pt x="166688" y="19050"/>
                </a:cubicBezTo>
                <a:cubicBezTo>
                  <a:pt x="166688" y="21104"/>
                  <a:pt x="165378" y="22920"/>
                  <a:pt x="163443" y="23574"/>
                </a:cubicBezTo>
                <a:lnTo>
                  <a:pt x="151418" y="27593"/>
                </a:lnTo>
                <a:lnTo>
                  <a:pt x="147399" y="39618"/>
                </a:lnTo>
                <a:cubicBezTo>
                  <a:pt x="146745" y="41553"/>
                  <a:pt x="144929" y="42863"/>
                  <a:pt x="142875" y="42863"/>
                </a:cubicBezTo>
                <a:cubicBezTo>
                  <a:pt x="140821" y="42863"/>
                  <a:pt x="139005" y="41553"/>
                  <a:pt x="138351" y="39618"/>
                </a:cubicBezTo>
                <a:lnTo>
                  <a:pt x="134332" y="27593"/>
                </a:lnTo>
                <a:lnTo>
                  <a:pt x="122307" y="23574"/>
                </a:lnTo>
                <a:cubicBezTo>
                  <a:pt x="120372" y="22920"/>
                  <a:pt x="119062" y="21104"/>
                  <a:pt x="119062" y="19050"/>
                </a:cubicBezTo>
                <a:cubicBezTo>
                  <a:pt x="119062" y="16996"/>
                  <a:pt x="120372" y="15180"/>
                  <a:pt x="122307" y="14526"/>
                </a:cubicBezTo>
                <a:lnTo>
                  <a:pt x="134332" y="10507"/>
                </a:lnTo>
                <a:lnTo>
                  <a:pt x="138351" y="-1518"/>
                </a:lnTo>
                <a:cubicBezTo>
                  <a:pt x="139005" y="-3453"/>
                  <a:pt x="140821" y="-4762"/>
                  <a:pt x="142875" y="-4762"/>
                </a:cubicBezTo>
                <a:close/>
                <a:moveTo>
                  <a:pt x="95667" y="28992"/>
                </a:moveTo>
                <a:cubicBezTo>
                  <a:pt x="99387" y="25271"/>
                  <a:pt x="105430" y="25271"/>
                  <a:pt x="109151" y="28992"/>
                </a:cubicBezTo>
                <a:lnTo>
                  <a:pt x="132963" y="52804"/>
                </a:lnTo>
                <a:cubicBezTo>
                  <a:pt x="136684" y="56525"/>
                  <a:pt x="136684" y="62567"/>
                  <a:pt x="132963" y="66288"/>
                </a:cubicBezTo>
                <a:lnTo>
                  <a:pt x="129719" y="69533"/>
                </a:lnTo>
                <a:cubicBezTo>
                  <a:pt x="132070" y="76081"/>
                  <a:pt x="133350" y="83135"/>
                  <a:pt x="133350" y="90517"/>
                </a:cubicBezTo>
                <a:cubicBezTo>
                  <a:pt x="133350" y="124718"/>
                  <a:pt x="105638" y="152430"/>
                  <a:pt x="71438" y="152430"/>
                </a:cubicBezTo>
                <a:cubicBezTo>
                  <a:pt x="37237" y="152430"/>
                  <a:pt x="9525" y="124688"/>
                  <a:pt x="9525" y="90488"/>
                </a:cubicBezTo>
                <a:cubicBezTo>
                  <a:pt x="9525" y="56287"/>
                  <a:pt x="37237" y="28575"/>
                  <a:pt x="71438" y="28575"/>
                </a:cubicBezTo>
                <a:cubicBezTo>
                  <a:pt x="78790" y="28575"/>
                  <a:pt x="85874" y="29855"/>
                  <a:pt x="92422" y="32236"/>
                </a:cubicBezTo>
                <a:lnTo>
                  <a:pt x="95667" y="28992"/>
                </a:lnTo>
                <a:close/>
                <a:moveTo>
                  <a:pt x="42863" y="90488"/>
                </a:moveTo>
                <a:cubicBezTo>
                  <a:pt x="42863" y="74712"/>
                  <a:pt x="55662" y="61912"/>
                  <a:pt x="71438" y="61912"/>
                </a:cubicBezTo>
                <a:cubicBezTo>
                  <a:pt x="75396" y="61912"/>
                  <a:pt x="78581" y="58728"/>
                  <a:pt x="78581" y="54769"/>
                </a:cubicBezTo>
                <a:cubicBezTo>
                  <a:pt x="78581" y="50810"/>
                  <a:pt x="75396" y="47625"/>
                  <a:pt x="71438" y="47625"/>
                </a:cubicBezTo>
                <a:cubicBezTo>
                  <a:pt x="47774" y="47625"/>
                  <a:pt x="28575" y="66824"/>
                  <a:pt x="28575" y="90488"/>
                </a:cubicBezTo>
                <a:cubicBezTo>
                  <a:pt x="28575" y="94446"/>
                  <a:pt x="31760" y="97631"/>
                  <a:pt x="35719" y="97631"/>
                </a:cubicBezTo>
                <a:cubicBezTo>
                  <a:pt x="39678" y="97631"/>
                  <a:pt x="42863" y="94446"/>
                  <a:pt x="42863" y="90488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2128565922" name="Text 40"/>
          <p:cNvSpPr/>
          <p:nvPr/>
        </p:nvSpPr>
        <p:spPr bwMode="auto">
          <a:xfrm>
            <a:off x="3474690" y="5067300"/>
            <a:ext cx="923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350" b="1">
                <a:solidFill>
                  <a:srgbClr val="E74C3C"/>
                </a:solidFill>
                <a:latin typeface="MiSans"/>
                <a:ea typeface="MiSans"/>
                <a:cs typeface="MiSans"/>
              </a:rPr>
              <a:t>DoS</a:t>
            </a:r>
            <a:endParaRPr lang="en-US" sz="1600"/>
          </a:p>
        </p:txBody>
      </p:sp>
      <p:sp>
        <p:nvSpPr>
          <p:cNvPr id="302883214" name="Text 41"/>
          <p:cNvSpPr/>
          <p:nvPr/>
        </p:nvSpPr>
        <p:spPr bwMode="auto">
          <a:xfrm flipH="0" flipV="0">
            <a:off x="3402230" y="5333999"/>
            <a:ext cx="825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>
                <a:solidFill>
                  <a:srgbClr val="E0E2E5">
                    <a:alpha val="70000"/>
                  </a:srgbClr>
                </a:solidFill>
                <a:latin typeface="MiSans"/>
                <a:ea typeface="MiSans"/>
                <a:cs typeface="MiSans"/>
              </a:rPr>
              <a:t>Denegación de servicio</a:t>
            </a:r>
            <a:endParaRPr lang="en-US" sz="1600"/>
          </a:p>
        </p:txBody>
      </p:sp>
      <p:sp>
        <p:nvSpPr>
          <p:cNvPr id="203841995" name="Text 42"/>
          <p:cNvSpPr/>
          <p:nvPr/>
        </p:nvSpPr>
        <p:spPr bwMode="auto">
          <a:xfrm flipH="0" flipV="0">
            <a:off x="4216216" y="5391149"/>
            <a:ext cx="1684902" cy="228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800" b="1">
                <a:solidFill>
                  <a:srgbClr val="E74C3C"/>
                </a:solidFill>
                <a:latin typeface="MiSans"/>
                <a:ea typeface="MiSans"/>
                <a:cs typeface="MiSans"/>
              </a:rPr>
              <a:t>36</a:t>
            </a:r>
            <a:r>
              <a:rPr lang="en-US" sz="1800" b="1">
                <a:solidFill>
                  <a:srgbClr val="E74C3C"/>
                </a:solidFill>
                <a:latin typeface="MiSans"/>
                <a:ea typeface="MiSans"/>
                <a:cs typeface="MiSans"/>
              </a:rPr>
              <a:t>.</a:t>
            </a:r>
            <a:r>
              <a:rPr lang="en-US" sz="1800" b="1">
                <a:solidFill>
                  <a:srgbClr val="E74C3C"/>
                </a:solidFill>
                <a:latin typeface="MiSans"/>
                <a:ea typeface="MiSans"/>
                <a:cs typeface="MiSans"/>
              </a:rPr>
              <a:t>7%</a:t>
            </a:r>
            <a:endParaRPr lang="en-US" sz="1400" b="1">
              <a:solidFill>
                <a:srgbClr val="E74C3C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402587589" name="Shape 43"/>
          <p:cNvSpPr/>
          <p:nvPr/>
        </p:nvSpPr>
        <p:spPr bwMode="auto">
          <a:xfrm>
            <a:off x="5058668" y="4795838"/>
            <a:ext cx="2076450" cy="1266825"/>
          </a:xfrm>
          <a:custGeom>
            <a:avLst/>
            <a:gdLst/>
            <a:ahLst/>
            <a:cxnLst/>
            <a:rect l="l" t="t" r="r" b="b"/>
            <a:pathLst>
              <a:path w="2076450" h="1266825" fill="norm" stroke="1" extrusionOk="0">
                <a:moveTo>
                  <a:pt x="114306" y="0"/>
                </a:moveTo>
                <a:lnTo>
                  <a:pt x="1962144" y="0"/>
                </a:lnTo>
                <a:cubicBezTo>
                  <a:pt x="2025274" y="0"/>
                  <a:pt x="2076450" y="51176"/>
                  <a:pt x="2076450" y="114306"/>
                </a:cubicBezTo>
                <a:lnTo>
                  <a:pt x="2076450" y="1152519"/>
                </a:lnTo>
                <a:cubicBezTo>
                  <a:pt x="2076450" y="1215649"/>
                  <a:pt x="2025274" y="1266825"/>
                  <a:pt x="1962144" y="1266825"/>
                </a:cubicBezTo>
                <a:lnTo>
                  <a:pt x="114306" y="1266825"/>
                </a:lnTo>
                <a:cubicBezTo>
                  <a:pt x="51176" y="1266825"/>
                  <a:pt x="0" y="1215649"/>
                  <a:pt x="0" y="1152519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F39C12">
                <a:alpha val="30193"/>
              </a:srgbClr>
            </a:solidFill>
            <a:prstDash val="solid"/>
          </a:ln>
        </p:spPr>
      </p:sp>
      <p:sp>
        <p:nvSpPr>
          <p:cNvPr id="747901837" name="Shape 44"/>
          <p:cNvSpPr/>
          <p:nvPr/>
        </p:nvSpPr>
        <p:spPr bwMode="auto">
          <a:xfrm>
            <a:off x="5220593" y="5243513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 fill="norm" stroke="1" extrusionOk="0">
                <a:moveTo>
                  <a:pt x="76201" y="0"/>
                </a:moveTo>
                <a:lnTo>
                  <a:pt x="295274" y="0"/>
                </a:lnTo>
                <a:cubicBezTo>
                  <a:pt x="337331" y="0"/>
                  <a:pt x="371475" y="34144"/>
                  <a:pt x="371475" y="76201"/>
                </a:cubicBezTo>
                <a:lnTo>
                  <a:pt x="371475" y="295274"/>
                </a:lnTo>
                <a:cubicBezTo>
                  <a:pt x="371475" y="337359"/>
                  <a:pt x="337359" y="371475"/>
                  <a:pt x="295274" y="371475"/>
                </a:cubicBezTo>
                <a:lnTo>
                  <a:pt x="76201" y="371475"/>
                </a:lnTo>
                <a:cubicBezTo>
                  <a:pt x="34116" y="371475"/>
                  <a:pt x="0" y="337359"/>
                  <a:pt x="0" y="29527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F39C12">
              <a:alpha val="20000"/>
            </a:srgbClr>
          </a:solidFill>
          <a:ln w="12700">
            <a:solidFill>
              <a:srgbClr val="F39C12">
                <a:alpha val="40000"/>
              </a:srgbClr>
            </a:solidFill>
            <a:prstDash val="solid"/>
          </a:ln>
        </p:spPr>
      </p:sp>
      <p:sp>
        <p:nvSpPr>
          <p:cNvPr id="294654309" name="Shape 45"/>
          <p:cNvSpPr/>
          <p:nvPr/>
        </p:nvSpPr>
        <p:spPr bwMode="auto">
          <a:xfrm>
            <a:off x="5330130" y="53530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 fill="norm" stroke="1" extrusionOk="0">
                <a:moveTo>
                  <a:pt x="123825" y="61912"/>
                </a:moveTo>
                <a:cubicBezTo>
                  <a:pt x="123825" y="75575"/>
                  <a:pt x="119390" y="88196"/>
                  <a:pt x="111919" y="98435"/>
                </a:cubicBezTo>
                <a:lnTo>
                  <a:pt x="149602" y="136148"/>
                </a:lnTo>
                <a:cubicBezTo>
                  <a:pt x="153323" y="139869"/>
                  <a:pt x="153323" y="145911"/>
                  <a:pt x="149602" y="149632"/>
                </a:cubicBezTo>
                <a:cubicBezTo>
                  <a:pt x="145881" y="153353"/>
                  <a:pt x="139839" y="153353"/>
                  <a:pt x="136118" y="149632"/>
                </a:cubicBezTo>
                <a:lnTo>
                  <a:pt x="98435" y="111919"/>
                </a:lnTo>
                <a:cubicBezTo>
                  <a:pt x="88196" y="119390"/>
                  <a:pt x="75575" y="123825"/>
                  <a:pt x="61912" y="123825"/>
                </a:cubicBezTo>
                <a:cubicBezTo>
                  <a:pt x="27712" y="123825"/>
                  <a:pt x="0" y="96113"/>
                  <a:pt x="0" y="61912"/>
                </a:cubicBezTo>
                <a:cubicBezTo>
                  <a:pt x="0" y="27712"/>
                  <a:pt x="27712" y="0"/>
                  <a:pt x="61912" y="0"/>
                </a:cubicBezTo>
                <a:cubicBezTo>
                  <a:pt x="96113" y="0"/>
                  <a:pt x="123825" y="27712"/>
                  <a:pt x="123825" y="61912"/>
                </a:cubicBezTo>
                <a:close/>
                <a:moveTo>
                  <a:pt x="61912" y="104775"/>
                </a:moveTo>
                <a:cubicBezTo>
                  <a:pt x="85569" y="104775"/>
                  <a:pt x="104775" y="85569"/>
                  <a:pt x="104775" y="61912"/>
                </a:cubicBezTo>
                <a:cubicBezTo>
                  <a:pt x="104775" y="38256"/>
                  <a:pt x="85569" y="19050"/>
                  <a:pt x="61912" y="19050"/>
                </a:cubicBezTo>
                <a:cubicBezTo>
                  <a:pt x="38256" y="19050"/>
                  <a:pt x="19050" y="38256"/>
                  <a:pt x="19050" y="61912"/>
                </a:cubicBezTo>
                <a:cubicBezTo>
                  <a:pt x="19050" y="85569"/>
                  <a:pt x="38256" y="104775"/>
                  <a:pt x="61912" y="104775"/>
                </a:cubicBezTo>
                <a:close/>
              </a:path>
            </a:pathLst>
          </a:custGeom>
          <a:solidFill>
            <a:srgbClr val="F39C12"/>
          </a:solidFill>
          <a:ln/>
        </p:spPr>
      </p:sp>
      <p:sp>
        <p:nvSpPr>
          <p:cNvPr id="473708338" name="Text 46"/>
          <p:cNvSpPr/>
          <p:nvPr/>
        </p:nvSpPr>
        <p:spPr bwMode="auto">
          <a:xfrm>
            <a:off x="5711130" y="5067300"/>
            <a:ext cx="76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350" b="1">
                <a:solidFill>
                  <a:srgbClr val="F39C12"/>
                </a:solidFill>
                <a:latin typeface="MiSans"/>
                <a:ea typeface="MiSans"/>
                <a:cs typeface="MiSans"/>
              </a:rPr>
              <a:t>Probe</a:t>
            </a:r>
            <a:endParaRPr lang="en-US" sz="1600"/>
          </a:p>
        </p:txBody>
      </p:sp>
      <p:sp>
        <p:nvSpPr>
          <p:cNvPr id="2105133547" name="Text 47"/>
          <p:cNvSpPr/>
          <p:nvPr/>
        </p:nvSpPr>
        <p:spPr bwMode="auto">
          <a:xfrm>
            <a:off x="5711130" y="5334000"/>
            <a:ext cx="752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>
                <a:solidFill>
                  <a:srgbClr val="E0E2E5">
                    <a:alpha val="70000"/>
                  </a:srgbClr>
                </a:solidFill>
                <a:latin typeface="MiSans"/>
                <a:ea typeface="MiSans"/>
                <a:cs typeface="MiSans"/>
              </a:rPr>
              <a:t>Escaneo de red</a:t>
            </a:r>
            <a:endParaRPr lang="en-US" sz="1600"/>
          </a:p>
        </p:txBody>
      </p:sp>
      <p:sp>
        <p:nvSpPr>
          <p:cNvPr id="1953431423" name="Text 48"/>
          <p:cNvSpPr/>
          <p:nvPr/>
        </p:nvSpPr>
        <p:spPr bwMode="auto">
          <a:xfrm>
            <a:off x="6502598" y="5276850"/>
            <a:ext cx="59054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800" b="1">
                <a:solidFill>
                  <a:srgbClr val="F39C12"/>
                </a:solidFill>
                <a:latin typeface="MiSans"/>
                <a:ea typeface="MiSans"/>
                <a:cs typeface="MiSans"/>
              </a:rPr>
              <a:t>9.1%</a:t>
            </a:r>
            <a:endParaRPr lang="en-US" sz="1600"/>
          </a:p>
        </p:txBody>
      </p:sp>
      <p:sp>
        <p:nvSpPr>
          <p:cNvPr id="25261963" name="Shape 49"/>
          <p:cNvSpPr/>
          <p:nvPr/>
        </p:nvSpPr>
        <p:spPr bwMode="auto">
          <a:xfrm>
            <a:off x="7295183" y="4795838"/>
            <a:ext cx="2076450" cy="1266825"/>
          </a:xfrm>
          <a:custGeom>
            <a:avLst/>
            <a:gdLst/>
            <a:ahLst/>
            <a:cxnLst/>
            <a:rect l="l" t="t" r="r" b="b"/>
            <a:pathLst>
              <a:path w="2076450" h="1266825" fill="norm" stroke="1" extrusionOk="0">
                <a:moveTo>
                  <a:pt x="114306" y="0"/>
                </a:moveTo>
                <a:lnTo>
                  <a:pt x="1962144" y="0"/>
                </a:lnTo>
                <a:cubicBezTo>
                  <a:pt x="2025274" y="0"/>
                  <a:pt x="2076450" y="51176"/>
                  <a:pt x="2076450" y="114306"/>
                </a:cubicBezTo>
                <a:lnTo>
                  <a:pt x="2076450" y="1152519"/>
                </a:lnTo>
                <a:cubicBezTo>
                  <a:pt x="2076450" y="1215649"/>
                  <a:pt x="2025274" y="1266825"/>
                  <a:pt x="1962144" y="1266825"/>
                </a:cubicBezTo>
                <a:lnTo>
                  <a:pt x="114306" y="1266825"/>
                </a:lnTo>
                <a:cubicBezTo>
                  <a:pt x="51176" y="1266825"/>
                  <a:pt x="0" y="1215649"/>
                  <a:pt x="0" y="1152519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9B59B6">
                <a:alpha val="30193"/>
              </a:srgbClr>
            </a:solidFill>
            <a:prstDash val="solid"/>
          </a:ln>
        </p:spPr>
      </p:sp>
      <p:sp>
        <p:nvSpPr>
          <p:cNvPr id="1873246164" name="Shape 50"/>
          <p:cNvSpPr/>
          <p:nvPr/>
        </p:nvSpPr>
        <p:spPr bwMode="auto">
          <a:xfrm>
            <a:off x="7457108" y="5243513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 fill="norm" stroke="1" extrusionOk="0">
                <a:moveTo>
                  <a:pt x="76201" y="0"/>
                </a:moveTo>
                <a:lnTo>
                  <a:pt x="295274" y="0"/>
                </a:lnTo>
                <a:cubicBezTo>
                  <a:pt x="337331" y="0"/>
                  <a:pt x="371475" y="34144"/>
                  <a:pt x="371475" y="76201"/>
                </a:cubicBezTo>
                <a:lnTo>
                  <a:pt x="371475" y="295274"/>
                </a:lnTo>
                <a:cubicBezTo>
                  <a:pt x="371475" y="337359"/>
                  <a:pt x="337359" y="371475"/>
                  <a:pt x="295274" y="371475"/>
                </a:cubicBezTo>
                <a:lnTo>
                  <a:pt x="76201" y="371475"/>
                </a:lnTo>
                <a:cubicBezTo>
                  <a:pt x="34116" y="371475"/>
                  <a:pt x="0" y="337359"/>
                  <a:pt x="0" y="29527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9B59B6">
              <a:alpha val="20000"/>
            </a:srgbClr>
          </a:solidFill>
          <a:ln w="12700">
            <a:solidFill>
              <a:srgbClr val="9B59B6">
                <a:alpha val="40000"/>
              </a:srgbClr>
            </a:solidFill>
            <a:prstDash val="solid"/>
          </a:ln>
        </p:spPr>
      </p:sp>
      <p:sp>
        <p:nvSpPr>
          <p:cNvPr id="1763373703" name="Shape 51"/>
          <p:cNvSpPr/>
          <p:nvPr/>
        </p:nvSpPr>
        <p:spPr bwMode="auto">
          <a:xfrm>
            <a:off x="7576170" y="53530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 fill="norm" stroke="1" extrusionOk="0">
                <a:moveTo>
                  <a:pt x="50899" y="-4762"/>
                </a:moveTo>
                <a:cubicBezTo>
                  <a:pt x="40065" y="-4762"/>
                  <a:pt x="33695" y="12591"/>
                  <a:pt x="30569" y="28575"/>
                </a:cubicBezTo>
                <a:lnTo>
                  <a:pt x="21431" y="28575"/>
                </a:lnTo>
                <a:cubicBezTo>
                  <a:pt x="17472" y="28575"/>
                  <a:pt x="14288" y="31760"/>
                  <a:pt x="14288" y="35719"/>
                </a:cubicBezTo>
                <a:cubicBezTo>
                  <a:pt x="14288" y="39678"/>
                  <a:pt x="17472" y="42863"/>
                  <a:pt x="21431" y="42863"/>
                </a:cubicBezTo>
                <a:lnTo>
                  <a:pt x="28575" y="42863"/>
                </a:lnTo>
                <a:lnTo>
                  <a:pt x="28575" y="52388"/>
                </a:lnTo>
                <a:cubicBezTo>
                  <a:pt x="28575" y="57448"/>
                  <a:pt x="29557" y="62270"/>
                  <a:pt x="31343" y="66675"/>
                </a:cubicBezTo>
                <a:lnTo>
                  <a:pt x="28575" y="66675"/>
                </a:lnTo>
                <a:lnTo>
                  <a:pt x="28575" y="66675"/>
                </a:lnTo>
                <a:lnTo>
                  <a:pt x="22473" y="66675"/>
                </a:lnTo>
                <a:cubicBezTo>
                  <a:pt x="17949" y="66675"/>
                  <a:pt x="14288" y="70336"/>
                  <a:pt x="14288" y="74861"/>
                </a:cubicBezTo>
                <a:cubicBezTo>
                  <a:pt x="14288" y="75754"/>
                  <a:pt x="14436" y="76617"/>
                  <a:pt x="14704" y="77450"/>
                </a:cubicBezTo>
                <a:lnTo>
                  <a:pt x="23306" y="103227"/>
                </a:lnTo>
                <a:cubicBezTo>
                  <a:pt x="11966" y="112990"/>
                  <a:pt x="4763" y="127427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119747" y="152400"/>
                </a:lnTo>
                <a:cubicBezTo>
                  <a:pt x="124629" y="152400"/>
                  <a:pt x="128588" y="148441"/>
                  <a:pt x="128588" y="143560"/>
                </a:cubicBezTo>
                <a:cubicBezTo>
                  <a:pt x="128588" y="127427"/>
                  <a:pt x="121384" y="112990"/>
                  <a:pt x="110044" y="103257"/>
                </a:cubicBezTo>
                <a:lnTo>
                  <a:pt x="118646" y="77480"/>
                </a:lnTo>
                <a:cubicBezTo>
                  <a:pt x="118914" y="76646"/>
                  <a:pt x="119062" y="75783"/>
                  <a:pt x="119062" y="74890"/>
                </a:cubicBezTo>
                <a:cubicBezTo>
                  <a:pt x="119062" y="70366"/>
                  <a:pt x="115401" y="66705"/>
                  <a:pt x="110877" y="66705"/>
                </a:cubicBezTo>
                <a:lnTo>
                  <a:pt x="104775" y="66705"/>
                </a:lnTo>
                <a:lnTo>
                  <a:pt x="104775" y="66705"/>
                </a:lnTo>
                <a:lnTo>
                  <a:pt x="102007" y="66705"/>
                </a:lnTo>
                <a:cubicBezTo>
                  <a:pt x="103793" y="62299"/>
                  <a:pt x="104775" y="57477"/>
                  <a:pt x="104775" y="52417"/>
                </a:cubicBezTo>
                <a:lnTo>
                  <a:pt x="104775" y="42892"/>
                </a:lnTo>
                <a:lnTo>
                  <a:pt x="111919" y="42892"/>
                </a:lnTo>
                <a:cubicBezTo>
                  <a:pt x="115878" y="42892"/>
                  <a:pt x="119062" y="39707"/>
                  <a:pt x="119062" y="35749"/>
                </a:cubicBezTo>
                <a:cubicBezTo>
                  <a:pt x="119062" y="31790"/>
                  <a:pt x="115878" y="28605"/>
                  <a:pt x="111919" y="28605"/>
                </a:cubicBezTo>
                <a:lnTo>
                  <a:pt x="102781" y="28605"/>
                </a:lnTo>
                <a:cubicBezTo>
                  <a:pt x="99685" y="12621"/>
                  <a:pt x="93285" y="-4733"/>
                  <a:pt x="82451" y="-4733"/>
                </a:cubicBezTo>
                <a:cubicBezTo>
                  <a:pt x="79593" y="-4733"/>
                  <a:pt x="76795" y="-3572"/>
                  <a:pt x="74265" y="-2292"/>
                </a:cubicBezTo>
                <a:cubicBezTo>
                  <a:pt x="71824" y="-1072"/>
                  <a:pt x="68788" y="30"/>
                  <a:pt x="66675" y="30"/>
                </a:cubicBezTo>
                <a:cubicBezTo>
                  <a:pt x="64562" y="30"/>
                  <a:pt x="61526" y="-1072"/>
                  <a:pt x="59085" y="-2292"/>
                </a:cubicBezTo>
                <a:cubicBezTo>
                  <a:pt x="56555" y="-3602"/>
                  <a:pt x="53757" y="-4762"/>
                  <a:pt x="50899" y="-4762"/>
                </a:cubicBezTo>
                <a:close/>
                <a:moveTo>
                  <a:pt x="78790" y="139422"/>
                </a:moveTo>
                <a:lnTo>
                  <a:pt x="71408" y="118318"/>
                </a:lnTo>
                <a:lnTo>
                  <a:pt x="79712" y="108645"/>
                </a:lnTo>
                <a:cubicBezTo>
                  <a:pt x="80516" y="107692"/>
                  <a:pt x="80962" y="106501"/>
                  <a:pt x="80962" y="105251"/>
                </a:cubicBezTo>
                <a:cubicBezTo>
                  <a:pt x="80962" y="102364"/>
                  <a:pt x="78641" y="100042"/>
                  <a:pt x="75754" y="100042"/>
                </a:cubicBezTo>
                <a:lnTo>
                  <a:pt x="57596" y="100042"/>
                </a:lnTo>
                <a:cubicBezTo>
                  <a:pt x="54709" y="100042"/>
                  <a:pt x="52387" y="102364"/>
                  <a:pt x="52387" y="105251"/>
                </a:cubicBezTo>
                <a:cubicBezTo>
                  <a:pt x="52387" y="106501"/>
                  <a:pt x="52834" y="107692"/>
                  <a:pt x="53638" y="108645"/>
                </a:cubicBezTo>
                <a:lnTo>
                  <a:pt x="61942" y="118318"/>
                </a:lnTo>
                <a:lnTo>
                  <a:pt x="54560" y="139422"/>
                </a:lnTo>
                <a:lnTo>
                  <a:pt x="37594" y="85725"/>
                </a:lnTo>
                <a:lnTo>
                  <a:pt x="48220" y="85725"/>
                </a:lnTo>
                <a:cubicBezTo>
                  <a:pt x="53697" y="88761"/>
                  <a:pt x="59978" y="90488"/>
                  <a:pt x="66675" y="90488"/>
                </a:cubicBezTo>
                <a:cubicBezTo>
                  <a:pt x="73372" y="90488"/>
                  <a:pt x="79653" y="88761"/>
                  <a:pt x="85130" y="85725"/>
                </a:cubicBezTo>
                <a:lnTo>
                  <a:pt x="95756" y="85725"/>
                </a:lnTo>
                <a:lnTo>
                  <a:pt x="78790" y="139422"/>
                </a:lnTo>
                <a:close/>
                <a:moveTo>
                  <a:pt x="66675" y="76200"/>
                </a:moveTo>
                <a:cubicBezTo>
                  <a:pt x="56346" y="76200"/>
                  <a:pt x="47565" y="69622"/>
                  <a:pt x="44261" y="60424"/>
                </a:cubicBezTo>
                <a:cubicBezTo>
                  <a:pt x="45958" y="61377"/>
                  <a:pt x="47923" y="61912"/>
                  <a:pt x="50006" y="61912"/>
                </a:cubicBezTo>
                <a:lnTo>
                  <a:pt x="53697" y="61912"/>
                </a:lnTo>
                <a:cubicBezTo>
                  <a:pt x="58609" y="61912"/>
                  <a:pt x="62954" y="58757"/>
                  <a:pt x="64502" y="54114"/>
                </a:cubicBezTo>
                <a:cubicBezTo>
                  <a:pt x="65187" y="52030"/>
                  <a:pt x="68134" y="52030"/>
                  <a:pt x="68818" y="54114"/>
                </a:cubicBezTo>
                <a:cubicBezTo>
                  <a:pt x="70366" y="58757"/>
                  <a:pt x="74741" y="61912"/>
                  <a:pt x="79623" y="61912"/>
                </a:cubicBezTo>
                <a:lnTo>
                  <a:pt x="83314" y="61912"/>
                </a:lnTo>
                <a:cubicBezTo>
                  <a:pt x="85398" y="61912"/>
                  <a:pt x="87362" y="61377"/>
                  <a:pt x="89059" y="60424"/>
                </a:cubicBezTo>
                <a:cubicBezTo>
                  <a:pt x="85755" y="69622"/>
                  <a:pt x="76974" y="76200"/>
                  <a:pt x="66645" y="76200"/>
                </a:cubicBezTo>
                <a:close/>
              </a:path>
            </a:pathLst>
          </a:custGeom>
          <a:solidFill>
            <a:srgbClr val="9B59B6"/>
          </a:solidFill>
          <a:ln/>
        </p:spPr>
      </p:sp>
      <p:sp>
        <p:nvSpPr>
          <p:cNvPr id="804313096" name="Text 52"/>
          <p:cNvSpPr/>
          <p:nvPr/>
        </p:nvSpPr>
        <p:spPr bwMode="auto">
          <a:xfrm>
            <a:off x="7947645" y="5067300"/>
            <a:ext cx="81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350" b="1">
                <a:solidFill>
                  <a:srgbClr val="9B59B6"/>
                </a:solidFill>
                <a:latin typeface="MiSans"/>
                <a:ea typeface="MiSans"/>
                <a:cs typeface="MiSans"/>
              </a:rPr>
              <a:t>R2L</a:t>
            </a:r>
            <a:endParaRPr lang="en-US" sz="1600"/>
          </a:p>
        </p:txBody>
      </p:sp>
      <p:sp>
        <p:nvSpPr>
          <p:cNvPr id="1618651523" name="Text 53"/>
          <p:cNvSpPr/>
          <p:nvPr/>
        </p:nvSpPr>
        <p:spPr bwMode="auto">
          <a:xfrm>
            <a:off x="7947645" y="5334000"/>
            <a:ext cx="8096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>
                <a:solidFill>
                  <a:srgbClr val="E0E2E5">
                    <a:alpha val="70000"/>
                  </a:srgbClr>
                </a:solidFill>
                <a:latin typeface="MiSans"/>
                <a:ea typeface="MiSans"/>
                <a:cs typeface="MiSans"/>
              </a:rPr>
              <a:t>Acceso no autorizado</a:t>
            </a:r>
            <a:endParaRPr lang="en-US" sz="1600"/>
          </a:p>
        </p:txBody>
      </p:sp>
      <p:sp>
        <p:nvSpPr>
          <p:cNvPr id="1474984577" name="Text 54"/>
          <p:cNvSpPr/>
          <p:nvPr/>
        </p:nvSpPr>
        <p:spPr bwMode="auto">
          <a:xfrm>
            <a:off x="8798942" y="5276850"/>
            <a:ext cx="64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800" b="1">
                <a:solidFill>
                  <a:srgbClr val="9B59B6"/>
                </a:solidFill>
                <a:latin typeface="MiSans"/>
                <a:ea typeface="MiSans"/>
                <a:cs typeface="MiSans"/>
              </a:rPr>
              <a:t>0.8%</a:t>
            </a:r>
            <a:endParaRPr lang="en-US" sz="1600"/>
          </a:p>
        </p:txBody>
      </p:sp>
      <p:sp>
        <p:nvSpPr>
          <p:cNvPr id="1229217625" name="Shape 55"/>
          <p:cNvSpPr/>
          <p:nvPr/>
        </p:nvSpPr>
        <p:spPr bwMode="auto">
          <a:xfrm>
            <a:off x="9531623" y="4795838"/>
            <a:ext cx="2076450" cy="1266825"/>
          </a:xfrm>
          <a:custGeom>
            <a:avLst/>
            <a:gdLst/>
            <a:ahLst/>
            <a:cxnLst/>
            <a:rect l="l" t="t" r="r" b="b"/>
            <a:pathLst>
              <a:path w="2076450" h="1266825" fill="norm" stroke="1" extrusionOk="0">
                <a:moveTo>
                  <a:pt x="114306" y="0"/>
                </a:moveTo>
                <a:lnTo>
                  <a:pt x="1962144" y="0"/>
                </a:lnTo>
                <a:cubicBezTo>
                  <a:pt x="2025274" y="0"/>
                  <a:pt x="2076450" y="51176"/>
                  <a:pt x="2076450" y="114306"/>
                </a:cubicBezTo>
                <a:lnTo>
                  <a:pt x="2076450" y="1152519"/>
                </a:lnTo>
                <a:cubicBezTo>
                  <a:pt x="2076450" y="1215649"/>
                  <a:pt x="2025274" y="1266825"/>
                  <a:pt x="1962144" y="1266825"/>
                </a:cubicBezTo>
                <a:lnTo>
                  <a:pt x="114306" y="1266825"/>
                </a:lnTo>
                <a:cubicBezTo>
                  <a:pt x="51176" y="1266825"/>
                  <a:pt x="0" y="1215649"/>
                  <a:pt x="0" y="1152519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7F8C8D">
                <a:alpha val="30193"/>
              </a:srgbClr>
            </a:solidFill>
            <a:prstDash val="solid"/>
          </a:ln>
        </p:spPr>
      </p:sp>
      <p:sp>
        <p:nvSpPr>
          <p:cNvPr id="1869116544" name="Shape 56"/>
          <p:cNvSpPr/>
          <p:nvPr/>
        </p:nvSpPr>
        <p:spPr bwMode="auto">
          <a:xfrm>
            <a:off x="9693548" y="5243513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 fill="norm" stroke="1" extrusionOk="0">
                <a:moveTo>
                  <a:pt x="76201" y="0"/>
                </a:moveTo>
                <a:lnTo>
                  <a:pt x="295274" y="0"/>
                </a:lnTo>
                <a:cubicBezTo>
                  <a:pt x="337331" y="0"/>
                  <a:pt x="371475" y="34144"/>
                  <a:pt x="371475" y="76201"/>
                </a:cubicBezTo>
                <a:lnTo>
                  <a:pt x="371475" y="295274"/>
                </a:lnTo>
                <a:cubicBezTo>
                  <a:pt x="371475" y="337359"/>
                  <a:pt x="337359" y="371475"/>
                  <a:pt x="295274" y="371475"/>
                </a:cubicBezTo>
                <a:lnTo>
                  <a:pt x="76201" y="371475"/>
                </a:lnTo>
                <a:cubicBezTo>
                  <a:pt x="34116" y="371475"/>
                  <a:pt x="0" y="337359"/>
                  <a:pt x="0" y="29527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7F8C8D">
              <a:alpha val="20000"/>
            </a:srgbClr>
          </a:solidFill>
          <a:ln w="12700">
            <a:solidFill>
              <a:srgbClr val="7F8C8D">
                <a:alpha val="40000"/>
              </a:srgbClr>
            </a:solidFill>
            <a:prstDash val="solid"/>
          </a:ln>
        </p:spPr>
      </p:sp>
      <p:sp>
        <p:nvSpPr>
          <p:cNvPr id="552607257" name="Shape 57"/>
          <p:cNvSpPr/>
          <p:nvPr/>
        </p:nvSpPr>
        <p:spPr bwMode="auto">
          <a:xfrm>
            <a:off x="9793560" y="53530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 fill="norm" stroke="1" extrusionOk="0">
                <a:moveTo>
                  <a:pt x="66675" y="73819"/>
                </a:moveTo>
                <a:cubicBezTo>
                  <a:pt x="86389" y="73819"/>
                  <a:pt x="102394" y="57814"/>
                  <a:pt x="102394" y="38100"/>
                </a:cubicBezTo>
                <a:cubicBezTo>
                  <a:pt x="102394" y="18386"/>
                  <a:pt x="86389" y="2381"/>
                  <a:pt x="66675" y="2381"/>
                </a:cubicBezTo>
                <a:cubicBezTo>
                  <a:pt x="46961" y="2381"/>
                  <a:pt x="30956" y="18386"/>
                  <a:pt x="30956" y="38100"/>
                </a:cubicBezTo>
                <a:cubicBezTo>
                  <a:pt x="30956" y="57814"/>
                  <a:pt x="46961" y="73819"/>
                  <a:pt x="66675" y="73819"/>
                </a:cubicBezTo>
                <a:close/>
                <a:moveTo>
                  <a:pt x="57835" y="90488"/>
                </a:moveTo>
                <a:cubicBezTo>
                  <a:pt x="28515" y="90488"/>
                  <a:pt x="4763" y="114240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88463" y="152400"/>
                </a:lnTo>
                <a:cubicBezTo>
                  <a:pt x="77688" y="139720"/>
                  <a:pt x="71438" y="123379"/>
                  <a:pt x="71438" y="106085"/>
                </a:cubicBezTo>
                <a:lnTo>
                  <a:pt x="71438" y="96828"/>
                </a:lnTo>
                <a:cubicBezTo>
                  <a:pt x="71438" y="94655"/>
                  <a:pt x="71735" y="92512"/>
                  <a:pt x="72301" y="90487"/>
                </a:cubicBezTo>
                <a:lnTo>
                  <a:pt x="57835" y="90487"/>
                </a:lnTo>
                <a:close/>
                <a:moveTo>
                  <a:pt x="132546" y="145405"/>
                </a:moveTo>
                <a:lnTo>
                  <a:pt x="128588" y="147280"/>
                </a:lnTo>
                <a:lnTo>
                  <a:pt x="128588" y="91291"/>
                </a:lnTo>
                <a:lnTo>
                  <a:pt x="157163" y="100816"/>
                </a:lnTo>
                <a:lnTo>
                  <a:pt x="157163" y="106650"/>
                </a:lnTo>
                <a:cubicBezTo>
                  <a:pt x="157163" y="123259"/>
                  <a:pt x="147578" y="138351"/>
                  <a:pt x="132546" y="145435"/>
                </a:cubicBezTo>
                <a:close/>
                <a:moveTo>
                  <a:pt x="125581" y="77242"/>
                </a:moveTo>
                <a:lnTo>
                  <a:pt x="92244" y="88344"/>
                </a:lnTo>
                <a:cubicBezTo>
                  <a:pt x="88344" y="89654"/>
                  <a:pt x="85725" y="93285"/>
                  <a:pt x="85725" y="97393"/>
                </a:cubicBezTo>
                <a:lnTo>
                  <a:pt x="85725" y="106650"/>
                </a:lnTo>
                <a:cubicBezTo>
                  <a:pt x="85725" y="128796"/>
                  <a:pt x="98524" y="148947"/>
                  <a:pt x="118527" y="158353"/>
                </a:cubicBezTo>
                <a:lnTo>
                  <a:pt x="124033" y="160943"/>
                </a:lnTo>
                <a:cubicBezTo>
                  <a:pt x="125462" y="161598"/>
                  <a:pt x="127010" y="161955"/>
                  <a:pt x="128558" y="161955"/>
                </a:cubicBezTo>
                <a:cubicBezTo>
                  <a:pt x="130106" y="161955"/>
                  <a:pt x="131683" y="161598"/>
                  <a:pt x="133082" y="160943"/>
                </a:cubicBezTo>
                <a:lnTo>
                  <a:pt x="138589" y="158353"/>
                </a:lnTo>
                <a:cubicBezTo>
                  <a:pt x="158651" y="148917"/>
                  <a:pt x="171450" y="128766"/>
                  <a:pt x="171450" y="106620"/>
                </a:cubicBezTo>
                <a:lnTo>
                  <a:pt x="171450" y="97363"/>
                </a:lnTo>
                <a:cubicBezTo>
                  <a:pt x="171450" y="93256"/>
                  <a:pt x="168831" y="89624"/>
                  <a:pt x="164931" y="88315"/>
                </a:cubicBezTo>
                <a:lnTo>
                  <a:pt x="131594" y="77212"/>
                </a:lnTo>
                <a:cubicBezTo>
                  <a:pt x="129629" y="76557"/>
                  <a:pt x="127516" y="76557"/>
                  <a:pt x="125581" y="77212"/>
                </a:cubicBezTo>
                <a:close/>
              </a:path>
            </a:pathLst>
          </a:custGeom>
          <a:solidFill>
            <a:srgbClr val="7F8C8D"/>
          </a:solidFill>
          <a:ln/>
        </p:spPr>
      </p:sp>
      <p:sp>
        <p:nvSpPr>
          <p:cNvPr id="278355376" name="Text 58"/>
          <p:cNvSpPr/>
          <p:nvPr/>
        </p:nvSpPr>
        <p:spPr bwMode="auto">
          <a:xfrm>
            <a:off x="10184085" y="4953000"/>
            <a:ext cx="790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350" b="1">
                <a:solidFill>
                  <a:srgbClr val="7F8C8D"/>
                </a:solidFill>
                <a:latin typeface="MiSans"/>
                <a:ea typeface="MiSans"/>
                <a:cs typeface="MiSans"/>
              </a:rPr>
              <a:t>U2R</a:t>
            </a:r>
            <a:endParaRPr lang="en-US" sz="1600"/>
          </a:p>
        </p:txBody>
      </p:sp>
      <p:sp>
        <p:nvSpPr>
          <p:cNvPr id="1928478397" name="Text 59"/>
          <p:cNvSpPr/>
          <p:nvPr/>
        </p:nvSpPr>
        <p:spPr bwMode="auto">
          <a:xfrm>
            <a:off x="10184085" y="5219700"/>
            <a:ext cx="7810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>
                <a:solidFill>
                  <a:srgbClr val="E0E2E5">
                    <a:alpha val="70000"/>
                  </a:srgbClr>
                </a:solidFill>
                <a:latin typeface="MiSans"/>
                <a:ea typeface="MiSans"/>
                <a:cs typeface="MiSans"/>
              </a:rPr>
              <a:t>Escalada de privilegios</a:t>
            </a:r>
            <a:endParaRPr lang="en-US" sz="1600"/>
          </a:p>
        </p:txBody>
      </p:sp>
      <p:sp>
        <p:nvSpPr>
          <p:cNvPr id="1823590039" name="Text 60"/>
          <p:cNvSpPr/>
          <p:nvPr/>
        </p:nvSpPr>
        <p:spPr bwMode="auto">
          <a:xfrm>
            <a:off x="10869588" y="5276849"/>
            <a:ext cx="781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800" b="1">
                <a:solidFill>
                  <a:srgbClr val="7F8C8D"/>
                </a:solidFill>
                <a:latin typeface="MiSans"/>
                <a:ea typeface="MiSans"/>
                <a:cs typeface="MiSans"/>
              </a:rPr>
              <a:t>0.04%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1A1D2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9578038" name="Shape 0"/>
          <p:cNvSpPr/>
          <p:nvPr/>
        </p:nvSpPr>
        <p:spPr bwMode="auto">
          <a:xfrm>
            <a:off x="381000" y="419100"/>
            <a:ext cx="57150" cy="381000"/>
          </a:xfrm>
          <a:custGeom>
            <a:avLst/>
            <a:gdLst/>
            <a:ahLst/>
            <a:cxnLst/>
            <a:rect l="l" t="t" r="r" b="b"/>
            <a:pathLst>
              <a:path w="57150" h="381000" fill="norm" stroke="1" extrusionOk="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352425"/>
                </a:lnTo>
                <a:cubicBezTo>
                  <a:pt x="57150" y="368196"/>
                  <a:pt x="44346" y="381000"/>
                  <a:pt x="28575" y="381000"/>
                </a:cubicBezTo>
                <a:lnTo>
                  <a:pt x="28575" y="381000"/>
                </a:lnTo>
                <a:cubicBezTo>
                  <a:pt x="12804" y="381000"/>
                  <a:pt x="0" y="368196"/>
                  <a:pt x="0" y="35242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20200141" name="Text 1"/>
          <p:cNvSpPr/>
          <p:nvPr/>
        </p:nvSpPr>
        <p:spPr bwMode="auto">
          <a:xfrm>
            <a:off x="552450" y="381000"/>
            <a:ext cx="9105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  <a:defRPr/>
            </a:pPr>
            <a:r>
              <a:rPr lang="en-US" sz="3600" b="1">
                <a:solidFill>
                  <a:srgbClr val="E0E2E5"/>
                </a:solidFill>
                <a:latin typeface="MiSans"/>
                <a:ea typeface="MiSans"/>
                <a:cs typeface="MiSans"/>
              </a:rPr>
              <a:t>Visualización de Distribuciones y Out</a:t>
            </a:r>
            <a:r>
              <a:rPr lang="es-ES" sz="3600" b="1">
                <a:solidFill>
                  <a:srgbClr val="E0E2E5"/>
                </a:solidFill>
                <a:latin typeface="MiSans"/>
                <a:ea typeface="MiSans"/>
                <a:cs typeface="MiSans"/>
              </a:rPr>
              <a:t>liers</a:t>
            </a:r>
            <a:endParaRPr lang="en-US" sz="1600"/>
          </a:p>
        </p:txBody>
      </p:sp>
      <p:pic>
        <p:nvPicPr>
          <p:cNvPr id="55908261" name="Image 0" descr="https://kimi-img.moonshot.cn/pub/slides/26-01-29-04:12:23-d5t6r9sqdqeqh6ga6e6g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81000" y="1045293"/>
            <a:ext cx="5065654" cy="5500269"/>
          </a:xfrm>
          <a:prstGeom prst="rect">
            <a:avLst/>
          </a:prstGeom>
        </p:spPr>
      </p:pic>
      <p:pic>
        <p:nvPicPr>
          <p:cNvPr id="1074757315" name="Image 1" descr="https://kimi-img.moonshot.cn/pub/slides/26-01-29-04:13:05-d5t6rkf60ra4vsp8erp0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714927" y="1045293"/>
            <a:ext cx="6210599" cy="2188030"/>
          </a:xfrm>
          <a:prstGeom prst="rect">
            <a:avLst/>
          </a:prstGeom>
        </p:spPr>
      </p:pic>
      <p:pic>
        <p:nvPicPr>
          <p:cNvPr id="563123252" name="Image 2" descr="https://kimi-img.moonshot.cn/pub/slides/26-01-29-04:16:57-d5t6tebmsqfdj3fsp09g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714927" y="3326512"/>
            <a:ext cx="6210599" cy="32190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1A1D2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875756" name="Shape 0"/>
          <p:cNvSpPr/>
          <p:nvPr/>
        </p:nvSpPr>
        <p:spPr bwMode="auto">
          <a:xfrm>
            <a:off x="328183" y="361001"/>
            <a:ext cx="49227" cy="328183"/>
          </a:xfrm>
          <a:custGeom>
            <a:avLst/>
            <a:gdLst/>
            <a:ahLst/>
            <a:cxnLst/>
            <a:rect l="l" t="t" r="r" b="b"/>
            <a:pathLst>
              <a:path w="49227" h="328183" fill="norm" stroke="1" extrusionOk="0">
                <a:moveTo>
                  <a:pt x="24614" y="0"/>
                </a:moveTo>
                <a:lnTo>
                  <a:pt x="24614" y="0"/>
                </a:lnTo>
                <a:cubicBezTo>
                  <a:pt x="38208" y="0"/>
                  <a:pt x="49227" y="11020"/>
                  <a:pt x="49227" y="24614"/>
                </a:cubicBezTo>
                <a:lnTo>
                  <a:pt x="49227" y="303569"/>
                </a:lnTo>
                <a:cubicBezTo>
                  <a:pt x="49227" y="317163"/>
                  <a:pt x="38208" y="328183"/>
                  <a:pt x="24614" y="328183"/>
                </a:cubicBezTo>
                <a:lnTo>
                  <a:pt x="24614" y="328183"/>
                </a:lnTo>
                <a:cubicBezTo>
                  <a:pt x="11020" y="328183"/>
                  <a:pt x="0" y="317163"/>
                  <a:pt x="0" y="303569"/>
                </a:cubicBezTo>
                <a:lnTo>
                  <a:pt x="0" y="24614"/>
                </a:lnTo>
                <a:cubicBezTo>
                  <a:pt x="0" y="11020"/>
                  <a:pt x="11020" y="0"/>
                  <a:pt x="24614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820964199" name="Text 1"/>
          <p:cNvSpPr/>
          <p:nvPr/>
        </p:nvSpPr>
        <p:spPr bwMode="auto">
          <a:xfrm flipH="0" flipV="0">
            <a:off x="475864" y="328182"/>
            <a:ext cx="13782481" cy="393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  <a:defRPr/>
            </a:pPr>
            <a:r>
              <a:rPr lang="en-US" sz="3100" b="1">
                <a:solidFill>
                  <a:srgbClr val="E0E2E5"/>
                </a:solidFill>
                <a:latin typeface="MiSans"/>
                <a:ea typeface="MiSans"/>
                <a:cs typeface="MiSans"/>
              </a:rPr>
              <a:t>EDA: Descubriendo Patrones en los Datos</a:t>
            </a:r>
            <a:endParaRPr lang="en-US" sz="1600"/>
          </a:p>
        </p:txBody>
      </p:sp>
      <p:sp>
        <p:nvSpPr>
          <p:cNvPr id="410831563" name="Text 2"/>
          <p:cNvSpPr/>
          <p:nvPr/>
        </p:nvSpPr>
        <p:spPr bwMode="auto">
          <a:xfrm>
            <a:off x="525093" y="787639"/>
            <a:ext cx="11420770" cy="22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300">
                <a:solidFill>
                  <a:srgbClr val="5F85A5"/>
                </a:solidFill>
                <a:latin typeface="MiSans"/>
                <a:ea typeface="MiSans"/>
                <a:cs typeface="MiSans"/>
              </a:rPr>
              <a:t>Análisis Exploratorio de Datos - Hallazgos Clave</a:t>
            </a:r>
            <a:endParaRPr lang="en-US" sz="1600"/>
          </a:p>
        </p:txBody>
      </p:sp>
      <p:sp>
        <p:nvSpPr>
          <p:cNvPr id="2076148578" name="Shape 3"/>
          <p:cNvSpPr/>
          <p:nvPr/>
        </p:nvSpPr>
        <p:spPr bwMode="auto">
          <a:xfrm>
            <a:off x="8111377" y="3839742"/>
            <a:ext cx="3749491" cy="2686999"/>
          </a:xfrm>
          <a:custGeom>
            <a:avLst/>
            <a:gdLst/>
            <a:ahLst/>
            <a:cxnLst/>
            <a:rect l="l" t="t" r="r" b="b"/>
            <a:pathLst>
              <a:path w="3749491" h="2686999" fill="norm" stroke="1" extrusionOk="0">
                <a:moveTo>
                  <a:pt x="131278" y="0"/>
                </a:moveTo>
                <a:lnTo>
                  <a:pt x="3618213" y="0"/>
                </a:lnTo>
                <a:cubicBezTo>
                  <a:pt x="3690716" y="0"/>
                  <a:pt x="3749491" y="49997"/>
                  <a:pt x="3749491" y="111672"/>
                </a:cubicBezTo>
                <a:lnTo>
                  <a:pt x="3749491" y="2575327"/>
                </a:lnTo>
                <a:cubicBezTo>
                  <a:pt x="3749491" y="2636960"/>
                  <a:pt x="3690667" y="2686999"/>
                  <a:pt x="3618213" y="2686999"/>
                </a:cubicBezTo>
                <a:lnTo>
                  <a:pt x="131278" y="2686999"/>
                </a:lnTo>
                <a:cubicBezTo>
                  <a:pt x="58775" y="2686999"/>
                  <a:pt x="0" y="2637002"/>
                  <a:pt x="0" y="2575327"/>
                </a:cubicBezTo>
                <a:lnTo>
                  <a:pt x="0" y="111672"/>
                </a:lnTo>
                <a:cubicBezTo>
                  <a:pt x="0" y="50038"/>
                  <a:pt x="58824" y="0"/>
                  <a:pt x="131278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12700">
            <a:solidFill>
              <a:srgbClr val="4ECDC4">
                <a:alpha val="40000"/>
              </a:srgbClr>
            </a:solidFill>
            <a:prstDash val="solid"/>
          </a:ln>
        </p:spPr>
      </p:sp>
      <p:sp>
        <p:nvSpPr>
          <p:cNvPr id="176940705" name="Shape 4"/>
          <p:cNvSpPr/>
          <p:nvPr/>
        </p:nvSpPr>
        <p:spPr bwMode="auto">
          <a:xfrm>
            <a:off x="8276981" y="3935957"/>
            <a:ext cx="385615" cy="385615"/>
          </a:xfrm>
          <a:custGeom>
            <a:avLst/>
            <a:gdLst/>
            <a:ahLst/>
            <a:cxnLst/>
            <a:rect l="l" t="t" r="r" b="b"/>
            <a:pathLst>
              <a:path w="385615" h="385615" fill="norm" stroke="1" extrusionOk="0">
                <a:moveTo>
                  <a:pt x="98455" y="0"/>
                </a:moveTo>
                <a:lnTo>
                  <a:pt x="287160" y="0"/>
                </a:lnTo>
                <a:cubicBezTo>
                  <a:pt x="341499" y="0"/>
                  <a:pt x="385615" y="44116"/>
                  <a:pt x="385615" y="98455"/>
                </a:cubicBezTo>
                <a:lnTo>
                  <a:pt x="385615" y="287160"/>
                </a:lnTo>
                <a:cubicBezTo>
                  <a:pt x="385615" y="341499"/>
                  <a:pt x="341499" y="385615"/>
                  <a:pt x="287160" y="385615"/>
                </a:cubicBezTo>
                <a:lnTo>
                  <a:pt x="98455" y="385615"/>
                </a:lnTo>
                <a:cubicBezTo>
                  <a:pt x="44116" y="385615"/>
                  <a:pt x="0" y="341499"/>
                  <a:pt x="0" y="287160"/>
                </a:cubicBezTo>
                <a:lnTo>
                  <a:pt x="0" y="98455"/>
                </a:lnTo>
                <a:cubicBezTo>
                  <a:pt x="0" y="44080"/>
                  <a:pt x="44080" y="0"/>
                  <a:pt x="98455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 w="12700">
            <a:solidFill>
              <a:srgbClr val="4ECDC4">
                <a:alpha val="40000"/>
              </a:srgbClr>
            </a:solidFill>
            <a:prstDash val="solid"/>
          </a:ln>
        </p:spPr>
      </p:sp>
      <p:sp>
        <p:nvSpPr>
          <p:cNvPr id="596079595" name="Shape 5"/>
          <p:cNvSpPr/>
          <p:nvPr/>
        </p:nvSpPr>
        <p:spPr bwMode="auto">
          <a:xfrm>
            <a:off x="8408255" y="4046719"/>
            <a:ext cx="123069" cy="164092"/>
          </a:xfrm>
          <a:custGeom>
            <a:avLst/>
            <a:gdLst/>
            <a:ahLst/>
            <a:cxnLst/>
            <a:rect l="l" t="t" r="r" b="b"/>
            <a:pathLst>
              <a:path w="123069" h="164092" fill="norm" stroke="1" extrusionOk="0">
                <a:moveTo>
                  <a:pt x="80091" y="21409"/>
                </a:moveTo>
                <a:cubicBezTo>
                  <a:pt x="83424" y="16826"/>
                  <a:pt x="82398" y="10416"/>
                  <a:pt x="77815" y="7083"/>
                </a:cubicBezTo>
                <a:cubicBezTo>
                  <a:pt x="73232" y="3750"/>
                  <a:pt x="66822" y="4775"/>
                  <a:pt x="63489" y="9358"/>
                </a:cubicBezTo>
                <a:lnTo>
                  <a:pt x="29517" y="56054"/>
                </a:lnTo>
                <a:lnTo>
                  <a:pt x="17499" y="44035"/>
                </a:lnTo>
                <a:cubicBezTo>
                  <a:pt x="13493" y="40029"/>
                  <a:pt x="6987" y="40029"/>
                  <a:pt x="2981" y="44035"/>
                </a:cubicBezTo>
                <a:cubicBezTo>
                  <a:pt x="-1026" y="48042"/>
                  <a:pt x="-1026" y="54548"/>
                  <a:pt x="2981" y="58554"/>
                </a:cubicBezTo>
                <a:lnTo>
                  <a:pt x="23492" y="79065"/>
                </a:lnTo>
                <a:cubicBezTo>
                  <a:pt x="25607" y="81180"/>
                  <a:pt x="28556" y="82270"/>
                  <a:pt x="31536" y="82046"/>
                </a:cubicBezTo>
                <a:cubicBezTo>
                  <a:pt x="34517" y="81821"/>
                  <a:pt x="37273" y="80283"/>
                  <a:pt x="39036" y="77847"/>
                </a:cubicBezTo>
                <a:lnTo>
                  <a:pt x="80059" y="21441"/>
                </a:lnTo>
                <a:close/>
                <a:moveTo>
                  <a:pt x="121114" y="64996"/>
                </a:moveTo>
                <a:cubicBezTo>
                  <a:pt x="124447" y="60413"/>
                  <a:pt x="123421" y="54003"/>
                  <a:pt x="118838" y="50670"/>
                </a:cubicBezTo>
                <a:cubicBezTo>
                  <a:pt x="114255" y="47337"/>
                  <a:pt x="107845" y="48362"/>
                  <a:pt x="104512" y="52945"/>
                </a:cubicBezTo>
                <a:lnTo>
                  <a:pt x="50029" y="127844"/>
                </a:lnTo>
                <a:lnTo>
                  <a:pt x="27755" y="105570"/>
                </a:lnTo>
                <a:cubicBezTo>
                  <a:pt x="23748" y="101564"/>
                  <a:pt x="17242" y="101564"/>
                  <a:pt x="13236" y="105570"/>
                </a:cubicBezTo>
                <a:cubicBezTo>
                  <a:pt x="9230" y="109576"/>
                  <a:pt x="9230" y="116082"/>
                  <a:pt x="13236" y="120088"/>
                </a:cubicBezTo>
                <a:lnTo>
                  <a:pt x="44003" y="150855"/>
                </a:lnTo>
                <a:cubicBezTo>
                  <a:pt x="46119" y="152970"/>
                  <a:pt x="49067" y="154060"/>
                  <a:pt x="52048" y="153836"/>
                </a:cubicBezTo>
                <a:cubicBezTo>
                  <a:pt x="55028" y="153611"/>
                  <a:pt x="57785" y="152073"/>
                  <a:pt x="59547" y="149637"/>
                </a:cubicBezTo>
                <a:lnTo>
                  <a:pt x="121082" y="65028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988358643" name="Text 6"/>
          <p:cNvSpPr/>
          <p:nvPr/>
        </p:nvSpPr>
        <p:spPr bwMode="auto">
          <a:xfrm>
            <a:off x="8765154" y="4013901"/>
            <a:ext cx="1370164" cy="22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300" b="1">
                <a:solidFill>
                  <a:srgbClr val="4ECDC4"/>
                </a:solidFill>
                <a:latin typeface="MiSans"/>
                <a:ea typeface="MiSans"/>
                <a:cs typeface="MiSans"/>
              </a:rPr>
              <a:t>Calidad de Datos</a:t>
            </a:r>
            <a:endParaRPr lang="en-US" sz="1600"/>
          </a:p>
        </p:txBody>
      </p:sp>
      <p:sp>
        <p:nvSpPr>
          <p:cNvPr id="2051538164" name="Shape 7"/>
          <p:cNvSpPr/>
          <p:nvPr/>
        </p:nvSpPr>
        <p:spPr bwMode="auto">
          <a:xfrm>
            <a:off x="8276981" y="4461050"/>
            <a:ext cx="3335160" cy="923015"/>
          </a:xfrm>
          <a:custGeom>
            <a:avLst/>
            <a:gdLst/>
            <a:ahLst/>
            <a:cxnLst/>
            <a:rect l="l" t="t" r="r" b="b"/>
            <a:pathLst>
              <a:path w="3335160" h="923015" fill="norm" stroke="1" extrusionOk="0">
                <a:moveTo>
                  <a:pt x="96435" y="0"/>
                </a:moveTo>
                <a:lnTo>
                  <a:pt x="3238725" y="0"/>
                </a:lnTo>
                <a:cubicBezTo>
                  <a:pt x="3291985" y="0"/>
                  <a:pt x="3335160" y="38440"/>
                  <a:pt x="3335160" y="85859"/>
                </a:cubicBezTo>
                <a:lnTo>
                  <a:pt x="3335160" y="837156"/>
                </a:lnTo>
                <a:cubicBezTo>
                  <a:pt x="3335160" y="884574"/>
                  <a:pt x="3291985" y="923015"/>
                  <a:pt x="3238725" y="923015"/>
                </a:cubicBezTo>
                <a:lnTo>
                  <a:pt x="96435" y="923015"/>
                </a:lnTo>
                <a:cubicBezTo>
                  <a:pt x="43175" y="923015"/>
                  <a:pt x="0" y="884574"/>
                  <a:pt x="0" y="837156"/>
                </a:cubicBezTo>
                <a:lnTo>
                  <a:pt x="0" y="85859"/>
                </a:lnTo>
                <a:cubicBezTo>
                  <a:pt x="0" y="38472"/>
                  <a:pt x="43211" y="0"/>
                  <a:pt x="9643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4ECDC4">
                <a:alpha val="30193"/>
              </a:srgbClr>
            </a:solidFill>
            <a:prstDash val="solid"/>
          </a:ln>
        </p:spPr>
      </p:sp>
      <p:sp>
        <p:nvSpPr>
          <p:cNvPr id="956473228" name="Shape 8"/>
          <p:cNvSpPr/>
          <p:nvPr/>
        </p:nvSpPr>
        <p:spPr bwMode="auto">
          <a:xfrm>
            <a:off x="8432868" y="4662062"/>
            <a:ext cx="164092" cy="164092"/>
          </a:xfrm>
          <a:custGeom>
            <a:avLst/>
            <a:gdLst/>
            <a:ahLst/>
            <a:cxnLst/>
            <a:rect l="l" t="t" r="r" b="b"/>
            <a:pathLst>
              <a:path w="164092" h="164092" fill="norm" stroke="1" extrusionOk="0">
                <a:moveTo>
                  <a:pt x="82046" y="164092"/>
                </a:moveTo>
                <a:cubicBezTo>
                  <a:pt x="127328" y="164092"/>
                  <a:pt x="164092" y="127328"/>
                  <a:pt x="164092" y="82046"/>
                </a:cubicBezTo>
                <a:cubicBezTo>
                  <a:pt x="164092" y="36763"/>
                  <a:pt x="127328" y="0"/>
                  <a:pt x="82046" y="0"/>
                </a:cubicBezTo>
                <a:cubicBezTo>
                  <a:pt x="36763" y="0"/>
                  <a:pt x="0" y="36763"/>
                  <a:pt x="0" y="82046"/>
                </a:cubicBezTo>
                <a:cubicBezTo>
                  <a:pt x="0" y="127328"/>
                  <a:pt x="36763" y="164092"/>
                  <a:pt x="82046" y="164092"/>
                </a:cubicBezTo>
                <a:close/>
                <a:moveTo>
                  <a:pt x="109095" y="68168"/>
                </a:moveTo>
                <a:lnTo>
                  <a:pt x="83456" y="109191"/>
                </a:lnTo>
                <a:cubicBezTo>
                  <a:pt x="82110" y="111339"/>
                  <a:pt x="79802" y="112685"/>
                  <a:pt x="77270" y="112813"/>
                </a:cubicBezTo>
                <a:cubicBezTo>
                  <a:pt x="74739" y="112941"/>
                  <a:pt x="72303" y="111787"/>
                  <a:pt x="70797" y="109736"/>
                </a:cubicBezTo>
                <a:lnTo>
                  <a:pt x="55413" y="89225"/>
                </a:lnTo>
                <a:cubicBezTo>
                  <a:pt x="52849" y="85828"/>
                  <a:pt x="53554" y="81020"/>
                  <a:pt x="56951" y="78456"/>
                </a:cubicBezTo>
                <a:cubicBezTo>
                  <a:pt x="60349" y="75892"/>
                  <a:pt x="65156" y="76597"/>
                  <a:pt x="67720" y="79995"/>
                </a:cubicBezTo>
                <a:lnTo>
                  <a:pt x="76373" y="91532"/>
                </a:lnTo>
                <a:lnTo>
                  <a:pt x="96051" y="60028"/>
                </a:lnTo>
                <a:cubicBezTo>
                  <a:pt x="98295" y="56439"/>
                  <a:pt x="103038" y="55317"/>
                  <a:pt x="106659" y="57592"/>
                </a:cubicBezTo>
                <a:cubicBezTo>
                  <a:pt x="110281" y="59868"/>
                  <a:pt x="111371" y="64579"/>
                  <a:pt x="109095" y="68201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800585854" name="Text 9"/>
          <p:cNvSpPr/>
          <p:nvPr/>
        </p:nvSpPr>
        <p:spPr bwMode="auto">
          <a:xfrm>
            <a:off x="8715926" y="4596426"/>
            <a:ext cx="278956" cy="295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1950" b="1">
                <a:solidFill>
                  <a:srgbClr val="4ECDC4"/>
                </a:solidFill>
                <a:latin typeface="MiSans"/>
                <a:ea typeface="MiSans"/>
                <a:cs typeface="MiSans"/>
              </a:rPr>
              <a:t>0</a:t>
            </a:r>
            <a:endParaRPr lang="en-US" sz="1600"/>
          </a:p>
        </p:txBody>
      </p:sp>
      <p:sp>
        <p:nvSpPr>
          <p:cNvPr id="1425411478" name="Text 10"/>
          <p:cNvSpPr/>
          <p:nvPr/>
        </p:nvSpPr>
        <p:spPr bwMode="auto">
          <a:xfrm>
            <a:off x="8412357" y="4893927"/>
            <a:ext cx="3199785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>
                <a:solidFill>
                  <a:srgbClr val="E0E2E5">
                    <a:alpha val="80000"/>
                  </a:srgbClr>
                </a:solidFill>
                <a:latin typeface="MiSans"/>
                <a:ea typeface="MiSans"/>
                <a:cs typeface="MiSans"/>
              </a:rPr>
              <a:t>Valores faltantes</a:t>
            </a:r>
            <a:endParaRPr lang="en-US" sz="1600"/>
          </a:p>
        </p:txBody>
      </p:sp>
      <p:sp>
        <p:nvSpPr>
          <p:cNvPr id="1431949331" name="Text 11"/>
          <p:cNvSpPr/>
          <p:nvPr/>
        </p:nvSpPr>
        <p:spPr bwMode="auto">
          <a:xfrm>
            <a:off x="8412357" y="5098255"/>
            <a:ext cx="3199785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>
                <a:solidFill>
                  <a:srgbClr val="E0E2E5">
                    <a:alpha val="60000"/>
                  </a:srgbClr>
                </a:solidFill>
                <a:latin typeface="MiSans"/>
                <a:ea typeface="MiSans"/>
                <a:cs typeface="MiSans"/>
              </a:rPr>
              <a:t>Dataset completo y limpio</a:t>
            </a:r>
            <a:endParaRPr lang="en-US" sz="1600"/>
          </a:p>
        </p:txBody>
      </p:sp>
      <p:sp>
        <p:nvSpPr>
          <p:cNvPr id="2020612291" name="Shape 12"/>
          <p:cNvSpPr/>
          <p:nvPr/>
        </p:nvSpPr>
        <p:spPr bwMode="auto">
          <a:xfrm>
            <a:off x="8283673" y="5522617"/>
            <a:ext cx="3328468" cy="862406"/>
          </a:xfrm>
          <a:custGeom>
            <a:avLst/>
            <a:gdLst/>
            <a:ahLst/>
            <a:cxnLst/>
            <a:rect l="l" t="t" r="r" b="b"/>
            <a:pathLst>
              <a:path w="3328468" h="862406" fill="norm" stroke="1" extrusionOk="0">
                <a:moveTo>
                  <a:pt x="96241" y="0"/>
                </a:moveTo>
                <a:lnTo>
                  <a:pt x="3232227" y="0"/>
                </a:lnTo>
                <a:cubicBezTo>
                  <a:pt x="3285380" y="0"/>
                  <a:pt x="3328468" y="35916"/>
                  <a:pt x="3328468" y="80221"/>
                </a:cubicBezTo>
                <a:lnTo>
                  <a:pt x="3328468" y="782185"/>
                </a:lnTo>
                <a:cubicBezTo>
                  <a:pt x="3328468" y="826490"/>
                  <a:pt x="3285380" y="862406"/>
                  <a:pt x="3232227" y="862406"/>
                </a:cubicBezTo>
                <a:lnTo>
                  <a:pt x="96241" y="862406"/>
                </a:lnTo>
                <a:cubicBezTo>
                  <a:pt x="43089" y="862406"/>
                  <a:pt x="0" y="826490"/>
                  <a:pt x="0" y="782185"/>
                </a:cubicBezTo>
                <a:lnTo>
                  <a:pt x="0" y="80221"/>
                </a:lnTo>
                <a:cubicBezTo>
                  <a:pt x="0" y="35946"/>
                  <a:pt x="43124" y="0"/>
                  <a:pt x="9624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F39C12">
                <a:alpha val="30193"/>
              </a:srgbClr>
            </a:solidFill>
            <a:prstDash val="solid"/>
          </a:ln>
        </p:spPr>
      </p:sp>
      <p:sp>
        <p:nvSpPr>
          <p:cNvPr id="204126796" name="Shape 13"/>
          <p:cNvSpPr/>
          <p:nvPr/>
        </p:nvSpPr>
        <p:spPr bwMode="auto">
          <a:xfrm>
            <a:off x="8432868" y="5689549"/>
            <a:ext cx="164092" cy="164092"/>
          </a:xfrm>
          <a:custGeom>
            <a:avLst/>
            <a:gdLst/>
            <a:ahLst/>
            <a:cxnLst/>
            <a:rect l="l" t="t" r="r" b="b"/>
            <a:pathLst>
              <a:path w="164092" h="164092" fill="norm" stroke="1" extrusionOk="0">
                <a:moveTo>
                  <a:pt x="10256" y="10256"/>
                </a:moveTo>
                <a:cubicBezTo>
                  <a:pt x="15928" y="10256"/>
                  <a:pt x="20511" y="14839"/>
                  <a:pt x="20511" y="20511"/>
                </a:cubicBezTo>
                <a:lnTo>
                  <a:pt x="20511" y="128197"/>
                </a:lnTo>
                <a:cubicBezTo>
                  <a:pt x="20511" y="131017"/>
                  <a:pt x="22819" y="133324"/>
                  <a:pt x="25639" y="133324"/>
                </a:cubicBezTo>
                <a:lnTo>
                  <a:pt x="153836" y="133324"/>
                </a:lnTo>
                <a:cubicBezTo>
                  <a:pt x="159508" y="133324"/>
                  <a:pt x="164092" y="137907"/>
                  <a:pt x="164092" y="143580"/>
                </a:cubicBezTo>
                <a:cubicBezTo>
                  <a:pt x="164092" y="149253"/>
                  <a:pt x="159508" y="153836"/>
                  <a:pt x="153836" y="153836"/>
                </a:cubicBezTo>
                <a:lnTo>
                  <a:pt x="25639" y="153836"/>
                </a:lnTo>
                <a:cubicBezTo>
                  <a:pt x="11474" y="153836"/>
                  <a:pt x="0" y="142362"/>
                  <a:pt x="0" y="128197"/>
                </a:cubicBezTo>
                <a:lnTo>
                  <a:pt x="0" y="20511"/>
                </a:lnTo>
                <a:cubicBezTo>
                  <a:pt x="0" y="14839"/>
                  <a:pt x="4583" y="10256"/>
                  <a:pt x="10256" y="10256"/>
                </a:cubicBezTo>
                <a:close/>
                <a:moveTo>
                  <a:pt x="76918" y="30767"/>
                </a:moveTo>
                <a:cubicBezTo>
                  <a:pt x="79065" y="30767"/>
                  <a:pt x="81116" y="31665"/>
                  <a:pt x="82591" y="33267"/>
                </a:cubicBezTo>
                <a:lnTo>
                  <a:pt x="105378" y="58105"/>
                </a:lnTo>
                <a:lnTo>
                  <a:pt x="120184" y="43266"/>
                </a:lnTo>
                <a:cubicBezTo>
                  <a:pt x="123197" y="40254"/>
                  <a:pt x="128068" y="40254"/>
                  <a:pt x="131049" y="43266"/>
                </a:cubicBezTo>
                <a:lnTo>
                  <a:pt x="151560" y="63778"/>
                </a:lnTo>
                <a:cubicBezTo>
                  <a:pt x="153003" y="65220"/>
                  <a:pt x="153804" y="67175"/>
                  <a:pt x="153804" y="69226"/>
                </a:cubicBezTo>
                <a:lnTo>
                  <a:pt x="153804" y="105121"/>
                </a:lnTo>
                <a:cubicBezTo>
                  <a:pt x="153804" y="109384"/>
                  <a:pt x="150374" y="112813"/>
                  <a:pt x="146112" y="112813"/>
                </a:cubicBezTo>
                <a:lnTo>
                  <a:pt x="48683" y="112813"/>
                </a:lnTo>
                <a:cubicBezTo>
                  <a:pt x="44420" y="112813"/>
                  <a:pt x="40991" y="109384"/>
                  <a:pt x="40991" y="105121"/>
                </a:cubicBezTo>
                <a:lnTo>
                  <a:pt x="40991" y="69226"/>
                </a:lnTo>
                <a:cubicBezTo>
                  <a:pt x="40991" y="67303"/>
                  <a:pt x="41728" y="65444"/>
                  <a:pt x="43010" y="64034"/>
                </a:cubicBezTo>
                <a:lnTo>
                  <a:pt x="71213" y="33267"/>
                </a:lnTo>
                <a:cubicBezTo>
                  <a:pt x="72655" y="31665"/>
                  <a:pt x="74739" y="30767"/>
                  <a:pt x="76886" y="30767"/>
                </a:cubicBezTo>
                <a:close/>
              </a:path>
            </a:pathLst>
          </a:custGeom>
          <a:solidFill>
            <a:srgbClr val="F39C12"/>
          </a:solidFill>
          <a:ln/>
        </p:spPr>
      </p:sp>
      <p:sp>
        <p:nvSpPr>
          <p:cNvPr id="1764043702" name="Text 14"/>
          <p:cNvSpPr/>
          <p:nvPr/>
        </p:nvSpPr>
        <p:spPr bwMode="auto">
          <a:xfrm>
            <a:off x="8715926" y="5623912"/>
            <a:ext cx="845070" cy="295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1950" b="1">
                <a:solidFill>
                  <a:srgbClr val="F39C12"/>
                </a:solidFill>
                <a:latin typeface="MiSans"/>
                <a:ea typeface="MiSans"/>
                <a:cs typeface="MiSans"/>
              </a:rPr>
              <a:t>68.8%</a:t>
            </a:r>
            <a:endParaRPr lang="en-US" sz="1600"/>
          </a:p>
        </p:txBody>
      </p:sp>
      <p:sp>
        <p:nvSpPr>
          <p:cNvPr id="320239465" name="Text 15"/>
          <p:cNvSpPr/>
          <p:nvPr/>
        </p:nvSpPr>
        <p:spPr bwMode="auto">
          <a:xfrm>
            <a:off x="8412357" y="5896013"/>
            <a:ext cx="3199785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>
                <a:solidFill>
                  <a:srgbClr val="E0E2E5">
                    <a:alpha val="80000"/>
                  </a:srgbClr>
                </a:solidFill>
                <a:latin typeface="MiSans"/>
                <a:ea typeface="MiSans"/>
                <a:cs typeface="MiSans"/>
              </a:rPr>
              <a:t>Variables asimétricas</a:t>
            </a:r>
            <a:endParaRPr lang="en-US" sz="1600"/>
          </a:p>
        </p:txBody>
      </p:sp>
      <p:sp>
        <p:nvSpPr>
          <p:cNvPr id="1231352340" name="Text 16"/>
          <p:cNvSpPr/>
          <p:nvPr/>
        </p:nvSpPr>
        <p:spPr bwMode="auto">
          <a:xfrm>
            <a:off x="8412357" y="6125742"/>
            <a:ext cx="3199785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>
                <a:solidFill>
                  <a:srgbClr val="E0E2E5">
                    <a:alpha val="60000"/>
                  </a:srgbClr>
                </a:solidFill>
                <a:latin typeface="MiSans"/>
                <a:ea typeface="MiSans"/>
                <a:cs typeface="MiSans"/>
              </a:rPr>
              <a:t>Distribuciones no normales</a:t>
            </a:r>
            <a:endParaRPr lang="en-US" sz="1600"/>
          </a:p>
        </p:txBody>
      </p:sp>
      <p:sp>
        <p:nvSpPr>
          <p:cNvPr id="545340737" name="Shape 17"/>
          <p:cNvSpPr/>
          <p:nvPr/>
        </p:nvSpPr>
        <p:spPr bwMode="auto">
          <a:xfrm>
            <a:off x="5364831" y="1128129"/>
            <a:ext cx="2529398" cy="5256894"/>
          </a:xfrm>
          <a:custGeom>
            <a:avLst/>
            <a:gdLst/>
            <a:ahLst/>
            <a:cxnLst/>
            <a:rect l="l" t="t" r="r" b="b"/>
            <a:pathLst>
              <a:path w="2529398" h="5256894" fill="norm" stroke="1" extrusionOk="0">
                <a:moveTo>
                  <a:pt x="88560" y="0"/>
                </a:moveTo>
                <a:lnTo>
                  <a:pt x="2440838" y="0"/>
                </a:lnTo>
                <a:cubicBezTo>
                  <a:pt x="2489749" y="0"/>
                  <a:pt x="2529398" y="97815"/>
                  <a:pt x="2529398" y="218477"/>
                </a:cubicBezTo>
                <a:lnTo>
                  <a:pt x="2529398" y="5038418"/>
                </a:lnTo>
                <a:cubicBezTo>
                  <a:pt x="2529398" y="5158998"/>
                  <a:pt x="2489716" y="5256894"/>
                  <a:pt x="2440838" y="5256894"/>
                </a:cubicBezTo>
                <a:lnTo>
                  <a:pt x="88560" y="5256894"/>
                </a:lnTo>
                <a:cubicBezTo>
                  <a:pt x="39650" y="5256894"/>
                  <a:pt x="0" y="5159079"/>
                  <a:pt x="0" y="5038418"/>
                </a:cubicBezTo>
                <a:lnTo>
                  <a:pt x="0" y="218477"/>
                </a:lnTo>
                <a:cubicBezTo>
                  <a:pt x="0" y="97896"/>
                  <a:pt x="39682" y="0"/>
                  <a:pt x="88560" y="0"/>
                </a:cubicBezTo>
                <a:close/>
              </a:path>
            </a:pathLst>
          </a:custGeom>
          <a:solidFill>
            <a:srgbClr val="F39C12">
              <a:alpha val="10196"/>
            </a:srgbClr>
          </a:solidFill>
          <a:ln w="12700">
            <a:solidFill>
              <a:srgbClr val="F39C12">
                <a:alpha val="40000"/>
              </a:srgbClr>
            </a:solidFill>
            <a:prstDash val="solid"/>
          </a:ln>
        </p:spPr>
      </p:sp>
      <p:sp>
        <p:nvSpPr>
          <p:cNvPr id="1914605392" name="Shape 18"/>
          <p:cNvSpPr/>
          <p:nvPr/>
        </p:nvSpPr>
        <p:spPr bwMode="auto">
          <a:xfrm>
            <a:off x="5524427" y="1357857"/>
            <a:ext cx="385615" cy="385615"/>
          </a:xfrm>
          <a:custGeom>
            <a:avLst/>
            <a:gdLst/>
            <a:ahLst/>
            <a:cxnLst/>
            <a:rect l="l" t="t" r="r" b="b"/>
            <a:pathLst>
              <a:path w="385615" h="385615" fill="norm" stroke="1" extrusionOk="0">
                <a:moveTo>
                  <a:pt x="98455" y="0"/>
                </a:moveTo>
                <a:lnTo>
                  <a:pt x="287160" y="0"/>
                </a:lnTo>
                <a:cubicBezTo>
                  <a:pt x="341499" y="0"/>
                  <a:pt x="385615" y="44116"/>
                  <a:pt x="385615" y="98455"/>
                </a:cubicBezTo>
                <a:lnTo>
                  <a:pt x="385615" y="287160"/>
                </a:lnTo>
                <a:cubicBezTo>
                  <a:pt x="385615" y="341499"/>
                  <a:pt x="341499" y="385615"/>
                  <a:pt x="287160" y="385615"/>
                </a:cubicBezTo>
                <a:lnTo>
                  <a:pt x="98455" y="385615"/>
                </a:lnTo>
                <a:cubicBezTo>
                  <a:pt x="44116" y="385615"/>
                  <a:pt x="0" y="341499"/>
                  <a:pt x="0" y="287160"/>
                </a:cubicBezTo>
                <a:lnTo>
                  <a:pt x="0" y="98455"/>
                </a:lnTo>
                <a:cubicBezTo>
                  <a:pt x="0" y="44080"/>
                  <a:pt x="44080" y="0"/>
                  <a:pt x="98455" y="0"/>
                </a:cubicBezTo>
                <a:close/>
              </a:path>
            </a:pathLst>
          </a:custGeom>
          <a:solidFill>
            <a:srgbClr val="F39C12">
              <a:alpha val="20000"/>
            </a:srgbClr>
          </a:solidFill>
          <a:ln w="12700">
            <a:solidFill>
              <a:srgbClr val="F39C12">
                <a:alpha val="40000"/>
              </a:srgbClr>
            </a:solidFill>
            <a:prstDash val="solid"/>
          </a:ln>
        </p:spPr>
      </p:sp>
      <p:sp>
        <p:nvSpPr>
          <p:cNvPr id="1631878854" name="Shape 19"/>
          <p:cNvSpPr/>
          <p:nvPr/>
        </p:nvSpPr>
        <p:spPr bwMode="auto">
          <a:xfrm>
            <a:off x="5635189" y="1468619"/>
            <a:ext cx="164092" cy="164092"/>
          </a:xfrm>
          <a:custGeom>
            <a:avLst/>
            <a:gdLst/>
            <a:ahLst/>
            <a:cxnLst/>
            <a:rect l="l" t="t" r="r" b="b"/>
            <a:pathLst>
              <a:path w="164092" h="164092" fill="norm" stroke="1" extrusionOk="0">
                <a:moveTo>
                  <a:pt x="82046" y="164092"/>
                </a:moveTo>
                <a:cubicBezTo>
                  <a:pt x="127328" y="164092"/>
                  <a:pt x="164092" y="127328"/>
                  <a:pt x="164092" y="82046"/>
                </a:cubicBezTo>
                <a:cubicBezTo>
                  <a:pt x="164092" y="36763"/>
                  <a:pt x="127328" y="0"/>
                  <a:pt x="82046" y="0"/>
                </a:cubicBezTo>
                <a:cubicBezTo>
                  <a:pt x="36763" y="0"/>
                  <a:pt x="0" y="36763"/>
                  <a:pt x="0" y="82046"/>
                </a:cubicBezTo>
                <a:cubicBezTo>
                  <a:pt x="0" y="127328"/>
                  <a:pt x="36763" y="164092"/>
                  <a:pt x="82046" y="164092"/>
                </a:cubicBezTo>
                <a:close/>
                <a:moveTo>
                  <a:pt x="82046" y="43587"/>
                </a:moveTo>
                <a:cubicBezTo>
                  <a:pt x="86308" y="43587"/>
                  <a:pt x="89738" y="47016"/>
                  <a:pt x="89738" y="51279"/>
                </a:cubicBezTo>
                <a:lnTo>
                  <a:pt x="89738" y="87174"/>
                </a:lnTo>
                <a:cubicBezTo>
                  <a:pt x="89738" y="91436"/>
                  <a:pt x="86308" y="94865"/>
                  <a:pt x="82046" y="94865"/>
                </a:cubicBezTo>
                <a:cubicBezTo>
                  <a:pt x="77783" y="94865"/>
                  <a:pt x="74354" y="91436"/>
                  <a:pt x="74354" y="87174"/>
                </a:cubicBezTo>
                <a:lnTo>
                  <a:pt x="74354" y="51279"/>
                </a:lnTo>
                <a:cubicBezTo>
                  <a:pt x="74354" y="47016"/>
                  <a:pt x="77783" y="43587"/>
                  <a:pt x="82046" y="43587"/>
                </a:cubicBezTo>
                <a:close/>
                <a:moveTo>
                  <a:pt x="73489" y="112813"/>
                </a:moveTo>
                <a:cubicBezTo>
                  <a:pt x="73294" y="109637"/>
                  <a:pt x="74878" y="106615"/>
                  <a:pt x="77601" y="104968"/>
                </a:cubicBezTo>
                <a:cubicBezTo>
                  <a:pt x="80324" y="103321"/>
                  <a:pt x="83736" y="103321"/>
                  <a:pt x="86459" y="104968"/>
                </a:cubicBezTo>
                <a:cubicBezTo>
                  <a:pt x="89181" y="106615"/>
                  <a:pt x="90765" y="109637"/>
                  <a:pt x="90571" y="112813"/>
                </a:cubicBezTo>
                <a:cubicBezTo>
                  <a:pt x="90765" y="115989"/>
                  <a:pt x="89181" y="119011"/>
                  <a:pt x="86459" y="120658"/>
                </a:cubicBezTo>
                <a:cubicBezTo>
                  <a:pt x="83736" y="122305"/>
                  <a:pt x="80324" y="122305"/>
                  <a:pt x="77601" y="120658"/>
                </a:cubicBezTo>
                <a:cubicBezTo>
                  <a:pt x="74878" y="119011"/>
                  <a:pt x="73294" y="115989"/>
                  <a:pt x="73489" y="112813"/>
                </a:cubicBezTo>
                <a:close/>
              </a:path>
            </a:pathLst>
          </a:custGeom>
          <a:solidFill>
            <a:srgbClr val="F39C12"/>
          </a:solidFill>
          <a:ln/>
        </p:spPr>
      </p:sp>
      <p:sp>
        <p:nvSpPr>
          <p:cNvPr id="1427074700" name="Text 20"/>
          <p:cNvSpPr/>
          <p:nvPr/>
        </p:nvSpPr>
        <p:spPr bwMode="auto">
          <a:xfrm>
            <a:off x="6012600" y="1435801"/>
            <a:ext cx="672775" cy="22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300" b="1">
                <a:solidFill>
                  <a:srgbClr val="F39C12"/>
                </a:solidFill>
                <a:latin typeface="MiSans"/>
                <a:ea typeface="MiSans"/>
                <a:cs typeface="MiSans"/>
              </a:rPr>
              <a:t>Outliers</a:t>
            </a:r>
            <a:endParaRPr lang="en-US" sz="1600"/>
          </a:p>
        </p:txBody>
      </p:sp>
      <p:sp>
        <p:nvSpPr>
          <p:cNvPr id="2143857451" name="Shape 21"/>
          <p:cNvSpPr/>
          <p:nvPr/>
        </p:nvSpPr>
        <p:spPr bwMode="auto">
          <a:xfrm>
            <a:off x="5524427" y="1882950"/>
            <a:ext cx="2193027" cy="1058390"/>
          </a:xfrm>
          <a:custGeom>
            <a:avLst/>
            <a:gdLst/>
            <a:ahLst/>
            <a:cxnLst/>
            <a:rect l="l" t="t" r="r" b="b"/>
            <a:pathLst>
              <a:path w="2193027" h="1058390" fill="norm" stroke="1" extrusionOk="0">
                <a:moveTo>
                  <a:pt x="63411" y="0"/>
                </a:moveTo>
                <a:lnTo>
                  <a:pt x="2129616" y="0"/>
                </a:lnTo>
                <a:cubicBezTo>
                  <a:pt x="2164637" y="0"/>
                  <a:pt x="2193027" y="44078"/>
                  <a:pt x="2193027" y="98451"/>
                </a:cubicBezTo>
                <a:lnTo>
                  <a:pt x="2193027" y="959939"/>
                </a:lnTo>
                <a:cubicBezTo>
                  <a:pt x="2193027" y="1014312"/>
                  <a:pt x="2164637" y="1058390"/>
                  <a:pt x="2129616" y="1058390"/>
                </a:cubicBezTo>
                <a:lnTo>
                  <a:pt x="63411" y="1058390"/>
                </a:lnTo>
                <a:cubicBezTo>
                  <a:pt x="28390" y="1058390"/>
                  <a:pt x="0" y="1014312"/>
                  <a:pt x="0" y="959939"/>
                </a:cubicBezTo>
                <a:lnTo>
                  <a:pt x="0" y="98451"/>
                </a:lnTo>
                <a:cubicBezTo>
                  <a:pt x="0" y="44115"/>
                  <a:pt x="28413" y="0"/>
                  <a:pt x="6341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F39C12">
                <a:alpha val="30193"/>
              </a:srgbClr>
            </a:solidFill>
            <a:prstDash val="solid"/>
          </a:ln>
        </p:spPr>
      </p:sp>
      <p:sp>
        <p:nvSpPr>
          <p:cNvPr id="868016817" name="Shape 22"/>
          <p:cNvSpPr/>
          <p:nvPr/>
        </p:nvSpPr>
        <p:spPr bwMode="auto">
          <a:xfrm>
            <a:off x="5690570" y="2133190"/>
            <a:ext cx="143580" cy="164092"/>
          </a:xfrm>
          <a:custGeom>
            <a:avLst/>
            <a:gdLst/>
            <a:ahLst/>
            <a:cxnLst/>
            <a:rect l="l" t="t" r="r" b="b"/>
            <a:pathLst>
              <a:path w="143580" h="164092" fill="norm" stroke="1" extrusionOk="0">
                <a:moveTo>
                  <a:pt x="61534" y="41023"/>
                </a:moveTo>
                <a:cubicBezTo>
                  <a:pt x="61534" y="24042"/>
                  <a:pt x="47748" y="10256"/>
                  <a:pt x="30767" y="10256"/>
                </a:cubicBezTo>
                <a:cubicBezTo>
                  <a:pt x="13786" y="10256"/>
                  <a:pt x="0" y="24042"/>
                  <a:pt x="0" y="41023"/>
                </a:cubicBezTo>
                <a:cubicBezTo>
                  <a:pt x="0" y="58004"/>
                  <a:pt x="13786" y="71790"/>
                  <a:pt x="30767" y="71790"/>
                </a:cubicBezTo>
                <a:cubicBezTo>
                  <a:pt x="47748" y="71790"/>
                  <a:pt x="61534" y="58004"/>
                  <a:pt x="61534" y="41023"/>
                </a:cubicBezTo>
                <a:close/>
                <a:moveTo>
                  <a:pt x="143580" y="123069"/>
                </a:moveTo>
                <a:cubicBezTo>
                  <a:pt x="143580" y="106088"/>
                  <a:pt x="129794" y="92301"/>
                  <a:pt x="112813" y="92301"/>
                </a:cubicBezTo>
                <a:cubicBezTo>
                  <a:pt x="95832" y="92301"/>
                  <a:pt x="82046" y="106088"/>
                  <a:pt x="82046" y="123069"/>
                </a:cubicBezTo>
                <a:cubicBezTo>
                  <a:pt x="82046" y="140049"/>
                  <a:pt x="95832" y="153836"/>
                  <a:pt x="112813" y="153836"/>
                </a:cubicBezTo>
                <a:cubicBezTo>
                  <a:pt x="129794" y="153836"/>
                  <a:pt x="143580" y="140049"/>
                  <a:pt x="143580" y="123069"/>
                </a:cubicBezTo>
                <a:close/>
                <a:moveTo>
                  <a:pt x="140567" y="27755"/>
                </a:moveTo>
                <a:cubicBezTo>
                  <a:pt x="144574" y="23748"/>
                  <a:pt x="144574" y="17242"/>
                  <a:pt x="140567" y="13236"/>
                </a:cubicBezTo>
                <a:cubicBezTo>
                  <a:pt x="136561" y="9230"/>
                  <a:pt x="130055" y="9230"/>
                  <a:pt x="126049" y="13236"/>
                </a:cubicBezTo>
                <a:lnTo>
                  <a:pt x="2981" y="136305"/>
                </a:lnTo>
                <a:cubicBezTo>
                  <a:pt x="-1026" y="140311"/>
                  <a:pt x="-1026" y="146817"/>
                  <a:pt x="2981" y="150823"/>
                </a:cubicBezTo>
                <a:cubicBezTo>
                  <a:pt x="6987" y="154829"/>
                  <a:pt x="13493" y="154829"/>
                  <a:pt x="17499" y="150823"/>
                </a:cubicBezTo>
                <a:lnTo>
                  <a:pt x="140567" y="27755"/>
                </a:lnTo>
                <a:close/>
              </a:path>
            </a:pathLst>
          </a:custGeom>
          <a:solidFill>
            <a:srgbClr val="F39C12"/>
          </a:solidFill>
          <a:ln/>
        </p:spPr>
      </p:sp>
      <p:sp>
        <p:nvSpPr>
          <p:cNvPr id="1165667541" name="Text 23"/>
          <p:cNvSpPr/>
          <p:nvPr/>
        </p:nvSpPr>
        <p:spPr bwMode="auto">
          <a:xfrm>
            <a:off x="5963372" y="2067553"/>
            <a:ext cx="787639" cy="295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1950" b="1">
                <a:solidFill>
                  <a:srgbClr val="F39C12"/>
                </a:solidFill>
                <a:latin typeface="MiSans"/>
                <a:ea typeface="MiSans"/>
                <a:cs typeface="MiSans"/>
              </a:rPr>
              <a:t>18.6%</a:t>
            </a:r>
            <a:endParaRPr lang="en-US" sz="1600"/>
          </a:p>
        </p:txBody>
      </p:sp>
      <p:sp>
        <p:nvSpPr>
          <p:cNvPr id="966783053" name="Text 24"/>
          <p:cNvSpPr/>
          <p:nvPr/>
        </p:nvSpPr>
        <p:spPr bwMode="auto">
          <a:xfrm>
            <a:off x="5647103" y="2428555"/>
            <a:ext cx="3199785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>
                <a:solidFill>
                  <a:srgbClr val="E0E2E5">
                    <a:alpha val="80000"/>
                  </a:srgbClr>
                </a:solidFill>
                <a:latin typeface="MiSans"/>
                <a:ea typeface="MiSans"/>
                <a:cs typeface="MiSans"/>
              </a:rPr>
              <a:t>Outliers en dst_bytes</a:t>
            </a:r>
            <a:endParaRPr lang="en-US" sz="1600"/>
          </a:p>
        </p:txBody>
      </p:sp>
      <p:sp>
        <p:nvSpPr>
          <p:cNvPr id="229770276" name="Text 25"/>
          <p:cNvSpPr/>
          <p:nvPr/>
        </p:nvSpPr>
        <p:spPr bwMode="auto">
          <a:xfrm>
            <a:off x="5647103" y="2658283"/>
            <a:ext cx="3199785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>
                <a:solidFill>
                  <a:srgbClr val="E0E2E5">
                    <a:alpha val="60000"/>
                  </a:srgbClr>
                </a:solidFill>
                <a:latin typeface="MiSans"/>
                <a:ea typeface="MiSans"/>
                <a:cs typeface="MiSans"/>
              </a:rPr>
              <a:t>Variable más afectada</a:t>
            </a:r>
            <a:endParaRPr lang="en-US" sz="1600"/>
          </a:p>
        </p:txBody>
      </p:sp>
      <p:sp>
        <p:nvSpPr>
          <p:cNvPr id="361447890" name="Shape 26"/>
          <p:cNvSpPr/>
          <p:nvPr/>
        </p:nvSpPr>
        <p:spPr bwMode="auto">
          <a:xfrm>
            <a:off x="5524427" y="3162864"/>
            <a:ext cx="2193027" cy="959935"/>
          </a:xfrm>
          <a:custGeom>
            <a:avLst/>
            <a:gdLst/>
            <a:ahLst/>
            <a:cxnLst/>
            <a:rect l="l" t="t" r="r" b="b"/>
            <a:pathLst>
              <a:path w="2193027" h="959935" fill="norm" stroke="1" extrusionOk="0">
                <a:moveTo>
                  <a:pt x="63410" y="0"/>
                </a:moveTo>
                <a:lnTo>
                  <a:pt x="2129617" y="0"/>
                </a:lnTo>
                <a:cubicBezTo>
                  <a:pt x="2164637" y="0"/>
                  <a:pt x="2193027" y="44078"/>
                  <a:pt x="2193027" y="98451"/>
                </a:cubicBezTo>
                <a:lnTo>
                  <a:pt x="2193027" y="861484"/>
                </a:lnTo>
                <a:cubicBezTo>
                  <a:pt x="2193027" y="915857"/>
                  <a:pt x="2164637" y="959935"/>
                  <a:pt x="2129617" y="959935"/>
                </a:cubicBezTo>
                <a:lnTo>
                  <a:pt x="63410" y="959935"/>
                </a:lnTo>
                <a:cubicBezTo>
                  <a:pt x="28390" y="959935"/>
                  <a:pt x="0" y="915857"/>
                  <a:pt x="0" y="861484"/>
                </a:cubicBezTo>
                <a:lnTo>
                  <a:pt x="0" y="98451"/>
                </a:lnTo>
                <a:cubicBezTo>
                  <a:pt x="0" y="44078"/>
                  <a:pt x="28390" y="0"/>
                  <a:pt x="6341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4ECDC4">
                <a:alpha val="30193"/>
              </a:srgbClr>
            </a:solidFill>
            <a:prstDash val="solid"/>
          </a:ln>
        </p:spPr>
      </p:sp>
      <p:sp>
        <p:nvSpPr>
          <p:cNvPr id="654002711" name="Shape 27"/>
          <p:cNvSpPr/>
          <p:nvPr/>
        </p:nvSpPr>
        <p:spPr bwMode="auto">
          <a:xfrm>
            <a:off x="5680314" y="3314649"/>
            <a:ext cx="164092" cy="164092"/>
          </a:xfrm>
          <a:custGeom>
            <a:avLst/>
            <a:gdLst/>
            <a:ahLst/>
            <a:cxnLst/>
            <a:rect l="l" t="t" r="r" b="b"/>
            <a:pathLst>
              <a:path w="164092" h="164092" fill="norm" stroke="1" extrusionOk="0">
                <a:moveTo>
                  <a:pt x="143580" y="82046"/>
                </a:moveTo>
                <a:cubicBezTo>
                  <a:pt x="143580" y="48084"/>
                  <a:pt x="116007" y="20511"/>
                  <a:pt x="82046" y="20511"/>
                </a:cubicBezTo>
                <a:cubicBezTo>
                  <a:pt x="48084" y="20511"/>
                  <a:pt x="20511" y="48084"/>
                  <a:pt x="20511" y="82046"/>
                </a:cubicBezTo>
                <a:cubicBezTo>
                  <a:pt x="20511" y="116007"/>
                  <a:pt x="48084" y="143580"/>
                  <a:pt x="82046" y="143580"/>
                </a:cubicBezTo>
                <a:cubicBezTo>
                  <a:pt x="116007" y="143580"/>
                  <a:pt x="143580" y="116007"/>
                  <a:pt x="143580" y="82046"/>
                </a:cubicBezTo>
                <a:close/>
                <a:moveTo>
                  <a:pt x="0" y="82046"/>
                </a:moveTo>
                <a:cubicBezTo>
                  <a:pt x="0" y="36763"/>
                  <a:pt x="36763" y="0"/>
                  <a:pt x="82046" y="0"/>
                </a:cubicBezTo>
                <a:cubicBezTo>
                  <a:pt x="127328" y="0"/>
                  <a:pt x="164092" y="36763"/>
                  <a:pt x="164092" y="82046"/>
                </a:cubicBezTo>
                <a:cubicBezTo>
                  <a:pt x="164092" y="127328"/>
                  <a:pt x="127328" y="164092"/>
                  <a:pt x="82046" y="164092"/>
                </a:cubicBezTo>
                <a:cubicBezTo>
                  <a:pt x="36763" y="164092"/>
                  <a:pt x="0" y="127328"/>
                  <a:pt x="0" y="82046"/>
                </a:cubicBezTo>
                <a:close/>
                <a:moveTo>
                  <a:pt x="82046" y="107685"/>
                </a:moveTo>
                <a:cubicBezTo>
                  <a:pt x="96196" y="107685"/>
                  <a:pt x="107685" y="96196"/>
                  <a:pt x="107685" y="82046"/>
                </a:cubicBezTo>
                <a:cubicBezTo>
                  <a:pt x="107685" y="67895"/>
                  <a:pt x="96196" y="56406"/>
                  <a:pt x="82046" y="56406"/>
                </a:cubicBezTo>
                <a:cubicBezTo>
                  <a:pt x="67895" y="56406"/>
                  <a:pt x="56406" y="67895"/>
                  <a:pt x="56406" y="82046"/>
                </a:cubicBezTo>
                <a:cubicBezTo>
                  <a:pt x="56406" y="96196"/>
                  <a:pt x="67895" y="107685"/>
                  <a:pt x="82046" y="107685"/>
                </a:cubicBezTo>
                <a:close/>
                <a:moveTo>
                  <a:pt x="82046" y="35895"/>
                </a:moveTo>
                <a:cubicBezTo>
                  <a:pt x="107517" y="35895"/>
                  <a:pt x="128197" y="56574"/>
                  <a:pt x="128197" y="82046"/>
                </a:cubicBezTo>
                <a:cubicBezTo>
                  <a:pt x="128197" y="107517"/>
                  <a:pt x="107517" y="128197"/>
                  <a:pt x="82046" y="128197"/>
                </a:cubicBezTo>
                <a:cubicBezTo>
                  <a:pt x="56574" y="128197"/>
                  <a:pt x="35895" y="107517"/>
                  <a:pt x="35895" y="82046"/>
                </a:cubicBezTo>
                <a:cubicBezTo>
                  <a:pt x="35895" y="56574"/>
                  <a:pt x="56574" y="35895"/>
                  <a:pt x="82046" y="35895"/>
                </a:cubicBezTo>
                <a:close/>
                <a:moveTo>
                  <a:pt x="71790" y="82046"/>
                </a:moveTo>
                <a:cubicBezTo>
                  <a:pt x="71790" y="76385"/>
                  <a:pt x="76385" y="71790"/>
                  <a:pt x="82046" y="71790"/>
                </a:cubicBezTo>
                <a:cubicBezTo>
                  <a:pt x="87706" y="71790"/>
                  <a:pt x="92301" y="76385"/>
                  <a:pt x="92301" y="82046"/>
                </a:cubicBezTo>
                <a:cubicBezTo>
                  <a:pt x="92301" y="87706"/>
                  <a:pt x="87706" y="92301"/>
                  <a:pt x="82046" y="92301"/>
                </a:cubicBezTo>
                <a:cubicBezTo>
                  <a:pt x="76385" y="92301"/>
                  <a:pt x="71790" y="87706"/>
                  <a:pt x="71790" y="82046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814523105" name="Text 28"/>
          <p:cNvSpPr/>
          <p:nvPr/>
        </p:nvSpPr>
        <p:spPr bwMode="auto">
          <a:xfrm>
            <a:off x="5963372" y="3298240"/>
            <a:ext cx="1017367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 b="1">
                <a:solidFill>
                  <a:srgbClr val="4ECDC4"/>
                </a:solidFill>
                <a:latin typeface="MiSans"/>
                <a:ea typeface="MiSans"/>
                <a:cs typeface="MiSans"/>
              </a:rPr>
              <a:t>Señal, No Ruido</a:t>
            </a:r>
            <a:endParaRPr lang="en-US" sz="1600"/>
          </a:p>
        </p:txBody>
      </p:sp>
      <p:sp>
        <p:nvSpPr>
          <p:cNvPr id="1171162197" name="Text 29"/>
          <p:cNvSpPr/>
          <p:nvPr/>
        </p:nvSpPr>
        <p:spPr bwMode="auto">
          <a:xfrm>
            <a:off x="5621702" y="3560786"/>
            <a:ext cx="3199785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>
                <a:solidFill>
                  <a:srgbClr val="E0E2E5">
                    <a:alpha val="80000"/>
                  </a:srgbClr>
                </a:solidFill>
                <a:latin typeface="MiSans"/>
                <a:ea typeface="MiSans"/>
                <a:cs typeface="MiSans"/>
              </a:rPr>
              <a:t>Concentrados en ataques</a:t>
            </a:r>
            <a:endParaRPr lang="en-US" sz="1600"/>
          </a:p>
        </p:txBody>
      </p:sp>
      <p:sp>
        <p:nvSpPr>
          <p:cNvPr id="1401305849" name="Text 30"/>
          <p:cNvSpPr/>
          <p:nvPr/>
        </p:nvSpPr>
        <p:spPr bwMode="auto">
          <a:xfrm>
            <a:off x="5621702" y="3790514"/>
            <a:ext cx="3199785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>
                <a:solidFill>
                  <a:srgbClr val="E0E2E5">
                    <a:alpha val="60000"/>
                  </a:srgbClr>
                </a:solidFill>
                <a:latin typeface="MiSans"/>
                <a:ea typeface="MiSans"/>
                <a:cs typeface="MiSans"/>
              </a:rPr>
              <a:t>Patrones de comportamiento</a:t>
            </a:r>
            <a:endParaRPr lang="en-US" sz="1600"/>
          </a:p>
        </p:txBody>
      </p:sp>
      <p:sp>
        <p:nvSpPr>
          <p:cNvPr id="1827248753" name="Shape 31"/>
          <p:cNvSpPr/>
          <p:nvPr/>
        </p:nvSpPr>
        <p:spPr bwMode="auto">
          <a:xfrm>
            <a:off x="8111377" y="1126078"/>
            <a:ext cx="3749491" cy="2572135"/>
          </a:xfrm>
          <a:custGeom>
            <a:avLst/>
            <a:gdLst/>
            <a:ahLst/>
            <a:cxnLst/>
            <a:rect l="l" t="t" r="r" b="b"/>
            <a:pathLst>
              <a:path w="3749491" h="2572135" fill="norm" stroke="1" extrusionOk="0">
                <a:moveTo>
                  <a:pt x="131278" y="0"/>
                </a:moveTo>
                <a:lnTo>
                  <a:pt x="3618213" y="0"/>
                </a:lnTo>
                <a:cubicBezTo>
                  <a:pt x="3690716" y="0"/>
                  <a:pt x="3749491" y="47860"/>
                  <a:pt x="3749491" y="106898"/>
                </a:cubicBezTo>
                <a:lnTo>
                  <a:pt x="3749491" y="2465237"/>
                </a:lnTo>
                <a:cubicBezTo>
                  <a:pt x="3749491" y="2524235"/>
                  <a:pt x="3690667" y="2572135"/>
                  <a:pt x="3618213" y="2572135"/>
                </a:cubicBezTo>
                <a:lnTo>
                  <a:pt x="131278" y="2572135"/>
                </a:lnTo>
                <a:cubicBezTo>
                  <a:pt x="58775" y="2572135"/>
                  <a:pt x="0" y="2524275"/>
                  <a:pt x="0" y="2465237"/>
                </a:cubicBezTo>
                <a:lnTo>
                  <a:pt x="0" y="106898"/>
                </a:lnTo>
                <a:cubicBezTo>
                  <a:pt x="0" y="47899"/>
                  <a:pt x="58824" y="0"/>
                  <a:pt x="131278" y="0"/>
                </a:cubicBezTo>
                <a:close/>
              </a:path>
            </a:pathLst>
          </a:custGeom>
          <a:solidFill>
            <a:srgbClr val="E74C3C">
              <a:alpha val="10196"/>
            </a:srgbClr>
          </a:solidFill>
          <a:ln w="12700">
            <a:solidFill>
              <a:srgbClr val="E74C3C">
                <a:alpha val="40000"/>
              </a:srgbClr>
            </a:solidFill>
            <a:prstDash val="solid"/>
          </a:ln>
        </p:spPr>
      </p:sp>
      <p:sp>
        <p:nvSpPr>
          <p:cNvPr id="1134985798" name="Shape 32"/>
          <p:cNvSpPr/>
          <p:nvPr/>
        </p:nvSpPr>
        <p:spPr bwMode="auto">
          <a:xfrm>
            <a:off x="8283673" y="1357857"/>
            <a:ext cx="385615" cy="385615"/>
          </a:xfrm>
          <a:custGeom>
            <a:avLst/>
            <a:gdLst/>
            <a:ahLst/>
            <a:cxnLst/>
            <a:rect l="l" t="t" r="r" b="b"/>
            <a:pathLst>
              <a:path w="385615" h="385615" fill="norm" stroke="1" extrusionOk="0">
                <a:moveTo>
                  <a:pt x="98455" y="0"/>
                </a:moveTo>
                <a:lnTo>
                  <a:pt x="287160" y="0"/>
                </a:lnTo>
                <a:cubicBezTo>
                  <a:pt x="341499" y="0"/>
                  <a:pt x="385615" y="44116"/>
                  <a:pt x="385615" y="98455"/>
                </a:cubicBezTo>
                <a:lnTo>
                  <a:pt x="385615" y="287160"/>
                </a:lnTo>
                <a:cubicBezTo>
                  <a:pt x="385615" y="341499"/>
                  <a:pt x="341499" y="385615"/>
                  <a:pt x="287160" y="385615"/>
                </a:cubicBezTo>
                <a:lnTo>
                  <a:pt x="98455" y="385615"/>
                </a:lnTo>
                <a:cubicBezTo>
                  <a:pt x="44116" y="385615"/>
                  <a:pt x="0" y="341499"/>
                  <a:pt x="0" y="287160"/>
                </a:cubicBezTo>
                <a:lnTo>
                  <a:pt x="0" y="98455"/>
                </a:lnTo>
                <a:cubicBezTo>
                  <a:pt x="0" y="44080"/>
                  <a:pt x="44080" y="0"/>
                  <a:pt x="98455" y="0"/>
                </a:cubicBezTo>
                <a:close/>
              </a:path>
            </a:pathLst>
          </a:custGeom>
          <a:solidFill>
            <a:srgbClr val="E74C3C">
              <a:alpha val="20000"/>
            </a:srgbClr>
          </a:solidFill>
          <a:ln w="12700">
            <a:solidFill>
              <a:srgbClr val="E74C3C">
                <a:alpha val="40000"/>
              </a:srgbClr>
            </a:solidFill>
            <a:prstDash val="solid"/>
          </a:ln>
        </p:spPr>
      </p:sp>
      <p:sp>
        <p:nvSpPr>
          <p:cNvPr id="618725756" name="Shape 33"/>
          <p:cNvSpPr/>
          <p:nvPr/>
        </p:nvSpPr>
        <p:spPr bwMode="auto">
          <a:xfrm>
            <a:off x="8394435" y="1468619"/>
            <a:ext cx="164092" cy="164092"/>
          </a:xfrm>
          <a:custGeom>
            <a:avLst/>
            <a:gdLst/>
            <a:ahLst/>
            <a:cxnLst/>
            <a:rect l="l" t="t" r="r" b="b"/>
            <a:pathLst>
              <a:path w="164092" h="164092" fill="norm" stroke="1" extrusionOk="0">
                <a:moveTo>
                  <a:pt x="0" y="25639"/>
                </a:moveTo>
                <a:cubicBezTo>
                  <a:pt x="0" y="17146"/>
                  <a:pt x="6891" y="10256"/>
                  <a:pt x="15384" y="10256"/>
                </a:cubicBezTo>
                <a:lnTo>
                  <a:pt x="46151" y="10256"/>
                </a:lnTo>
                <a:cubicBezTo>
                  <a:pt x="54644" y="10256"/>
                  <a:pt x="61534" y="17146"/>
                  <a:pt x="61534" y="25639"/>
                </a:cubicBezTo>
                <a:lnTo>
                  <a:pt x="61534" y="30767"/>
                </a:lnTo>
                <a:lnTo>
                  <a:pt x="102557" y="30767"/>
                </a:lnTo>
                <a:lnTo>
                  <a:pt x="102557" y="25639"/>
                </a:lnTo>
                <a:cubicBezTo>
                  <a:pt x="102557" y="17146"/>
                  <a:pt x="109448" y="10256"/>
                  <a:pt x="117941" y="10256"/>
                </a:cubicBezTo>
                <a:lnTo>
                  <a:pt x="148708" y="10256"/>
                </a:lnTo>
                <a:cubicBezTo>
                  <a:pt x="157201" y="10256"/>
                  <a:pt x="164092" y="17146"/>
                  <a:pt x="164092" y="25639"/>
                </a:cubicBezTo>
                <a:lnTo>
                  <a:pt x="164092" y="56406"/>
                </a:lnTo>
                <a:cubicBezTo>
                  <a:pt x="164092" y="64899"/>
                  <a:pt x="157201" y="71790"/>
                  <a:pt x="148708" y="71790"/>
                </a:cubicBezTo>
                <a:lnTo>
                  <a:pt x="117941" y="71790"/>
                </a:lnTo>
                <a:cubicBezTo>
                  <a:pt x="109448" y="71790"/>
                  <a:pt x="102557" y="64899"/>
                  <a:pt x="102557" y="56406"/>
                </a:cubicBezTo>
                <a:lnTo>
                  <a:pt x="102557" y="51279"/>
                </a:lnTo>
                <a:lnTo>
                  <a:pt x="61534" y="51279"/>
                </a:lnTo>
                <a:lnTo>
                  <a:pt x="61534" y="56406"/>
                </a:lnTo>
                <a:cubicBezTo>
                  <a:pt x="61534" y="58746"/>
                  <a:pt x="60989" y="60989"/>
                  <a:pt x="60060" y="62977"/>
                </a:cubicBezTo>
                <a:lnTo>
                  <a:pt x="82046" y="92301"/>
                </a:lnTo>
                <a:lnTo>
                  <a:pt x="107685" y="92301"/>
                </a:lnTo>
                <a:cubicBezTo>
                  <a:pt x="116178" y="92301"/>
                  <a:pt x="123069" y="99192"/>
                  <a:pt x="123069" y="107685"/>
                </a:cubicBezTo>
                <a:lnTo>
                  <a:pt x="123069" y="138452"/>
                </a:lnTo>
                <a:cubicBezTo>
                  <a:pt x="123069" y="146945"/>
                  <a:pt x="116178" y="153836"/>
                  <a:pt x="107685" y="153836"/>
                </a:cubicBezTo>
                <a:lnTo>
                  <a:pt x="76918" y="153836"/>
                </a:lnTo>
                <a:cubicBezTo>
                  <a:pt x="68425" y="153836"/>
                  <a:pt x="61534" y="146945"/>
                  <a:pt x="61534" y="138452"/>
                </a:cubicBezTo>
                <a:lnTo>
                  <a:pt x="61534" y="107685"/>
                </a:lnTo>
                <a:cubicBezTo>
                  <a:pt x="61534" y="105345"/>
                  <a:pt x="62079" y="103102"/>
                  <a:pt x="63009" y="101115"/>
                </a:cubicBezTo>
                <a:lnTo>
                  <a:pt x="41023" y="71790"/>
                </a:lnTo>
                <a:lnTo>
                  <a:pt x="15384" y="71790"/>
                </a:lnTo>
                <a:cubicBezTo>
                  <a:pt x="6891" y="71790"/>
                  <a:pt x="0" y="64899"/>
                  <a:pt x="0" y="56406"/>
                </a:cubicBezTo>
                <a:lnTo>
                  <a:pt x="0" y="25639"/>
                </a:ln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352938078" name="Text 34"/>
          <p:cNvSpPr/>
          <p:nvPr/>
        </p:nvSpPr>
        <p:spPr bwMode="auto">
          <a:xfrm>
            <a:off x="8771846" y="1435801"/>
            <a:ext cx="1353755" cy="22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300" b="1">
                <a:solidFill>
                  <a:srgbClr val="E74C3C"/>
                </a:solidFill>
                <a:latin typeface="MiSans"/>
                <a:ea typeface="MiSans"/>
                <a:cs typeface="MiSans"/>
              </a:rPr>
              <a:t>Multicolinealidad</a:t>
            </a:r>
            <a:endParaRPr lang="en-US" sz="1600"/>
          </a:p>
        </p:txBody>
      </p:sp>
      <p:sp>
        <p:nvSpPr>
          <p:cNvPr id="1923118313" name="Shape 35"/>
          <p:cNvSpPr/>
          <p:nvPr/>
        </p:nvSpPr>
        <p:spPr bwMode="auto">
          <a:xfrm>
            <a:off x="8283673" y="1882950"/>
            <a:ext cx="3335160" cy="693287"/>
          </a:xfrm>
          <a:custGeom>
            <a:avLst/>
            <a:gdLst/>
            <a:ahLst/>
            <a:cxnLst/>
            <a:rect l="l" t="t" r="r" b="b"/>
            <a:pathLst>
              <a:path w="3335160" h="693287" fill="norm" stroke="1" extrusionOk="0">
                <a:moveTo>
                  <a:pt x="96435" y="0"/>
                </a:moveTo>
                <a:lnTo>
                  <a:pt x="3238725" y="0"/>
                </a:lnTo>
                <a:cubicBezTo>
                  <a:pt x="3291985" y="0"/>
                  <a:pt x="3335160" y="28873"/>
                  <a:pt x="3335160" y="64490"/>
                </a:cubicBezTo>
                <a:lnTo>
                  <a:pt x="3335160" y="628797"/>
                </a:lnTo>
                <a:cubicBezTo>
                  <a:pt x="3335160" y="664414"/>
                  <a:pt x="3291985" y="693287"/>
                  <a:pt x="3238725" y="693287"/>
                </a:cubicBezTo>
                <a:lnTo>
                  <a:pt x="96435" y="693287"/>
                </a:lnTo>
                <a:cubicBezTo>
                  <a:pt x="43175" y="693287"/>
                  <a:pt x="0" y="664414"/>
                  <a:pt x="0" y="628797"/>
                </a:cubicBezTo>
                <a:lnTo>
                  <a:pt x="0" y="64490"/>
                </a:lnTo>
                <a:cubicBezTo>
                  <a:pt x="0" y="28897"/>
                  <a:pt x="43211" y="0"/>
                  <a:pt x="9643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E74C3C">
                <a:alpha val="30193"/>
              </a:srgbClr>
            </a:solidFill>
            <a:prstDash val="solid"/>
          </a:ln>
        </p:spPr>
      </p:sp>
      <p:sp>
        <p:nvSpPr>
          <p:cNvPr id="1757385914" name="Shape 36"/>
          <p:cNvSpPr/>
          <p:nvPr/>
        </p:nvSpPr>
        <p:spPr bwMode="auto">
          <a:xfrm>
            <a:off x="8429305" y="1946707"/>
            <a:ext cx="184603" cy="164092"/>
          </a:xfrm>
          <a:custGeom>
            <a:avLst/>
            <a:gdLst/>
            <a:ahLst/>
            <a:cxnLst/>
            <a:rect l="l" t="t" r="r" b="b"/>
            <a:pathLst>
              <a:path w="184603" h="164092" fill="norm" stroke="1" extrusionOk="0">
                <a:moveTo>
                  <a:pt x="134446" y="30767"/>
                </a:moveTo>
                <a:cubicBezTo>
                  <a:pt x="129126" y="30767"/>
                  <a:pt x="123966" y="32209"/>
                  <a:pt x="119447" y="34837"/>
                </a:cubicBezTo>
                <a:cubicBezTo>
                  <a:pt x="114383" y="29710"/>
                  <a:pt x="108486" y="25415"/>
                  <a:pt x="101980" y="22178"/>
                </a:cubicBezTo>
                <a:cubicBezTo>
                  <a:pt x="111018" y="14486"/>
                  <a:pt x="122524" y="10256"/>
                  <a:pt x="134446" y="10256"/>
                </a:cubicBezTo>
                <a:cubicBezTo>
                  <a:pt x="162137" y="10256"/>
                  <a:pt x="184603" y="32690"/>
                  <a:pt x="184603" y="60413"/>
                </a:cubicBezTo>
                <a:cubicBezTo>
                  <a:pt x="184603" y="73713"/>
                  <a:pt x="179315" y="86469"/>
                  <a:pt x="169924" y="95859"/>
                </a:cubicBezTo>
                <a:lnTo>
                  <a:pt x="147138" y="118646"/>
                </a:lnTo>
                <a:cubicBezTo>
                  <a:pt x="137747" y="128036"/>
                  <a:pt x="124992" y="133324"/>
                  <a:pt x="111691" y="133324"/>
                </a:cubicBezTo>
                <a:cubicBezTo>
                  <a:pt x="84001" y="133324"/>
                  <a:pt x="61534" y="110890"/>
                  <a:pt x="61534" y="83167"/>
                </a:cubicBezTo>
                <a:cubicBezTo>
                  <a:pt x="61534" y="82687"/>
                  <a:pt x="61534" y="82206"/>
                  <a:pt x="61566" y="81725"/>
                </a:cubicBezTo>
                <a:cubicBezTo>
                  <a:pt x="61727" y="76053"/>
                  <a:pt x="66438" y="71598"/>
                  <a:pt x="72111" y="71758"/>
                </a:cubicBezTo>
                <a:cubicBezTo>
                  <a:pt x="77783" y="71918"/>
                  <a:pt x="82238" y="76629"/>
                  <a:pt x="82078" y="82302"/>
                </a:cubicBezTo>
                <a:cubicBezTo>
                  <a:pt x="82078" y="82591"/>
                  <a:pt x="82078" y="82879"/>
                  <a:pt x="82078" y="83135"/>
                </a:cubicBezTo>
                <a:cubicBezTo>
                  <a:pt x="82078" y="99513"/>
                  <a:pt x="95346" y="112781"/>
                  <a:pt x="111723" y="112781"/>
                </a:cubicBezTo>
                <a:cubicBezTo>
                  <a:pt x="119575" y="112781"/>
                  <a:pt x="127107" y="109672"/>
                  <a:pt x="132683" y="104096"/>
                </a:cubicBezTo>
                <a:lnTo>
                  <a:pt x="155470" y="81309"/>
                </a:lnTo>
                <a:cubicBezTo>
                  <a:pt x="161015" y="75764"/>
                  <a:pt x="164156" y="68201"/>
                  <a:pt x="164156" y="60349"/>
                </a:cubicBezTo>
                <a:cubicBezTo>
                  <a:pt x="164156" y="43971"/>
                  <a:pt x="150887" y="30703"/>
                  <a:pt x="134510" y="30703"/>
                </a:cubicBezTo>
                <a:close/>
                <a:moveTo>
                  <a:pt x="88199" y="55541"/>
                </a:moveTo>
                <a:cubicBezTo>
                  <a:pt x="87590" y="55285"/>
                  <a:pt x="86981" y="54932"/>
                  <a:pt x="86436" y="54548"/>
                </a:cubicBezTo>
                <a:cubicBezTo>
                  <a:pt x="82398" y="52464"/>
                  <a:pt x="77783" y="51279"/>
                  <a:pt x="72944" y="51279"/>
                </a:cubicBezTo>
                <a:cubicBezTo>
                  <a:pt x="65092" y="51279"/>
                  <a:pt x="57560" y="54387"/>
                  <a:pt x="51984" y="59964"/>
                </a:cubicBezTo>
                <a:lnTo>
                  <a:pt x="29197" y="82751"/>
                </a:lnTo>
                <a:cubicBezTo>
                  <a:pt x="23652" y="88295"/>
                  <a:pt x="20511" y="95859"/>
                  <a:pt x="20511" y="103711"/>
                </a:cubicBezTo>
                <a:cubicBezTo>
                  <a:pt x="20511" y="120088"/>
                  <a:pt x="33780" y="133356"/>
                  <a:pt x="50157" y="133356"/>
                </a:cubicBezTo>
                <a:cubicBezTo>
                  <a:pt x="55445" y="133356"/>
                  <a:pt x="60605" y="131946"/>
                  <a:pt x="65124" y="129318"/>
                </a:cubicBezTo>
                <a:cubicBezTo>
                  <a:pt x="70188" y="134446"/>
                  <a:pt x="76085" y="138741"/>
                  <a:pt x="82623" y="141978"/>
                </a:cubicBezTo>
                <a:cubicBezTo>
                  <a:pt x="73585" y="149637"/>
                  <a:pt x="62111" y="153900"/>
                  <a:pt x="50157" y="153900"/>
                </a:cubicBezTo>
                <a:cubicBezTo>
                  <a:pt x="22466" y="153900"/>
                  <a:pt x="0" y="131466"/>
                  <a:pt x="0" y="103743"/>
                </a:cubicBezTo>
                <a:cubicBezTo>
                  <a:pt x="0" y="90443"/>
                  <a:pt x="5288" y="77687"/>
                  <a:pt x="14678" y="68297"/>
                </a:cubicBezTo>
                <a:lnTo>
                  <a:pt x="37465" y="45510"/>
                </a:lnTo>
                <a:cubicBezTo>
                  <a:pt x="46856" y="36119"/>
                  <a:pt x="59611" y="30831"/>
                  <a:pt x="72912" y="30831"/>
                </a:cubicBezTo>
                <a:cubicBezTo>
                  <a:pt x="100666" y="30831"/>
                  <a:pt x="123069" y="53458"/>
                  <a:pt x="123069" y="81116"/>
                </a:cubicBezTo>
                <a:cubicBezTo>
                  <a:pt x="123069" y="81533"/>
                  <a:pt x="123069" y="81950"/>
                  <a:pt x="123069" y="82366"/>
                </a:cubicBezTo>
                <a:cubicBezTo>
                  <a:pt x="122940" y="88039"/>
                  <a:pt x="118229" y="92494"/>
                  <a:pt x="112557" y="92366"/>
                </a:cubicBezTo>
                <a:cubicBezTo>
                  <a:pt x="106884" y="92237"/>
                  <a:pt x="102429" y="87526"/>
                  <a:pt x="102557" y="81853"/>
                </a:cubicBezTo>
                <a:cubicBezTo>
                  <a:pt x="102557" y="81597"/>
                  <a:pt x="102557" y="81373"/>
                  <a:pt x="102557" y="81116"/>
                </a:cubicBezTo>
                <a:cubicBezTo>
                  <a:pt x="102557" y="70316"/>
                  <a:pt x="96788" y="60829"/>
                  <a:pt x="88199" y="55605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929843935" name="Text 37"/>
          <p:cNvSpPr/>
          <p:nvPr/>
        </p:nvSpPr>
        <p:spPr bwMode="auto">
          <a:xfrm>
            <a:off x="8722618" y="1906470"/>
            <a:ext cx="361001" cy="295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1700" b="1">
                <a:solidFill>
                  <a:srgbClr val="E74C3C"/>
                </a:solidFill>
                <a:latin typeface="MiSans"/>
                <a:ea typeface="MiSans"/>
                <a:cs typeface="MiSans"/>
              </a:rPr>
              <a:t>14</a:t>
            </a:r>
            <a:endParaRPr lang="en-US" sz="1600"/>
          </a:p>
        </p:txBody>
      </p:sp>
      <p:sp>
        <p:nvSpPr>
          <p:cNvPr id="1244248073" name="Text 38"/>
          <p:cNvSpPr/>
          <p:nvPr/>
        </p:nvSpPr>
        <p:spPr bwMode="auto">
          <a:xfrm>
            <a:off x="8386230" y="2088236"/>
            <a:ext cx="3199785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>
                <a:solidFill>
                  <a:srgbClr val="E0E2E5">
                    <a:alpha val="80000"/>
                  </a:srgbClr>
                </a:solidFill>
                <a:latin typeface="MiSans"/>
                <a:ea typeface="MiSans"/>
                <a:cs typeface="MiSans"/>
              </a:rPr>
              <a:t>Pares con |r| &gt; 0.8</a:t>
            </a:r>
            <a:endParaRPr lang="en-US" sz="1600"/>
          </a:p>
        </p:txBody>
      </p:sp>
      <p:sp>
        <p:nvSpPr>
          <p:cNvPr id="300644985" name="Text 39"/>
          <p:cNvSpPr/>
          <p:nvPr/>
        </p:nvSpPr>
        <p:spPr bwMode="auto">
          <a:xfrm>
            <a:off x="8386230" y="2313690"/>
            <a:ext cx="3199785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>
                <a:solidFill>
                  <a:srgbClr val="E0E2E5">
                    <a:alpha val="60000"/>
                  </a:srgbClr>
                </a:solidFill>
                <a:latin typeface="MiSans"/>
                <a:ea typeface="MiSans"/>
                <a:cs typeface="MiSans"/>
              </a:rPr>
              <a:t>Alta correlación</a:t>
            </a:r>
            <a:endParaRPr lang="en-US" sz="1600"/>
          </a:p>
        </p:txBody>
      </p:sp>
      <p:sp>
        <p:nvSpPr>
          <p:cNvPr id="1067755582" name="Shape 40"/>
          <p:cNvSpPr/>
          <p:nvPr/>
        </p:nvSpPr>
        <p:spPr bwMode="auto">
          <a:xfrm>
            <a:off x="8283673" y="2654863"/>
            <a:ext cx="3328468" cy="823876"/>
          </a:xfrm>
          <a:custGeom>
            <a:avLst/>
            <a:gdLst/>
            <a:ahLst/>
            <a:cxnLst/>
            <a:rect l="l" t="t" r="r" b="b"/>
            <a:pathLst>
              <a:path w="3328468" h="823876" fill="norm" stroke="1" extrusionOk="0">
                <a:moveTo>
                  <a:pt x="96241" y="0"/>
                </a:moveTo>
                <a:lnTo>
                  <a:pt x="3232227" y="0"/>
                </a:lnTo>
                <a:cubicBezTo>
                  <a:pt x="3285380" y="0"/>
                  <a:pt x="3328468" y="37830"/>
                  <a:pt x="3328468" y="84497"/>
                </a:cubicBezTo>
                <a:lnTo>
                  <a:pt x="3328468" y="739379"/>
                </a:lnTo>
                <a:cubicBezTo>
                  <a:pt x="3328468" y="786046"/>
                  <a:pt x="3285380" y="823876"/>
                  <a:pt x="3232227" y="823876"/>
                </a:cubicBezTo>
                <a:lnTo>
                  <a:pt x="96241" y="823876"/>
                </a:lnTo>
                <a:cubicBezTo>
                  <a:pt x="43089" y="823876"/>
                  <a:pt x="0" y="786046"/>
                  <a:pt x="0" y="739379"/>
                </a:cubicBezTo>
                <a:lnTo>
                  <a:pt x="0" y="84497"/>
                </a:lnTo>
                <a:cubicBezTo>
                  <a:pt x="0" y="37830"/>
                  <a:pt x="43089" y="0"/>
                  <a:pt x="9624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F39C12">
                <a:alpha val="30193"/>
              </a:srgbClr>
            </a:solidFill>
            <a:prstDash val="solid"/>
          </a:ln>
        </p:spPr>
      </p:sp>
      <p:sp>
        <p:nvSpPr>
          <p:cNvPr id="1571267502" name="Shape 41"/>
          <p:cNvSpPr/>
          <p:nvPr/>
        </p:nvSpPr>
        <p:spPr bwMode="auto">
          <a:xfrm>
            <a:off x="8469789" y="2808495"/>
            <a:ext cx="164092" cy="164092"/>
          </a:xfrm>
          <a:custGeom>
            <a:avLst/>
            <a:gdLst/>
            <a:ahLst/>
            <a:cxnLst/>
            <a:rect l="l" t="t" r="r" b="b"/>
            <a:pathLst>
              <a:path w="164092" h="164092" fill="norm" stroke="1" extrusionOk="0">
                <a:moveTo>
                  <a:pt x="92301" y="143580"/>
                </a:moveTo>
                <a:lnTo>
                  <a:pt x="20511" y="143580"/>
                </a:lnTo>
                <a:lnTo>
                  <a:pt x="20511" y="71790"/>
                </a:lnTo>
                <a:lnTo>
                  <a:pt x="35895" y="71790"/>
                </a:lnTo>
                <a:lnTo>
                  <a:pt x="35895" y="51279"/>
                </a:lnTo>
                <a:lnTo>
                  <a:pt x="20511" y="51279"/>
                </a:lnTo>
                <a:cubicBezTo>
                  <a:pt x="9198" y="51279"/>
                  <a:pt x="0" y="60477"/>
                  <a:pt x="0" y="71790"/>
                </a:cubicBezTo>
                <a:lnTo>
                  <a:pt x="0" y="143580"/>
                </a:lnTo>
                <a:cubicBezTo>
                  <a:pt x="0" y="154893"/>
                  <a:pt x="9198" y="164092"/>
                  <a:pt x="20511" y="164092"/>
                </a:cubicBezTo>
                <a:lnTo>
                  <a:pt x="92301" y="164092"/>
                </a:lnTo>
                <a:cubicBezTo>
                  <a:pt x="103615" y="164092"/>
                  <a:pt x="112813" y="154893"/>
                  <a:pt x="112813" y="143580"/>
                </a:cubicBezTo>
                <a:lnTo>
                  <a:pt x="112813" y="128197"/>
                </a:lnTo>
                <a:lnTo>
                  <a:pt x="92301" y="128197"/>
                </a:lnTo>
                <a:lnTo>
                  <a:pt x="92301" y="143580"/>
                </a:lnTo>
                <a:close/>
                <a:moveTo>
                  <a:pt x="71790" y="112813"/>
                </a:moveTo>
                <a:lnTo>
                  <a:pt x="143580" y="112813"/>
                </a:lnTo>
                <a:cubicBezTo>
                  <a:pt x="154893" y="112813"/>
                  <a:pt x="164092" y="103615"/>
                  <a:pt x="164092" y="92301"/>
                </a:cubicBezTo>
                <a:lnTo>
                  <a:pt x="164092" y="20511"/>
                </a:lnTo>
                <a:cubicBezTo>
                  <a:pt x="164092" y="9198"/>
                  <a:pt x="154893" y="0"/>
                  <a:pt x="143580" y="0"/>
                </a:cubicBezTo>
                <a:lnTo>
                  <a:pt x="71790" y="0"/>
                </a:lnTo>
                <a:cubicBezTo>
                  <a:pt x="60477" y="0"/>
                  <a:pt x="51279" y="9198"/>
                  <a:pt x="51279" y="20511"/>
                </a:cubicBezTo>
                <a:lnTo>
                  <a:pt x="51279" y="92301"/>
                </a:lnTo>
                <a:cubicBezTo>
                  <a:pt x="51279" y="103615"/>
                  <a:pt x="60477" y="112813"/>
                  <a:pt x="71790" y="112813"/>
                </a:cubicBezTo>
                <a:close/>
              </a:path>
            </a:pathLst>
          </a:custGeom>
          <a:solidFill>
            <a:srgbClr val="F39C12"/>
          </a:solidFill>
          <a:ln/>
        </p:spPr>
      </p:sp>
      <p:sp>
        <p:nvSpPr>
          <p:cNvPr id="804222599" name="Text 42"/>
          <p:cNvSpPr/>
          <p:nvPr/>
        </p:nvSpPr>
        <p:spPr bwMode="auto">
          <a:xfrm>
            <a:off x="8722618" y="2739440"/>
            <a:ext cx="1296323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 b="1">
                <a:solidFill>
                  <a:srgbClr val="F39C12"/>
                </a:solidFill>
                <a:latin typeface="MiSans"/>
                <a:ea typeface="MiSans"/>
                <a:cs typeface="MiSans"/>
              </a:rPr>
              <a:t>Redundancia Masiva</a:t>
            </a:r>
            <a:endParaRPr lang="en-US" sz="1600"/>
          </a:p>
        </p:txBody>
      </p:sp>
      <p:sp>
        <p:nvSpPr>
          <p:cNvPr id="464179632" name="Text 43"/>
          <p:cNvSpPr/>
          <p:nvPr/>
        </p:nvSpPr>
        <p:spPr bwMode="auto">
          <a:xfrm>
            <a:off x="8419049" y="2963886"/>
            <a:ext cx="3199785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>
                <a:solidFill>
                  <a:srgbClr val="E0E2E5">
                    <a:alpha val="80000"/>
                  </a:srgbClr>
                </a:solidFill>
                <a:latin typeface="MiSans"/>
                <a:ea typeface="MiSans"/>
                <a:cs typeface="MiSans"/>
              </a:rPr>
              <a:t>Variables duplican información</a:t>
            </a:r>
            <a:endParaRPr lang="en-US" sz="1600"/>
          </a:p>
        </p:txBody>
      </p:sp>
      <p:sp>
        <p:nvSpPr>
          <p:cNvPr id="138470542" name="Text 44"/>
          <p:cNvSpPr/>
          <p:nvPr/>
        </p:nvSpPr>
        <p:spPr bwMode="auto">
          <a:xfrm>
            <a:off x="8437030" y="3225749"/>
            <a:ext cx="3199785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>
                <a:solidFill>
                  <a:srgbClr val="E0E2E5">
                    <a:alpha val="60000"/>
                  </a:srgbClr>
                </a:solidFill>
                <a:latin typeface="MiSans"/>
                <a:ea typeface="MiSans"/>
                <a:cs typeface="MiSans"/>
              </a:rPr>
              <a:t>Necesidad de reducción</a:t>
            </a:r>
            <a:endParaRPr lang="en-US" sz="1600"/>
          </a:p>
        </p:txBody>
      </p:sp>
      <p:sp>
        <p:nvSpPr>
          <p:cNvPr id="1893596884" name="Shape 45"/>
          <p:cNvSpPr/>
          <p:nvPr/>
        </p:nvSpPr>
        <p:spPr bwMode="auto">
          <a:xfrm>
            <a:off x="332284" y="1128129"/>
            <a:ext cx="4880189" cy="5398611"/>
          </a:xfrm>
          <a:custGeom>
            <a:avLst/>
            <a:gdLst/>
            <a:ahLst/>
            <a:cxnLst/>
            <a:rect l="l" t="t" r="r" b="b"/>
            <a:pathLst>
              <a:path w="4880189" h="5398611" fill="norm" stroke="1" extrusionOk="0">
                <a:moveTo>
                  <a:pt x="112517" y="0"/>
                </a:moveTo>
                <a:lnTo>
                  <a:pt x="4767672" y="0"/>
                </a:lnTo>
                <a:cubicBezTo>
                  <a:pt x="4829772" y="0"/>
                  <a:pt x="4880189" y="155447"/>
                  <a:pt x="4880189" y="346915"/>
                </a:cubicBezTo>
                <a:lnTo>
                  <a:pt x="4880189" y="5051696"/>
                </a:lnTo>
                <a:cubicBezTo>
                  <a:pt x="4880189" y="5243164"/>
                  <a:pt x="4829772" y="5398611"/>
                  <a:pt x="4767672" y="5398611"/>
                </a:cubicBezTo>
                <a:lnTo>
                  <a:pt x="112517" y="5398611"/>
                </a:lnTo>
                <a:cubicBezTo>
                  <a:pt x="50417" y="5398611"/>
                  <a:pt x="0" y="5243164"/>
                  <a:pt x="0" y="5051696"/>
                </a:cubicBezTo>
                <a:lnTo>
                  <a:pt x="0" y="346915"/>
                </a:lnTo>
                <a:cubicBezTo>
                  <a:pt x="0" y="155447"/>
                  <a:pt x="50417" y="0"/>
                  <a:pt x="112517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5F85A5">
                <a:alpha val="30193"/>
              </a:srgbClr>
            </a:solidFill>
            <a:prstDash val="solid"/>
          </a:ln>
        </p:spPr>
      </p:sp>
      <p:sp>
        <p:nvSpPr>
          <p:cNvPr id="2141592808" name="Text 46"/>
          <p:cNvSpPr/>
          <p:nvPr/>
        </p:nvSpPr>
        <p:spPr bwMode="auto">
          <a:xfrm>
            <a:off x="430740" y="4619176"/>
            <a:ext cx="5497066" cy="22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150" b="1">
                <a:solidFill>
                  <a:srgbClr val="E0E2E5"/>
                </a:solidFill>
                <a:latin typeface="MiSans"/>
                <a:ea typeface="MiSans"/>
                <a:cs typeface="MiSans"/>
              </a:rPr>
              <a:t>Heatmap de Correlaciones (Muestra)</a:t>
            </a:r>
            <a:endParaRPr lang="en-US" sz="1600"/>
          </a:p>
        </p:txBody>
      </p:sp>
      <p:pic>
        <p:nvPicPr>
          <p:cNvPr id="1949861873" name="Image 0" descr="https://kimi-img.moonshot.cn/pub/slides/26-01-29-03:44:23-d5t6e5u0ftls5bf5vtfg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093" y="1299140"/>
            <a:ext cx="4484883" cy="5081203"/>
          </a:xfrm>
          <a:prstGeom prst="rect">
            <a:avLst/>
          </a:prstGeom>
        </p:spPr>
      </p:pic>
      <p:sp>
        <p:nvSpPr>
          <p:cNvPr id="513780963" name="Text 47"/>
          <p:cNvSpPr/>
          <p:nvPr/>
        </p:nvSpPr>
        <p:spPr bwMode="auto">
          <a:xfrm>
            <a:off x="0" y="0"/>
            <a:ext cx="7620000" cy="309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US" sz="16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14</a:t>
            </a:r>
            <a:endParaRPr lang="en-US" sz="1600"/>
          </a:p>
        </p:txBody>
      </p:sp>
      <p:pic>
        <p:nvPicPr>
          <p:cNvPr id="1081947813" name="Image 1" descr="https://kimi-img.moonshot.cn/pub/slides/26-01-29-04:03:03-d5t6mto64o3oh3ev23eg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477638" y="4372150"/>
            <a:ext cx="2303785" cy="17713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1A1D2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9813030" name="Shape 0"/>
          <p:cNvSpPr/>
          <p:nvPr/>
        </p:nvSpPr>
        <p:spPr bwMode="auto">
          <a:xfrm>
            <a:off x="324255" y="356681"/>
            <a:ext cx="48637" cy="324255"/>
          </a:xfrm>
          <a:custGeom>
            <a:avLst/>
            <a:gdLst/>
            <a:ahLst/>
            <a:cxnLst/>
            <a:rect l="l" t="t" r="r" b="b"/>
            <a:pathLst>
              <a:path w="48638" h="324255" fill="norm" stroke="1" extrusionOk="0">
                <a:moveTo>
                  <a:pt x="24319" y="0"/>
                </a:moveTo>
                <a:lnTo>
                  <a:pt x="24319" y="0"/>
                </a:lnTo>
                <a:cubicBezTo>
                  <a:pt x="37741" y="0"/>
                  <a:pt x="48638" y="10897"/>
                  <a:pt x="48638" y="24319"/>
                </a:cubicBezTo>
                <a:lnTo>
                  <a:pt x="48638" y="299936"/>
                </a:lnTo>
                <a:cubicBezTo>
                  <a:pt x="48638" y="313367"/>
                  <a:pt x="37750" y="324255"/>
                  <a:pt x="24319" y="324255"/>
                </a:cubicBezTo>
                <a:lnTo>
                  <a:pt x="24319" y="324255"/>
                </a:lnTo>
                <a:cubicBezTo>
                  <a:pt x="10888" y="324255"/>
                  <a:pt x="0" y="313367"/>
                  <a:pt x="0" y="299936"/>
                </a:cubicBezTo>
                <a:lnTo>
                  <a:pt x="0" y="24319"/>
                </a:lnTo>
                <a:cubicBezTo>
                  <a:pt x="0" y="10897"/>
                  <a:pt x="10897" y="0"/>
                  <a:pt x="24319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023105024" name="Text 1"/>
          <p:cNvSpPr/>
          <p:nvPr/>
        </p:nvSpPr>
        <p:spPr bwMode="auto">
          <a:xfrm flipH="0" flipV="0">
            <a:off x="470169" y="324253"/>
            <a:ext cx="12682047" cy="38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  <a:defRPr/>
            </a:pPr>
            <a:r>
              <a:rPr lang="en-US" sz="3050" b="1">
                <a:solidFill>
                  <a:srgbClr val="E0E2E5"/>
                </a:solidFill>
                <a:latin typeface="MiSans"/>
                <a:ea typeface="MiSans"/>
                <a:cs typeface="MiSans"/>
              </a:rPr>
              <a:t>Pregunta 1: ¿Tienen los ataques "firmas" estadísticas?</a:t>
            </a:r>
            <a:endParaRPr lang="en-US" sz="1600"/>
          </a:p>
        </p:txBody>
      </p:sp>
      <p:sp>
        <p:nvSpPr>
          <p:cNvPr id="1982974940" name="Text 2"/>
          <p:cNvSpPr/>
          <p:nvPr/>
        </p:nvSpPr>
        <p:spPr bwMode="auto">
          <a:xfrm>
            <a:off x="518809" y="778213"/>
            <a:ext cx="11430000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300">
                <a:solidFill>
                  <a:srgbClr val="5F85A5"/>
                </a:solidFill>
                <a:latin typeface="MiSans"/>
                <a:ea typeface="MiSans"/>
                <a:cs typeface="MiSans"/>
              </a:rPr>
              <a:t>Test de Kruskal-Wallis - Diferencias entre Categorías</a:t>
            </a:r>
            <a:endParaRPr lang="en-US" sz="1600"/>
          </a:p>
        </p:txBody>
      </p:sp>
      <p:sp>
        <p:nvSpPr>
          <p:cNvPr id="115857116" name="Shape 3"/>
          <p:cNvSpPr/>
          <p:nvPr/>
        </p:nvSpPr>
        <p:spPr bwMode="auto">
          <a:xfrm>
            <a:off x="328309" y="1171372"/>
            <a:ext cx="3882957" cy="3137170"/>
          </a:xfrm>
          <a:custGeom>
            <a:avLst/>
            <a:gdLst/>
            <a:ahLst/>
            <a:cxnLst/>
            <a:rect l="l" t="t" r="r" b="b"/>
            <a:pathLst>
              <a:path w="3882957" h="3137170" fill="norm" stroke="1" extrusionOk="0">
                <a:moveTo>
                  <a:pt x="129691" y="0"/>
                </a:moveTo>
                <a:lnTo>
                  <a:pt x="3753267" y="0"/>
                </a:lnTo>
                <a:cubicBezTo>
                  <a:pt x="3824893" y="0"/>
                  <a:pt x="3882957" y="58064"/>
                  <a:pt x="3882957" y="129691"/>
                </a:cubicBezTo>
                <a:lnTo>
                  <a:pt x="3882957" y="3007480"/>
                </a:lnTo>
                <a:cubicBezTo>
                  <a:pt x="3882957" y="3079106"/>
                  <a:pt x="3824893" y="3137170"/>
                  <a:pt x="3753267" y="3137170"/>
                </a:cubicBezTo>
                <a:lnTo>
                  <a:pt x="129691" y="3137170"/>
                </a:lnTo>
                <a:cubicBezTo>
                  <a:pt x="58064" y="3137170"/>
                  <a:pt x="0" y="3079106"/>
                  <a:pt x="0" y="3007480"/>
                </a:cubicBezTo>
                <a:lnTo>
                  <a:pt x="0" y="129691"/>
                </a:lnTo>
                <a:cubicBezTo>
                  <a:pt x="0" y="58064"/>
                  <a:pt x="58064" y="0"/>
                  <a:pt x="129691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12700">
            <a:solidFill>
              <a:srgbClr val="4ECDC4">
                <a:alpha val="40000"/>
              </a:srgbClr>
            </a:solidFill>
            <a:prstDash val="solid"/>
          </a:ln>
        </p:spPr>
      </p:sp>
      <p:sp>
        <p:nvSpPr>
          <p:cNvPr id="820907707" name="Shape 4"/>
          <p:cNvSpPr/>
          <p:nvPr/>
        </p:nvSpPr>
        <p:spPr bwMode="auto">
          <a:xfrm>
            <a:off x="498543" y="134160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 fill="norm" stroke="1" extrusionOk="0">
                <a:moveTo>
                  <a:pt x="97277" y="0"/>
                </a:moveTo>
                <a:lnTo>
                  <a:pt x="283723" y="0"/>
                </a:lnTo>
                <a:cubicBezTo>
                  <a:pt x="337448" y="0"/>
                  <a:pt x="381000" y="43552"/>
                  <a:pt x="381000" y="97277"/>
                </a:cubicBezTo>
                <a:lnTo>
                  <a:pt x="381000" y="283723"/>
                </a:lnTo>
                <a:cubicBezTo>
                  <a:pt x="381000" y="337448"/>
                  <a:pt x="337448" y="381000"/>
                  <a:pt x="283723" y="381000"/>
                </a:cubicBezTo>
                <a:lnTo>
                  <a:pt x="97277" y="381000"/>
                </a:lnTo>
                <a:cubicBezTo>
                  <a:pt x="43552" y="381000"/>
                  <a:pt x="0" y="337448"/>
                  <a:pt x="0" y="283723"/>
                </a:cubicBezTo>
                <a:lnTo>
                  <a:pt x="0" y="97277"/>
                </a:lnTo>
                <a:cubicBezTo>
                  <a:pt x="0" y="43588"/>
                  <a:pt x="43588" y="0"/>
                  <a:pt x="97277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 w="12700">
            <a:solidFill>
              <a:srgbClr val="4ECDC4">
                <a:alpha val="40000"/>
              </a:srgbClr>
            </a:solidFill>
            <a:prstDash val="solid"/>
          </a:ln>
        </p:spPr>
      </p:sp>
      <p:sp>
        <p:nvSpPr>
          <p:cNvPr id="1752133768" name="Shape 5"/>
          <p:cNvSpPr/>
          <p:nvPr/>
        </p:nvSpPr>
        <p:spPr bwMode="auto">
          <a:xfrm>
            <a:off x="618112" y="1451043"/>
            <a:ext cx="141862" cy="162128"/>
          </a:xfrm>
          <a:custGeom>
            <a:avLst/>
            <a:gdLst/>
            <a:ahLst/>
            <a:cxnLst/>
            <a:rect l="l" t="t" r="r" b="b"/>
            <a:pathLst>
              <a:path w="141862" h="162128" fill="norm" stroke="1" extrusionOk="0">
                <a:moveTo>
                  <a:pt x="91197" y="0"/>
                </a:moveTo>
                <a:lnTo>
                  <a:pt x="40532" y="0"/>
                </a:lnTo>
                <a:cubicBezTo>
                  <a:pt x="34927" y="0"/>
                  <a:pt x="30399" y="4528"/>
                  <a:pt x="30399" y="10133"/>
                </a:cubicBezTo>
                <a:cubicBezTo>
                  <a:pt x="30399" y="15738"/>
                  <a:pt x="34927" y="20266"/>
                  <a:pt x="40532" y="20266"/>
                </a:cubicBezTo>
                <a:lnTo>
                  <a:pt x="40532" y="68239"/>
                </a:lnTo>
                <a:lnTo>
                  <a:pt x="2375" y="134990"/>
                </a:lnTo>
                <a:cubicBezTo>
                  <a:pt x="823" y="137745"/>
                  <a:pt x="0" y="140817"/>
                  <a:pt x="0" y="143983"/>
                </a:cubicBezTo>
                <a:cubicBezTo>
                  <a:pt x="0" y="154021"/>
                  <a:pt x="8106" y="162128"/>
                  <a:pt x="18144" y="162128"/>
                </a:cubicBezTo>
                <a:lnTo>
                  <a:pt x="123717" y="162128"/>
                </a:lnTo>
                <a:cubicBezTo>
                  <a:pt x="133724" y="162128"/>
                  <a:pt x="141862" y="154021"/>
                  <a:pt x="141862" y="143983"/>
                </a:cubicBezTo>
                <a:cubicBezTo>
                  <a:pt x="141862" y="140817"/>
                  <a:pt x="141038" y="137714"/>
                  <a:pt x="139487" y="134990"/>
                </a:cubicBezTo>
                <a:lnTo>
                  <a:pt x="101330" y="68239"/>
                </a:lnTo>
                <a:lnTo>
                  <a:pt x="101330" y="20266"/>
                </a:lnTo>
                <a:cubicBezTo>
                  <a:pt x="106935" y="20266"/>
                  <a:pt x="111463" y="15738"/>
                  <a:pt x="111463" y="10133"/>
                </a:cubicBezTo>
                <a:cubicBezTo>
                  <a:pt x="111463" y="4528"/>
                  <a:pt x="106935" y="0"/>
                  <a:pt x="101330" y="0"/>
                </a:cubicBezTo>
                <a:lnTo>
                  <a:pt x="91197" y="0"/>
                </a:lnTo>
                <a:close/>
                <a:moveTo>
                  <a:pt x="60798" y="68239"/>
                </a:moveTo>
                <a:lnTo>
                  <a:pt x="60798" y="20266"/>
                </a:lnTo>
                <a:lnTo>
                  <a:pt x="81064" y="20266"/>
                </a:lnTo>
                <a:lnTo>
                  <a:pt x="81064" y="68239"/>
                </a:lnTo>
                <a:cubicBezTo>
                  <a:pt x="81064" y="71754"/>
                  <a:pt x="81982" y="75237"/>
                  <a:pt x="83724" y="78309"/>
                </a:cubicBezTo>
                <a:lnTo>
                  <a:pt x="96897" y="101330"/>
                </a:lnTo>
                <a:lnTo>
                  <a:pt x="44965" y="101330"/>
                </a:lnTo>
                <a:lnTo>
                  <a:pt x="58138" y="78309"/>
                </a:lnTo>
                <a:cubicBezTo>
                  <a:pt x="59880" y="75237"/>
                  <a:pt x="60798" y="71786"/>
                  <a:pt x="60798" y="68239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354588732" name="Text 6"/>
          <p:cNvSpPr/>
          <p:nvPr/>
        </p:nvSpPr>
        <p:spPr bwMode="auto">
          <a:xfrm>
            <a:off x="980872" y="1418617"/>
            <a:ext cx="1005191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300" b="1">
                <a:solidFill>
                  <a:srgbClr val="4ECDC4"/>
                </a:solidFill>
                <a:latin typeface="MiSans"/>
                <a:ea typeface="MiSans"/>
                <a:cs typeface="MiSans"/>
              </a:rPr>
              <a:t>Metodología</a:t>
            </a:r>
            <a:endParaRPr lang="en-US" sz="1600"/>
          </a:p>
        </p:txBody>
      </p:sp>
      <p:sp>
        <p:nvSpPr>
          <p:cNvPr id="1749683161" name="Shape 7"/>
          <p:cNvSpPr/>
          <p:nvPr/>
        </p:nvSpPr>
        <p:spPr bwMode="auto">
          <a:xfrm>
            <a:off x="498543" y="1860415"/>
            <a:ext cx="3542488" cy="624191"/>
          </a:xfrm>
          <a:custGeom>
            <a:avLst/>
            <a:gdLst/>
            <a:ahLst/>
            <a:cxnLst/>
            <a:rect l="l" t="t" r="r" b="b"/>
            <a:pathLst>
              <a:path w="3542489" h="624191" fill="norm" stroke="1" extrusionOk="0">
                <a:moveTo>
                  <a:pt x="97274" y="0"/>
                </a:moveTo>
                <a:lnTo>
                  <a:pt x="3445215" y="0"/>
                </a:lnTo>
                <a:cubicBezTo>
                  <a:pt x="3498938" y="0"/>
                  <a:pt x="3542489" y="43551"/>
                  <a:pt x="3542489" y="97274"/>
                </a:cubicBezTo>
                <a:lnTo>
                  <a:pt x="3542489" y="526917"/>
                </a:lnTo>
                <a:cubicBezTo>
                  <a:pt x="3542489" y="580640"/>
                  <a:pt x="3498938" y="624191"/>
                  <a:pt x="3445215" y="624191"/>
                </a:cubicBezTo>
                <a:lnTo>
                  <a:pt x="97274" y="624191"/>
                </a:lnTo>
                <a:cubicBezTo>
                  <a:pt x="43587" y="624191"/>
                  <a:pt x="0" y="580604"/>
                  <a:pt x="0" y="526917"/>
                </a:cubicBezTo>
                <a:lnTo>
                  <a:pt x="0" y="97274"/>
                </a:lnTo>
                <a:cubicBezTo>
                  <a:pt x="0" y="43551"/>
                  <a:pt x="43551" y="0"/>
                  <a:pt x="9727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5F85A5">
                <a:alpha val="30193"/>
              </a:srgbClr>
            </a:solidFill>
            <a:prstDash val="solid"/>
          </a:ln>
        </p:spPr>
      </p:sp>
      <p:sp>
        <p:nvSpPr>
          <p:cNvPr id="1383582821" name="Text 8"/>
          <p:cNvSpPr/>
          <p:nvPr/>
        </p:nvSpPr>
        <p:spPr bwMode="auto">
          <a:xfrm>
            <a:off x="599872" y="1961745"/>
            <a:ext cx="3404681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 b="1">
                <a:solidFill>
                  <a:srgbClr val="E0E2E5"/>
                </a:solidFill>
                <a:latin typeface="MiSans"/>
                <a:ea typeface="MiSans"/>
                <a:cs typeface="MiSans"/>
              </a:rPr>
              <a:t>Test No Paramétrico</a:t>
            </a:r>
            <a:endParaRPr lang="en-US" sz="1600"/>
          </a:p>
        </p:txBody>
      </p:sp>
      <p:sp>
        <p:nvSpPr>
          <p:cNvPr id="456498868" name="Text 9"/>
          <p:cNvSpPr/>
          <p:nvPr/>
        </p:nvSpPr>
        <p:spPr bwMode="auto">
          <a:xfrm>
            <a:off x="599872" y="2188723"/>
            <a:ext cx="3404681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E0E2E5">
                    <a:alpha val="70000"/>
                  </a:srgbClr>
                </a:solidFill>
                <a:latin typeface="MiSans"/>
                <a:ea typeface="MiSans"/>
                <a:cs typeface="MiSans"/>
              </a:rPr>
              <a:t>Kruskal-Wallis H-test para 5 grupos independientes</a:t>
            </a:r>
            <a:endParaRPr lang="en-US" sz="1600"/>
          </a:p>
        </p:txBody>
      </p:sp>
      <p:sp>
        <p:nvSpPr>
          <p:cNvPr id="1471626882" name="Shape 10"/>
          <p:cNvSpPr/>
          <p:nvPr/>
        </p:nvSpPr>
        <p:spPr bwMode="auto">
          <a:xfrm>
            <a:off x="498543" y="2589989"/>
            <a:ext cx="3542488" cy="624191"/>
          </a:xfrm>
          <a:custGeom>
            <a:avLst/>
            <a:gdLst/>
            <a:ahLst/>
            <a:cxnLst/>
            <a:rect l="l" t="t" r="r" b="b"/>
            <a:pathLst>
              <a:path w="3542489" h="624191" fill="norm" stroke="1" extrusionOk="0">
                <a:moveTo>
                  <a:pt x="97274" y="0"/>
                </a:moveTo>
                <a:lnTo>
                  <a:pt x="3445215" y="0"/>
                </a:lnTo>
                <a:cubicBezTo>
                  <a:pt x="3498938" y="0"/>
                  <a:pt x="3542489" y="43551"/>
                  <a:pt x="3542489" y="97274"/>
                </a:cubicBezTo>
                <a:lnTo>
                  <a:pt x="3542489" y="526917"/>
                </a:lnTo>
                <a:cubicBezTo>
                  <a:pt x="3542489" y="580640"/>
                  <a:pt x="3498938" y="624191"/>
                  <a:pt x="3445215" y="624191"/>
                </a:cubicBezTo>
                <a:lnTo>
                  <a:pt x="97274" y="624191"/>
                </a:lnTo>
                <a:cubicBezTo>
                  <a:pt x="43587" y="624191"/>
                  <a:pt x="0" y="580604"/>
                  <a:pt x="0" y="526917"/>
                </a:cubicBezTo>
                <a:lnTo>
                  <a:pt x="0" y="97274"/>
                </a:lnTo>
                <a:cubicBezTo>
                  <a:pt x="0" y="43551"/>
                  <a:pt x="43551" y="0"/>
                  <a:pt x="9727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5F85A5">
                <a:alpha val="30193"/>
              </a:srgbClr>
            </a:solidFill>
            <a:prstDash val="solid"/>
          </a:ln>
        </p:spPr>
      </p:sp>
      <p:sp>
        <p:nvSpPr>
          <p:cNvPr id="1502939226" name="Text 11"/>
          <p:cNvSpPr/>
          <p:nvPr/>
        </p:nvSpPr>
        <p:spPr bwMode="auto">
          <a:xfrm>
            <a:off x="599872" y="2691319"/>
            <a:ext cx="3404681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 b="1">
                <a:solidFill>
                  <a:srgbClr val="E0E2E5"/>
                </a:solidFill>
                <a:latin typeface="MiSans"/>
                <a:ea typeface="MiSans"/>
                <a:cs typeface="MiSans"/>
              </a:rPr>
              <a:t>Variables Analizadas</a:t>
            </a:r>
            <a:endParaRPr lang="en-US" sz="1600"/>
          </a:p>
        </p:txBody>
      </p:sp>
      <p:sp>
        <p:nvSpPr>
          <p:cNvPr id="1897852566" name="Text 12"/>
          <p:cNvSpPr/>
          <p:nvPr/>
        </p:nvSpPr>
        <p:spPr bwMode="auto">
          <a:xfrm>
            <a:off x="599872" y="2918298"/>
            <a:ext cx="3404681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E0E2E5">
                    <a:alpha val="70000"/>
                  </a:srgbClr>
                </a:solidFill>
                <a:latin typeface="MiSans"/>
                <a:ea typeface="MiSans"/>
                <a:cs typeface="MiSans"/>
              </a:rPr>
              <a:t>5 variables clave del tráfico de red</a:t>
            </a:r>
            <a:endParaRPr lang="en-US" sz="1600"/>
          </a:p>
        </p:txBody>
      </p:sp>
      <p:sp>
        <p:nvSpPr>
          <p:cNvPr id="44820627" name="Shape 13"/>
          <p:cNvSpPr/>
          <p:nvPr/>
        </p:nvSpPr>
        <p:spPr bwMode="auto">
          <a:xfrm>
            <a:off x="498543" y="3319564"/>
            <a:ext cx="3542488" cy="818745"/>
          </a:xfrm>
          <a:custGeom>
            <a:avLst/>
            <a:gdLst/>
            <a:ahLst/>
            <a:cxnLst/>
            <a:rect l="l" t="t" r="r" b="b"/>
            <a:pathLst>
              <a:path w="3542489" h="818745" fill="norm" stroke="1" extrusionOk="0">
                <a:moveTo>
                  <a:pt x="97275" y="0"/>
                </a:moveTo>
                <a:lnTo>
                  <a:pt x="3445214" y="0"/>
                </a:lnTo>
                <a:cubicBezTo>
                  <a:pt x="3498938" y="0"/>
                  <a:pt x="3542489" y="43552"/>
                  <a:pt x="3542489" y="97275"/>
                </a:cubicBezTo>
                <a:lnTo>
                  <a:pt x="3542489" y="721470"/>
                </a:lnTo>
                <a:cubicBezTo>
                  <a:pt x="3542489" y="775193"/>
                  <a:pt x="3498938" y="818745"/>
                  <a:pt x="3445214" y="818745"/>
                </a:cubicBezTo>
                <a:lnTo>
                  <a:pt x="97275" y="818745"/>
                </a:lnTo>
                <a:cubicBezTo>
                  <a:pt x="43552" y="818745"/>
                  <a:pt x="0" y="775193"/>
                  <a:pt x="0" y="721470"/>
                </a:cubicBezTo>
                <a:lnTo>
                  <a:pt x="0" y="97275"/>
                </a:lnTo>
                <a:cubicBezTo>
                  <a:pt x="0" y="43552"/>
                  <a:pt x="43552" y="0"/>
                  <a:pt x="9727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5F85A5">
                <a:alpha val="30193"/>
              </a:srgbClr>
            </a:solidFill>
            <a:prstDash val="solid"/>
          </a:ln>
        </p:spPr>
      </p:sp>
      <p:sp>
        <p:nvSpPr>
          <p:cNvPr id="17925736" name="Text 14"/>
          <p:cNvSpPr/>
          <p:nvPr/>
        </p:nvSpPr>
        <p:spPr bwMode="auto">
          <a:xfrm>
            <a:off x="599872" y="3420894"/>
            <a:ext cx="3404681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 b="1">
                <a:solidFill>
                  <a:srgbClr val="E0E2E5"/>
                </a:solidFill>
                <a:latin typeface="MiSans"/>
                <a:ea typeface="MiSans"/>
                <a:cs typeface="MiSans"/>
              </a:rPr>
              <a:t>Hipótesis</a:t>
            </a:r>
            <a:endParaRPr lang="en-US" sz="1600"/>
          </a:p>
        </p:txBody>
      </p:sp>
      <p:sp>
        <p:nvSpPr>
          <p:cNvPr id="2070205660" name="Text 15"/>
          <p:cNvSpPr/>
          <p:nvPr/>
        </p:nvSpPr>
        <p:spPr bwMode="auto">
          <a:xfrm>
            <a:off x="599872" y="3647872"/>
            <a:ext cx="3404681" cy="38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E0E2E5">
                    <a:alpha val="70000"/>
                  </a:srgbClr>
                </a:solidFill>
                <a:latin typeface="MiSans"/>
                <a:ea typeface="MiSans"/>
                <a:cs typeface="MiSans"/>
              </a:rPr>
              <a:t>H₀: Distribuciones idénticas vs H₁: Al menos una diferente</a:t>
            </a:r>
            <a:endParaRPr lang="en-US" sz="1600"/>
          </a:p>
        </p:txBody>
      </p:sp>
      <p:sp>
        <p:nvSpPr>
          <p:cNvPr id="2007470698" name="Shape 16"/>
          <p:cNvSpPr/>
          <p:nvPr/>
        </p:nvSpPr>
        <p:spPr bwMode="auto">
          <a:xfrm>
            <a:off x="328309" y="4446351"/>
            <a:ext cx="3882957" cy="2407596"/>
          </a:xfrm>
          <a:custGeom>
            <a:avLst/>
            <a:gdLst/>
            <a:ahLst/>
            <a:cxnLst/>
            <a:rect l="l" t="t" r="r" b="b"/>
            <a:pathLst>
              <a:path w="3882957" h="2407596" fill="norm" stroke="1" extrusionOk="0">
                <a:moveTo>
                  <a:pt x="129697" y="0"/>
                </a:moveTo>
                <a:lnTo>
                  <a:pt x="3753260" y="0"/>
                </a:lnTo>
                <a:cubicBezTo>
                  <a:pt x="3824890" y="0"/>
                  <a:pt x="3882957" y="58067"/>
                  <a:pt x="3882957" y="129697"/>
                </a:cubicBezTo>
                <a:lnTo>
                  <a:pt x="3882957" y="2277899"/>
                </a:lnTo>
                <a:cubicBezTo>
                  <a:pt x="3882957" y="2349528"/>
                  <a:pt x="3824890" y="2407596"/>
                  <a:pt x="3753260" y="2407596"/>
                </a:cubicBezTo>
                <a:lnTo>
                  <a:pt x="129697" y="2407596"/>
                </a:lnTo>
                <a:cubicBezTo>
                  <a:pt x="58067" y="2407596"/>
                  <a:pt x="0" y="2349528"/>
                  <a:pt x="0" y="2277899"/>
                </a:cubicBezTo>
                <a:lnTo>
                  <a:pt x="0" y="129697"/>
                </a:lnTo>
                <a:cubicBezTo>
                  <a:pt x="0" y="58115"/>
                  <a:pt x="58115" y="0"/>
                  <a:pt x="129697" y="0"/>
                </a:cubicBezTo>
                <a:close/>
              </a:path>
            </a:pathLst>
          </a:custGeom>
          <a:solidFill>
            <a:srgbClr val="5F85A5">
              <a:alpha val="10196"/>
            </a:srgbClr>
          </a:solidFill>
          <a:ln w="12700">
            <a:solidFill>
              <a:srgbClr val="5F85A5">
                <a:alpha val="40000"/>
              </a:srgbClr>
            </a:solidFill>
            <a:prstDash val="solid"/>
          </a:ln>
        </p:spPr>
      </p:sp>
      <p:sp>
        <p:nvSpPr>
          <p:cNvPr id="2047129969" name="Shape 17"/>
          <p:cNvSpPr/>
          <p:nvPr/>
        </p:nvSpPr>
        <p:spPr bwMode="auto">
          <a:xfrm>
            <a:off x="498543" y="461658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 fill="norm" stroke="1" extrusionOk="0">
                <a:moveTo>
                  <a:pt x="97277" y="0"/>
                </a:moveTo>
                <a:lnTo>
                  <a:pt x="283723" y="0"/>
                </a:lnTo>
                <a:cubicBezTo>
                  <a:pt x="337448" y="0"/>
                  <a:pt x="381000" y="43552"/>
                  <a:pt x="381000" y="97277"/>
                </a:cubicBezTo>
                <a:lnTo>
                  <a:pt x="381000" y="283723"/>
                </a:lnTo>
                <a:cubicBezTo>
                  <a:pt x="381000" y="337448"/>
                  <a:pt x="337448" y="381000"/>
                  <a:pt x="283723" y="381000"/>
                </a:cubicBezTo>
                <a:lnTo>
                  <a:pt x="97277" y="381000"/>
                </a:lnTo>
                <a:cubicBezTo>
                  <a:pt x="43552" y="381000"/>
                  <a:pt x="0" y="337448"/>
                  <a:pt x="0" y="283723"/>
                </a:cubicBezTo>
                <a:lnTo>
                  <a:pt x="0" y="97277"/>
                </a:lnTo>
                <a:cubicBezTo>
                  <a:pt x="0" y="43588"/>
                  <a:pt x="43588" y="0"/>
                  <a:pt x="97277" y="0"/>
                </a:cubicBezTo>
                <a:close/>
              </a:path>
            </a:pathLst>
          </a:custGeom>
          <a:solidFill>
            <a:srgbClr val="5F85A5">
              <a:alpha val="20000"/>
            </a:srgbClr>
          </a:solidFill>
          <a:ln w="12700">
            <a:solidFill>
              <a:srgbClr val="5F85A5">
                <a:alpha val="40000"/>
              </a:srgbClr>
            </a:solidFill>
            <a:prstDash val="solid"/>
          </a:ln>
        </p:spPr>
      </p:sp>
      <p:sp>
        <p:nvSpPr>
          <p:cNvPr id="98452192" name="Shape 18"/>
          <p:cNvSpPr/>
          <p:nvPr/>
        </p:nvSpPr>
        <p:spPr bwMode="auto">
          <a:xfrm>
            <a:off x="607979" y="4726021"/>
            <a:ext cx="162128" cy="162128"/>
          </a:xfrm>
          <a:custGeom>
            <a:avLst/>
            <a:gdLst/>
            <a:ahLst/>
            <a:cxnLst/>
            <a:rect l="l" t="t" r="r" b="b"/>
            <a:pathLst>
              <a:path w="162128" h="162128" fill="norm" stroke="1" extrusionOk="0">
                <a:moveTo>
                  <a:pt x="10133" y="10133"/>
                </a:moveTo>
                <a:cubicBezTo>
                  <a:pt x="15738" y="10133"/>
                  <a:pt x="20266" y="14661"/>
                  <a:pt x="20266" y="20266"/>
                </a:cubicBezTo>
                <a:lnTo>
                  <a:pt x="20266" y="126662"/>
                </a:lnTo>
                <a:cubicBezTo>
                  <a:pt x="20266" y="129449"/>
                  <a:pt x="22546" y="131729"/>
                  <a:pt x="25332" y="131729"/>
                </a:cubicBezTo>
                <a:lnTo>
                  <a:pt x="151995" y="131729"/>
                </a:lnTo>
                <a:cubicBezTo>
                  <a:pt x="157599" y="131729"/>
                  <a:pt x="162128" y="136257"/>
                  <a:pt x="162128" y="141862"/>
                </a:cubicBezTo>
                <a:cubicBezTo>
                  <a:pt x="162128" y="147467"/>
                  <a:pt x="157599" y="151995"/>
                  <a:pt x="151995" y="151995"/>
                </a:cubicBezTo>
                <a:lnTo>
                  <a:pt x="25332" y="151995"/>
                </a:lnTo>
                <a:cubicBezTo>
                  <a:pt x="11336" y="151995"/>
                  <a:pt x="0" y="140658"/>
                  <a:pt x="0" y="126662"/>
                </a:cubicBezTo>
                <a:lnTo>
                  <a:pt x="0" y="20266"/>
                </a:lnTo>
                <a:cubicBezTo>
                  <a:pt x="0" y="14661"/>
                  <a:pt x="4528" y="10133"/>
                  <a:pt x="10133" y="10133"/>
                </a:cubicBezTo>
                <a:close/>
                <a:moveTo>
                  <a:pt x="40532" y="30399"/>
                </a:moveTo>
                <a:cubicBezTo>
                  <a:pt x="40532" y="24794"/>
                  <a:pt x="45060" y="20266"/>
                  <a:pt x="50665" y="20266"/>
                </a:cubicBezTo>
                <a:lnTo>
                  <a:pt x="111463" y="20266"/>
                </a:lnTo>
                <a:cubicBezTo>
                  <a:pt x="117068" y="20266"/>
                  <a:pt x="121596" y="24794"/>
                  <a:pt x="121596" y="30399"/>
                </a:cubicBezTo>
                <a:cubicBezTo>
                  <a:pt x="121596" y="36004"/>
                  <a:pt x="117068" y="40532"/>
                  <a:pt x="111463" y="40532"/>
                </a:cubicBezTo>
                <a:lnTo>
                  <a:pt x="50665" y="40532"/>
                </a:lnTo>
                <a:cubicBezTo>
                  <a:pt x="45060" y="40532"/>
                  <a:pt x="40532" y="36004"/>
                  <a:pt x="40532" y="30399"/>
                </a:cubicBezTo>
                <a:close/>
                <a:moveTo>
                  <a:pt x="50665" y="55731"/>
                </a:moveTo>
                <a:lnTo>
                  <a:pt x="91197" y="55731"/>
                </a:lnTo>
                <a:cubicBezTo>
                  <a:pt x="96802" y="55731"/>
                  <a:pt x="101330" y="60260"/>
                  <a:pt x="101330" y="65864"/>
                </a:cubicBezTo>
                <a:cubicBezTo>
                  <a:pt x="101330" y="71469"/>
                  <a:pt x="96802" y="75997"/>
                  <a:pt x="91197" y="75997"/>
                </a:cubicBezTo>
                <a:lnTo>
                  <a:pt x="50665" y="75997"/>
                </a:lnTo>
                <a:cubicBezTo>
                  <a:pt x="45060" y="75997"/>
                  <a:pt x="40532" y="71469"/>
                  <a:pt x="40532" y="65864"/>
                </a:cubicBezTo>
                <a:cubicBezTo>
                  <a:pt x="40532" y="60260"/>
                  <a:pt x="45060" y="55731"/>
                  <a:pt x="50665" y="55731"/>
                </a:cubicBezTo>
                <a:close/>
                <a:moveTo>
                  <a:pt x="50665" y="91197"/>
                </a:moveTo>
                <a:lnTo>
                  <a:pt x="131729" y="91197"/>
                </a:lnTo>
                <a:cubicBezTo>
                  <a:pt x="137334" y="91197"/>
                  <a:pt x="141862" y="95725"/>
                  <a:pt x="141862" y="101330"/>
                </a:cubicBezTo>
                <a:cubicBezTo>
                  <a:pt x="141862" y="106935"/>
                  <a:pt x="137334" y="111463"/>
                  <a:pt x="131729" y="111463"/>
                </a:cubicBezTo>
                <a:lnTo>
                  <a:pt x="50665" y="111463"/>
                </a:lnTo>
                <a:cubicBezTo>
                  <a:pt x="45060" y="111463"/>
                  <a:pt x="40532" y="106935"/>
                  <a:pt x="40532" y="101330"/>
                </a:cubicBezTo>
                <a:cubicBezTo>
                  <a:pt x="40532" y="95725"/>
                  <a:pt x="45060" y="91197"/>
                  <a:pt x="50665" y="91197"/>
                </a:cubicBezTo>
                <a:close/>
              </a:path>
            </a:pathLst>
          </a:custGeom>
          <a:solidFill>
            <a:srgbClr val="5F85A5"/>
          </a:solidFill>
          <a:ln/>
        </p:spPr>
      </p:sp>
      <p:sp>
        <p:nvSpPr>
          <p:cNvPr id="1614436704" name="Text 19"/>
          <p:cNvSpPr/>
          <p:nvPr/>
        </p:nvSpPr>
        <p:spPr bwMode="auto">
          <a:xfrm>
            <a:off x="980872" y="4693596"/>
            <a:ext cx="1353766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300" b="1">
                <a:solidFill>
                  <a:srgbClr val="5F85A5"/>
                </a:solidFill>
                <a:latin typeface="MiSans"/>
                <a:ea typeface="MiSans"/>
                <a:cs typeface="MiSans"/>
              </a:rPr>
              <a:t>Resultados Clave</a:t>
            </a:r>
            <a:endParaRPr lang="en-US" sz="1600"/>
          </a:p>
        </p:txBody>
      </p:sp>
      <p:sp>
        <p:nvSpPr>
          <p:cNvPr id="823114256" name="Shape 20"/>
          <p:cNvSpPr/>
          <p:nvPr/>
        </p:nvSpPr>
        <p:spPr bwMode="auto">
          <a:xfrm>
            <a:off x="498543" y="5135394"/>
            <a:ext cx="3542488" cy="721468"/>
          </a:xfrm>
          <a:custGeom>
            <a:avLst/>
            <a:gdLst/>
            <a:ahLst/>
            <a:cxnLst/>
            <a:rect l="l" t="t" r="r" b="b"/>
            <a:pathLst>
              <a:path w="3542489" h="721468" fill="norm" stroke="1" extrusionOk="0">
                <a:moveTo>
                  <a:pt x="97276" y="0"/>
                </a:moveTo>
                <a:lnTo>
                  <a:pt x="3445214" y="0"/>
                </a:lnTo>
                <a:cubicBezTo>
                  <a:pt x="3498938" y="0"/>
                  <a:pt x="3542489" y="43552"/>
                  <a:pt x="3542489" y="97276"/>
                </a:cubicBezTo>
                <a:lnTo>
                  <a:pt x="3542489" y="624193"/>
                </a:lnTo>
                <a:cubicBezTo>
                  <a:pt x="3542489" y="677916"/>
                  <a:pt x="3498938" y="721468"/>
                  <a:pt x="3445214" y="721468"/>
                </a:cubicBezTo>
                <a:lnTo>
                  <a:pt x="97276" y="721468"/>
                </a:lnTo>
                <a:cubicBezTo>
                  <a:pt x="43552" y="721468"/>
                  <a:pt x="0" y="677916"/>
                  <a:pt x="0" y="624193"/>
                </a:cubicBezTo>
                <a:lnTo>
                  <a:pt x="0" y="97276"/>
                </a:lnTo>
                <a:cubicBezTo>
                  <a:pt x="0" y="43552"/>
                  <a:pt x="43552" y="0"/>
                  <a:pt x="9727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4ECDC4">
                <a:alpha val="30193"/>
              </a:srgbClr>
            </a:solidFill>
            <a:prstDash val="solid"/>
          </a:ln>
        </p:spPr>
      </p:sp>
      <p:sp>
        <p:nvSpPr>
          <p:cNvPr id="278135826" name="Text 21"/>
          <p:cNvSpPr/>
          <p:nvPr/>
        </p:nvSpPr>
        <p:spPr bwMode="auto">
          <a:xfrm>
            <a:off x="599872" y="5269149"/>
            <a:ext cx="486383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 b="1">
                <a:solidFill>
                  <a:srgbClr val="E0E2E5"/>
                </a:solidFill>
                <a:latin typeface="MiSans"/>
                <a:ea typeface="MiSans"/>
                <a:cs typeface="MiSans"/>
              </a:rPr>
              <a:t>Valor p</a:t>
            </a:r>
            <a:endParaRPr lang="en-US" sz="1600"/>
          </a:p>
        </p:txBody>
      </p:sp>
      <p:sp>
        <p:nvSpPr>
          <p:cNvPr id="329663728" name="Text 22"/>
          <p:cNvSpPr/>
          <p:nvPr/>
        </p:nvSpPr>
        <p:spPr bwMode="auto">
          <a:xfrm flipH="0" flipV="0">
            <a:off x="3189860" y="5236721"/>
            <a:ext cx="1727839" cy="2594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550" b="1">
                <a:solidFill>
                  <a:srgbClr val="4ECDC4"/>
                </a:solidFill>
                <a:latin typeface="MiSans"/>
                <a:ea typeface="MiSans"/>
                <a:cs typeface="MiSans"/>
              </a:rPr>
              <a:t>&lt; 1×10⁻¹⁰</a:t>
            </a:r>
            <a:endParaRPr lang="en-US" sz="1600"/>
          </a:p>
        </p:txBody>
      </p:sp>
      <p:sp>
        <p:nvSpPr>
          <p:cNvPr id="1248381011" name="Text 23"/>
          <p:cNvSpPr/>
          <p:nvPr/>
        </p:nvSpPr>
        <p:spPr bwMode="auto">
          <a:xfrm>
            <a:off x="599872" y="5560979"/>
            <a:ext cx="3404681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E0E2E5">
                    <a:alpha val="70000"/>
                  </a:srgbClr>
                </a:solidFill>
                <a:latin typeface="MiSans"/>
                <a:ea typeface="MiSans"/>
                <a:cs typeface="MiSans"/>
              </a:rPr>
              <a:t>Significativo en TODAS las variables</a:t>
            </a:r>
            <a:endParaRPr lang="en-US" sz="1600"/>
          </a:p>
        </p:txBody>
      </p:sp>
      <p:sp>
        <p:nvSpPr>
          <p:cNvPr id="817752758" name="Shape 24"/>
          <p:cNvSpPr/>
          <p:nvPr/>
        </p:nvSpPr>
        <p:spPr bwMode="auto">
          <a:xfrm>
            <a:off x="498543" y="5962245"/>
            <a:ext cx="3542488" cy="721468"/>
          </a:xfrm>
          <a:custGeom>
            <a:avLst/>
            <a:gdLst/>
            <a:ahLst/>
            <a:cxnLst/>
            <a:rect l="l" t="t" r="r" b="b"/>
            <a:pathLst>
              <a:path w="3542489" h="721468" fill="norm" stroke="1" extrusionOk="0">
                <a:moveTo>
                  <a:pt x="97276" y="0"/>
                </a:moveTo>
                <a:lnTo>
                  <a:pt x="3445214" y="0"/>
                </a:lnTo>
                <a:cubicBezTo>
                  <a:pt x="3498938" y="0"/>
                  <a:pt x="3542489" y="43552"/>
                  <a:pt x="3542489" y="97276"/>
                </a:cubicBezTo>
                <a:lnTo>
                  <a:pt x="3542489" y="624193"/>
                </a:lnTo>
                <a:cubicBezTo>
                  <a:pt x="3542489" y="677916"/>
                  <a:pt x="3498938" y="721468"/>
                  <a:pt x="3445214" y="721468"/>
                </a:cubicBezTo>
                <a:lnTo>
                  <a:pt x="97276" y="721468"/>
                </a:lnTo>
                <a:cubicBezTo>
                  <a:pt x="43552" y="721468"/>
                  <a:pt x="0" y="677916"/>
                  <a:pt x="0" y="624193"/>
                </a:cubicBezTo>
                <a:lnTo>
                  <a:pt x="0" y="97276"/>
                </a:lnTo>
                <a:cubicBezTo>
                  <a:pt x="0" y="43552"/>
                  <a:pt x="43552" y="0"/>
                  <a:pt x="9727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F39C12">
                <a:alpha val="30193"/>
              </a:srgbClr>
            </a:solidFill>
            <a:prstDash val="solid"/>
          </a:ln>
        </p:spPr>
      </p:sp>
      <p:sp>
        <p:nvSpPr>
          <p:cNvPr id="1715880810" name="Text 25"/>
          <p:cNvSpPr/>
          <p:nvPr/>
        </p:nvSpPr>
        <p:spPr bwMode="auto">
          <a:xfrm>
            <a:off x="599872" y="6096000"/>
            <a:ext cx="762000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 b="1">
                <a:solidFill>
                  <a:srgbClr val="E0E2E5"/>
                </a:solidFill>
                <a:latin typeface="MiSans"/>
                <a:ea typeface="MiSans"/>
                <a:cs typeface="MiSans"/>
              </a:rPr>
              <a:t>Epsilon² (ε²)</a:t>
            </a:r>
            <a:endParaRPr lang="en-US" sz="1600"/>
          </a:p>
        </p:txBody>
      </p:sp>
      <p:sp>
        <p:nvSpPr>
          <p:cNvPr id="279011610" name="Text 26"/>
          <p:cNvSpPr/>
          <p:nvPr/>
        </p:nvSpPr>
        <p:spPr bwMode="auto">
          <a:xfrm>
            <a:off x="3363389" y="6063574"/>
            <a:ext cx="672830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550" b="1">
                <a:solidFill>
                  <a:srgbClr val="F39C12"/>
                </a:solidFill>
                <a:latin typeface="MiSans"/>
                <a:ea typeface="MiSans"/>
                <a:cs typeface="MiSans"/>
              </a:rPr>
              <a:t>&gt; 0.49</a:t>
            </a:r>
            <a:endParaRPr lang="en-US" sz="1600"/>
          </a:p>
        </p:txBody>
      </p:sp>
      <p:sp>
        <p:nvSpPr>
          <p:cNvPr id="1116168123" name="Text 27"/>
          <p:cNvSpPr/>
          <p:nvPr/>
        </p:nvSpPr>
        <p:spPr bwMode="auto">
          <a:xfrm>
            <a:off x="599872" y="6387830"/>
            <a:ext cx="3404681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E0E2E5">
                    <a:alpha val="70000"/>
                  </a:srgbClr>
                </a:solidFill>
                <a:latin typeface="MiSans"/>
                <a:ea typeface="MiSans"/>
                <a:cs typeface="MiSans"/>
              </a:rPr>
              <a:t>Tamaño del efecto: GRANDE</a:t>
            </a:r>
            <a:endParaRPr lang="en-US" sz="1600"/>
          </a:p>
        </p:txBody>
      </p:sp>
      <p:sp>
        <p:nvSpPr>
          <p:cNvPr id="735995177" name="Shape 28"/>
          <p:cNvSpPr/>
          <p:nvPr/>
        </p:nvSpPr>
        <p:spPr bwMode="auto">
          <a:xfrm>
            <a:off x="4381500" y="1171372"/>
            <a:ext cx="7482191" cy="4288277"/>
          </a:xfrm>
          <a:custGeom>
            <a:avLst/>
            <a:gdLst/>
            <a:ahLst/>
            <a:cxnLst/>
            <a:rect l="l" t="t" r="r" b="b"/>
            <a:pathLst>
              <a:path w="7482191" h="4288277" fill="norm" stroke="1" extrusionOk="0">
                <a:moveTo>
                  <a:pt x="129720" y="0"/>
                </a:moveTo>
                <a:lnTo>
                  <a:pt x="7352471" y="0"/>
                </a:lnTo>
                <a:cubicBezTo>
                  <a:pt x="7424114" y="0"/>
                  <a:pt x="7482191" y="58078"/>
                  <a:pt x="7482191" y="129720"/>
                </a:cubicBezTo>
                <a:lnTo>
                  <a:pt x="7482191" y="4158556"/>
                </a:lnTo>
                <a:cubicBezTo>
                  <a:pt x="7482191" y="4230199"/>
                  <a:pt x="7424114" y="4288277"/>
                  <a:pt x="7352471" y="4288277"/>
                </a:cubicBezTo>
                <a:lnTo>
                  <a:pt x="129720" y="4288277"/>
                </a:lnTo>
                <a:cubicBezTo>
                  <a:pt x="58078" y="4288277"/>
                  <a:pt x="0" y="4230199"/>
                  <a:pt x="0" y="4158556"/>
                </a:cubicBezTo>
                <a:lnTo>
                  <a:pt x="0" y="129720"/>
                </a:lnTo>
                <a:cubicBezTo>
                  <a:pt x="0" y="58078"/>
                  <a:pt x="58078" y="0"/>
                  <a:pt x="12972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5F85A5">
                <a:alpha val="30193"/>
              </a:srgbClr>
            </a:solidFill>
            <a:prstDash val="solid"/>
          </a:ln>
        </p:spPr>
      </p:sp>
      <p:sp>
        <p:nvSpPr>
          <p:cNvPr id="430281903" name="Text 29"/>
          <p:cNvSpPr/>
          <p:nvPr/>
        </p:nvSpPr>
        <p:spPr bwMode="auto">
          <a:xfrm>
            <a:off x="4507149" y="1337553"/>
            <a:ext cx="7230894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300" b="1">
                <a:solidFill>
                  <a:srgbClr val="E0E2E5"/>
                </a:solidFill>
                <a:latin typeface="MiSans"/>
                <a:ea typeface="MiSans"/>
                <a:cs typeface="MiSans"/>
              </a:rPr>
              <a:t>Perfiles Estadísticos por Categoría</a:t>
            </a:r>
            <a:endParaRPr lang="en-US" sz="1600"/>
          </a:p>
        </p:txBody>
      </p:sp>
      <p:sp>
        <p:nvSpPr>
          <p:cNvPr id="1068143669" name="Shape 30"/>
          <p:cNvSpPr/>
          <p:nvPr/>
        </p:nvSpPr>
        <p:spPr bwMode="auto">
          <a:xfrm>
            <a:off x="4551734" y="4989479"/>
            <a:ext cx="1369979" cy="299936"/>
          </a:xfrm>
          <a:custGeom>
            <a:avLst/>
            <a:gdLst/>
            <a:ahLst/>
            <a:cxnLst/>
            <a:rect l="l" t="t" r="r" b="b"/>
            <a:pathLst>
              <a:path w="1369979" h="299936" fill="norm" stroke="1" extrusionOk="0">
                <a:moveTo>
                  <a:pt x="64852" y="0"/>
                </a:moveTo>
                <a:lnTo>
                  <a:pt x="1305127" y="0"/>
                </a:lnTo>
                <a:cubicBezTo>
                  <a:pt x="1340943" y="0"/>
                  <a:pt x="1369979" y="29035"/>
                  <a:pt x="1369979" y="64852"/>
                </a:cubicBezTo>
                <a:lnTo>
                  <a:pt x="1369979" y="235084"/>
                </a:lnTo>
                <a:cubicBezTo>
                  <a:pt x="1369979" y="270901"/>
                  <a:pt x="1340943" y="299936"/>
                  <a:pt x="1305127" y="299936"/>
                </a:cubicBezTo>
                <a:lnTo>
                  <a:pt x="64852" y="299936"/>
                </a:lnTo>
                <a:cubicBezTo>
                  <a:pt x="29035" y="299936"/>
                  <a:pt x="0" y="270901"/>
                  <a:pt x="0" y="235084"/>
                </a:cubicBezTo>
                <a:lnTo>
                  <a:pt x="0" y="64852"/>
                </a:lnTo>
                <a:cubicBezTo>
                  <a:pt x="0" y="29059"/>
                  <a:pt x="29059" y="0"/>
                  <a:pt x="6485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4ECDC4">
                <a:alpha val="30193"/>
              </a:srgbClr>
            </a:solidFill>
            <a:prstDash val="solid"/>
          </a:ln>
        </p:spPr>
      </p:sp>
      <p:sp>
        <p:nvSpPr>
          <p:cNvPr id="2126192390" name="Shape 31"/>
          <p:cNvSpPr/>
          <p:nvPr/>
        </p:nvSpPr>
        <p:spPr bwMode="auto">
          <a:xfrm>
            <a:off x="4620638" y="5090809"/>
            <a:ext cx="97277" cy="97277"/>
          </a:xfrm>
          <a:custGeom>
            <a:avLst/>
            <a:gdLst/>
            <a:ahLst/>
            <a:cxnLst/>
            <a:rect l="l" t="t" r="r" b="b"/>
            <a:pathLst>
              <a:path w="97277" h="97277" fill="norm" stroke="1" extrusionOk="0">
                <a:moveTo>
                  <a:pt x="48638" y="0"/>
                </a:moveTo>
                <a:lnTo>
                  <a:pt x="48638" y="0"/>
                </a:lnTo>
                <a:cubicBezTo>
                  <a:pt x="75483" y="0"/>
                  <a:pt x="97277" y="21794"/>
                  <a:pt x="97277" y="48638"/>
                </a:cubicBezTo>
                <a:lnTo>
                  <a:pt x="97277" y="48638"/>
                </a:lnTo>
                <a:cubicBezTo>
                  <a:pt x="97277" y="75483"/>
                  <a:pt x="75483" y="97277"/>
                  <a:pt x="48638" y="97277"/>
                </a:cubicBezTo>
                <a:lnTo>
                  <a:pt x="48638" y="97277"/>
                </a:lnTo>
                <a:cubicBezTo>
                  <a:pt x="21794" y="97277"/>
                  <a:pt x="0" y="75483"/>
                  <a:pt x="0" y="48638"/>
                </a:cubicBezTo>
                <a:lnTo>
                  <a:pt x="0" y="48638"/>
                </a:lnTo>
                <a:cubicBezTo>
                  <a:pt x="0" y="21794"/>
                  <a:pt x="21794" y="0"/>
                  <a:pt x="48638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17117034" name="Text 32"/>
          <p:cNvSpPr/>
          <p:nvPr/>
        </p:nvSpPr>
        <p:spPr bwMode="auto">
          <a:xfrm>
            <a:off x="4782765" y="5042170"/>
            <a:ext cx="494489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E0E2E5"/>
                </a:solidFill>
                <a:latin typeface="MiSans"/>
                <a:ea typeface="MiSans"/>
                <a:cs typeface="MiSans"/>
              </a:rPr>
              <a:t>Normal</a:t>
            </a:r>
            <a:endParaRPr lang="en-US" sz="1600"/>
          </a:p>
        </p:txBody>
      </p:sp>
      <p:sp>
        <p:nvSpPr>
          <p:cNvPr id="1450457271" name="Shape 33"/>
          <p:cNvSpPr/>
          <p:nvPr/>
        </p:nvSpPr>
        <p:spPr bwMode="auto">
          <a:xfrm>
            <a:off x="5994670" y="4989479"/>
            <a:ext cx="1369979" cy="299936"/>
          </a:xfrm>
          <a:custGeom>
            <a:avLst/>
            <a:gdLst/>
            <a:ahLst/>
            <a:cxnLst/>
            <a:rect l="l" t="t" r="r" b="b"/>
            <a:pathLst>
              <a:path w="1369979" h="299936" fill="norm" stroke="1" extrusionOk="0">
                <a:moveTo>
                  <a:pt x="64852" y="0"/>
                </a:moveTo>
                <a:lnTo>
                  <a:pt x="1305127" y="0"/>
                </a:lnTo>
                <a:cubicBezTo>
                  <a:pt x="1340943" y="0"/>
                  <a:pt x="1369979" y="29035"/>
                  <a:pt x="1369979" y="64852"/>
                </a:cubicBezTo>
                <a:lnTo>
                  <a:pt x="1369979" y="235084"/>
                </a:lnTo>
                <a:cubicBezTo>
                  <a:pt x="1369979" y="270901"/>
                  <a:pt x="1340943" y="299936"/>
                  <a:pt x="1305127" y="299936"/>
                </a:cubicBezTo>
                <a:lnTo>
                  <a:pt x="64852" y="299936"/>
                </a:lnTo>
                <a:cubicBezTo>
                  <a:pt x="29035" y="299936"/>
                  <a:pt x="0" y="270901"/>
                  <a:pt x="0" y="235084"/>
                </a:cubicBezTo>
                <a:lnTo>
                  <a:pt x="0" y="64852"/>
                </a:lnTo>
                <a:cubicBezTo>
                  <a:pt x="0" y="29059"/>
                  <a:pt x="29059" y="0"/>
                  <a:pt x="6485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E74C3C">
                <a:alpha val="30193"/>
              </a:srgbClr>
            </a:solidFill>
            <a:prstDash val="solid"/>
          </a:ln>
        </p:spPr>
      </p:sp>
      <p:sp>
        <p:nvSpPr>
          <p:cNvPr id="1595816934" name="Shape 34"/>
          <p:cNvSpPr/>
          <p:nvPr/>
        </p:nvSpPr>
        <p:spPr bwMode="auto">
          <a:xfrm>
            <a:off x="6063574" y="5090809"/>
            <a:ext cx="97277" cy="97277"/>
          </a:xfrm>
          <a:custGeom>
            <a:avLst/>
            <a:gdLst/>
            <a:ahLst/>
            <a:cxnLst/>
            <a:rect l="l" t="t" r="r" b="b"/>
            <a:pathLst>
              <a:path w="97277" h="97277" fill="norm" stroke="1" extrusionOk="0">
                <a:moveTo>
                  <a:pt x="48638" y="0"/>
                </a:moveTo>
                <a:lnTo>
                  <a:pt x="48638" y="0"/>
                </a:lnTo>
                <a:cubicBezTo>
                  <a:pt x="75483" y="0"/>
                  <a:pt x="97277" y="21794"/>
                  <a:pt x="97277" y="48638"/>
                </a:cubicBezTo>
                <a:lnTo>
                  <a:pt x="97277" y="48638"/>
                </a:lnTo>
                <a:cubicBezTo>
                  <a:pt x="97277" y="75483"/>
                  <a:pt x="75483" y="97277"/>
                  <a:pt x="48638" y="97277"/>
                </a:cubicBezTo>
                <a:lnTo>
                  <a:pt x="48638" y="97277"/>
                </a:lnTo>
                <a:cubicBezTo>
                  <a:pt x="21794" y="97277"/>
                  <a:pt x="0" y="75483"/>
                  <a:pt x="0" y="48638"/>
                </a:cubicBezTo>
                <a:lnTo>
                  <a:pt x="0" y="48638"/>
                </a:lnTo>
                <a:cubicBezTo>
                  <a:pt x="0" y="21794"/>
                  <a:pt x="21794" y="0"/>
                  <a:pt x="48638" y="0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1285592451" name="Text 35"/>
          <p:cNvSpPr/>
          <p:nvPr/>
        </p:nvSpPr>
        <p:spPr bwMode="auto">
          <a:xfrm>
            <a:off x="6225702" y="5042170"/>
            <a:ext cx="316149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E0E2E5"/>
                </a:solidFill>
                <a:latin typeface="MiSans"/>
                <a:ea typeface="MiSans"/>
                <a:cs typeface="MiSans"/>
              </a:rPr>
              <a:t>DoS</a:t>
            </a:r>
            <a:endParaRPr lang="en-US" sz="1600"/>
          </a:p>
        </p:txBody>
      </p:sp>
      <p:sp>
        <p:nvSpPr>
          <p:cNvPr id="1293747126" name="Shape 36"/>
          <p:cNvSpPr/>
          <p:nvPr/>
        </p:nvSpPr>
        <p:spPr bwMode="auto">
          <a:xfrm>
            <a:off x="7437606" y="4989479"/>
            <a:ext cx="1369979" cy="299936"/>
          </a:xfrm>
          <a:custGeom>
            <a:avLst/>
            <a:gdLst/>
            <a:ahLst/>
            <a:cxnLst/>
            <a:rect l="l" t="t" r="r" b="b"/>
            <a:pathLst>
              <a:path w="1369979" h="299936" fill="norm" stroke="1" extrusionOk="0">
                <a:moveTo>
                  <a:pt x="64852" y="0"/>
                </a:moveTo>
                <a:lnTo>
                  <a:pt x="1305127" y="0"/>
                </a:lnTo>
                <a:cubicBezTo>
                  <a:pt x="1340943" y="0"/>
                  <a:pt x="1369979" y="29035"/>
                  <a:pt x="1369979" y="64852"/>
                </a:cubicBezTo>
                <a:lnTo>
                  <a:pt x="1369979" y="235084"/>
                </a:lnTo>
                <a:cubicBezTo>
                  <a:pt x="1369979" y="270901"/>
                  <a:pt x="1340943" y="299936"/>
                  <a:pt x="1305127" y="299936"/>
                </a:cubicBezTo>
                <a:lnTo>
                  <a:pt x="64852" y="299936"/>
                </a:lnTo>
                <a:cubicBezTo>
                  <a:pt x="29035" y="299936"/>
                  <a:pt x="0" y="270901"/>
                  <a:pt x="0" y="235084"/>
                </a:cubicBezTo>
                <a:lnTo>
                  <a:pt x="0" y="64852"/>
                </a:lnTo>
                <a:cubicBezTo>
                  <a:pt x="0" y="29059"/>
                  <a:pt x="29059" y="0"/>
                  <a:pt x="6485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F39C12">
                <a:alpha val="30193"/>
              </a:srgbClr>
            </a:solidFill>
            <a:prstDash val="solid"/>
          </a:ln>
        </p:spPr>
      </p:sp>
      <p:sp>
        <p:nvSpPr>
          <p:cNvPr id="1137217864" name="Shape 37"/>
          <p:cNvSpPr/>
          <p:nvPr/>
        </p:nvSpPr>
        <p:spPr bwMode="auto">
          <a:xfrm>
            <a:off x="7506511" y="5090809"/>
            <a:ext cx="97277" cy="97277"/>
          </a:xfrm>
          <a:custGeom>
            <a:avLst/>
            <a:gdLst/>
            <a:ahLst/>
            <a:cxnLst/>
            <a:rect l="l" t="t" r="r" b="b"/>
            <a:pathLst>
              <a:path w="97277" h="97277" fill="norm" stroke="1" extrusionOk="0">
                <a:moveTo>
                  <a:pt x="48638" y="0"/>
                </a:moveTo>
                <a:lnTo>
                  <a:pt x="48638" y="0"/>
                </a:lnTo>
                <a:cubicBezTo>
                  <a:pt x="75483" y="0"/>
                  <a:pt x="97277" y="21794"/>
                  <a:pt x="97277" y="48638"/>
                </a:cubicBezTo>
                <a:lnTo>
                  <a:pt x="97277" y="48638"/>
                </a:lnTo>
                <a:cubicBezTo>
                  <a:pt x="97277" y="75483"/>
                  <a:pt x="75483" y="97277"/>
                  <a:pt x="48638" y="97277"/>
                </a:cubicBezTo>
                <a:lnTo>
                  <a:pt x="48638" y="97277"/>
                </a:lnTo>
                <a:cubicBezTo>
                  <a:pt x="21794" y="97277"/>
                  <a:pt x="0" y="75483"/>
                  <a:pt x="0" y="48638"/>
                </a:cubicBezTo>
                <a:lnTo>
                  <a:pt x="0" y="48638"/>
                </a:lnTo>
                <a:cubicBezTo>
                  <a:pt x="0" y="21794"/>
                  <a:pt x="21794" y="0"/>
                  <a:pt x="48638" y="0"/>
                </a:cubicBezTo>
                <a:close/>
              </a:path>
            </a:pathLst>
          </a:custGeom>
          <a:solidFill>
            <a:srgbClr val="F39C12"/>
          </a:solidFill>
          <a:ln/>
        </p:spPr>
      </p:sp>
      <p:sp>
        <p:nvSpPr>
          <p:cNvPr id="1182464700" name="Text 38"/>
          <p:cNvSpPr/>
          <p:nvPr/>
        </p:nvSpPr>
        <p:spPr bwMode="auto">
          <a:xfrm>
            <a:off x="7668638" y="5042170"/>
            <a:ext cx="421532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E0E2E5"/>
                </a:solidFill>
                <a:latin typeface="MiSans"/>
                <a:ea typeface="MiSans"/>
                <a:cs typeface="MiSans"/>
              </a:rPr>
              <a:t>Probe</a:t>
            </a:r>
            <a:endParaRPr lang="en-US" sz="1600"/>
          </a:p>
        </p:txBody>
      </p:sp>
      <p:sp>
        <p:nvSpPr>
          <p:cNvPr id="528450634" name="Shape 39"/>
          <p:cNvSpPr/>
          <p:nvPr/>
        </p:nvSpPr>
        <p:spPr bwMode="auto">
          <a:xfrm>
            <a:off x="8880543" y="4989479"/>
            <a:ext cx="1369979" cy="299936"/>
          </a:xfrm>
          <a:custGeom>
            <a:avLst/>
            <a:gdLst/>
            <a:ahLst/>
            <a:cxnLst/>
            <a:rect l="l" t="t" r="r" b="b"/>
            <a:pathLst>
              <a:path w="1369979" h="299936" fill="norm" stroke="1" extrusionOk="0">
                <a:moveTo>
                  <a:pt x="64852" y="0"/>
                </a:moveTo>
                <a:lnTo>
                  <a:pt x="1305127" y="0"/>
                </a:lnTo>
                <a:cubicBezTo>
                  <a:pt x="1340943" y="0"/>
                  <a:pt x="1369979" y="29035"/>
                  <a:pt x="1369979" y="64852"/>
                </a:cubicBezTo>
                <a:lnTo>
                  <a:pt x="1369979" y="235084"/>
                </a:lnTo>
                <a:cubicBezTo>
                  <a:pt x="1369979" y="270901"/>
                  <a:pt x="1340943" y="299936"/>
                  <a:pt x="1305127" y="299936"/>
                </a:cubicBezTo>
                <a:lnTo>
                  <a:pt x="64852" y="299936"/>
                </a:lnTo>
                <a:cubicBezTo>
                  <a:pt x="29035" y="299936"/>
                  <a:pt x="0" y="270901"/>
                  <a:pt x="0" y="235084"/>
                </a:cubicBezTo>
                <a:lnTo>
                  <a:pt x="0" y="64852"/>
                </a:lnTo>
                <a:cubicBezTo>
                  <a:pt x="0" y="29059"/>
                  <a:pt x="29059" y="0"/>
                  <a:pt x="6485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9B59B6">
                <a:alpha val="30193"/>
              </a:srgbClr>
            </a:solidFill>
            <a:prstDash val="solid"/>
          </a:ln>
        </p:spPr>
      </p:sp>
      <p:sp>
        <p:nvSpPr>
          <p:cNvPr id="2064265336" name="Shape 40"/>
          <p:cNvSpPr/>
          <p:nvPr/>
        </p:nvSpPr>
        <p:spPr bwMode="auto">
          <a:xfrm>
            <a:off x="8949447" y="5090809"/>
            <a:ext cx="97277" cy="97277"/>
          </a:xfrm>
          <a:custGeom>
            <a:avLst/>
            <a:gdLst/>
            <a:ahLst/>
            <a:cxnLst/>
            <a:rect l="l" t="t" r="r" b="b"/>
            <a:pathLst>
              <a:path w="97277" h="97277" fill="norm" stroke="1" extrusionOk="0">
                <a:moveTo>
                  <a:pt x="48638" y="0"/>
                </a:moveTo>
                <a:lnTo>
                  <a:pt x="48638" y="0"/>
                </a:lnTo>
                <a:cubicBezTo>
                  <a:pt x="75483" y="0"/>
                  <a:pt x="97277" y="21794"/>
                  <a:pt x="97277" y="48638"/>
                </a:cubicBezTo>
                <a:lnTo>
                  <a:pt x="97277" y="48638"/>
                </a:lnTo>
                <a:cubicBezTo>
                  <a:pt x="97277" y="75483"/>
                  <a:pt x="75483" y="97277"/>
                  <a:pt x="48638" y="97277"/>
                </a:cubicBezTo>
                <a:lnTo>
                  <a:pt x="48638" y="97277"/>
                </a:lnTo>
                <a:cubicBezTo>
                  <a:pt x="21794" y="97277"/>
                  <a:pt x="0" y="75483"/>
                  <a:pt x="0" y="48638"/>
                </a:cubicBezTo>
                <a:lnTo>
                  <a:pt x="0" y="48638"/>
                </a:lnTo>
                <a:cubicBezTo>
                  <a:pt x="0" y="21794"/>
                  <a:pt x="21794" y="0"/>
                  <a:pt x="48638" y="0"/>
                </a:cubicBezTo>
                <a:close/>
              </a:path>
            </a:pathLst>
          </a:custGeom>
          <a:solidFill>
            <a:srgbClr val="9B59B6"/>
          </a:solidFill>
          <a:ln/>
        </p:spPr>
      </p:sp>
      <p:sp>
        <p:nvSpPr>
          <p:cNvPr id="399213633" name="Text 41"/>
          <p:cNvSpPr/>
          <p:nvPr/>
        </p:nvSpPr>
        <p:spPr bwMode="auto">
          <a:xfrm>
            <a:off x="9111574" y="5042170"/>
            <a:ext cx="291830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E0E2E5"/>
                </a:solidFill>
                <a:latin typeface="MiSans"/>
                <a:ea typeface="MiSans"/>
                <a:cs typeface="MiSans"/>
              </a:rPr>
              <a:t>R2L</a:t>
            </a:r>
            <a:endParaRPr lang="en-US" sz="1600"/>
          </a:p>
        </p:txBody>
      </p:sp>
      <p:sp>
        <p:nvSpPr>
          <p:cNvPr id="1165488501" name="Shape 42"/>
          <p:cNvSpPr/>
          <p:nvPr/>
        </p:nvSpPr>
        <p:spPr bwMode="auto">
          <a:xfrm>
            <a:off x="10323479" y="4989479"/>
            <a:ext cx="1369979" cy="299936"/>
          </a:xfrm>
          <a:custGeom>
            <a:avLst/>
            <a:gdLst/>
            <a:ahLst/>
            <a:cxnLst/>
            <a:rect l="l" t="t" r="r" b="b"/>
            <a:pathLst>
              <a:path w="1369979" h="299936" fill="norm" stroke="1" extrusionOk="0">
                <a:moveTo>
                  <a:pt x="64852" y="0"/>
                </a:moveTo>
                <a:lnTo>
                  <a:pt x="1305127" y="0"/>
                </a:lnTo>
                <a:cubicBezTo>
                  <a:pt x="1340943" y="0"/>
                  <a:pt x="1369979" y="29035"/>
                  <a:pt x="1369979" y="64852"/>
                </a:cubicBezTo>
                <a:lnTo>
                  <a:pt x="1369979" y="235084"/>
                </a:lnTo>
                <a:cubicBezTo>
                  <a:pt x="1369979" y="270901"/>
                  <a:pt x="1340943" y="299936"/>
                  <a:pt x="1305127" y="299936"/>
                </a:cubicBezTo>
                <a:lnTo>
                  <a:pt x="64852" y="299936"/>
                </a:lnTo>
                <a:cubicBezTo>
                  <a:pt x="29035" y="299936"/>
                  <a:pt x="0" y="270901"/>
                  <a:pt x="0" y="235084"/>
                </a:cubicBezTo>
                <a:lnTo>
                  <a:pt x="0" y="64852"/>
                </a:lnTo>
                <a:cubicBezTo>
                  <a:pt x="0" y="29059"/>
                  <a:pt x="29059" y="0"/>
                  <a:pt x="6485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7F8C8D">
                <a:alpha val="30193"/>
              </a:srgbClr>
            </a:solidFill>
            <a:prstDash val="solid"/>
          </a:ln>
        </p:spPr>
      </p:sp>
      <p:sp>
        <p:nvSpPr>
          <p:cNvPr id="1383105160" name="Shape 43"/>
          <p:cNvSpPr/>
          <p:nvPr/>
        </p:nvSpPr>
        <p:spPr bwMode="auto">
          <a:xfrm>
            <a:off x="10392383" y="5090809"/>
            <a:ext cx="97277" cy="97277"/>
          </a:xfrm>
          <a:custGeom>
            <a:avLst/>
            <a:gdLst/>
            <a:ahLst/>
            <a:cxnLst/>
            <a:rect l="l" t="t" r="r" b="b"/>
            <a:pathLst>
              <a:path w="97277" h="97277" fill="norm" stroke="1" extrusionOk="0">
                <a:moveTo>
                  <a:pt x="48638" y="0"/>
                </a:moveTo>
                <a:lnTo>
                  <a:pt x="48638" y="0"/>
                </a:lnTo>
                <a:cubicBezTo>
                  <a:pt x="75483" y="0"/>
                  <a:pt x="97277" y="21794"/>
                  <a:pt x="97277" y="48638"/>
                </a:cubicBezTo>
                <a:lnTo>
                  <a:pt x="97277" y="48638"/>
                </a:lnTo>
                <a:cubicBezTo>
                  <a:pt x="97277" y="75483"/>
                  <a:pt x="75483" y="97277"/>
                  <a:pt x="48638" y="97277"/>
                </a:cubicBezTo>
                <a:lnTo>
                  <a:pt x="48638" y="97277"/>
                </a:lnTo>
                <a:cubicBezTo>
                  <a:pt x="21794" y="97277"/>
                  <a:pt x="0" y="75483"/>
                  <a:pt x="0" y="48638"/>
                </a:cubicBezTo>
                <a:lnTo>
                  <a:pt x="0" y="48638"/>
                </a:lnTo>
                <a:cubicBezTo>
                  <a:pt x="0" y="21794"/>
                  <a:pt x="21794" y="0"/>
                  <a:pt x="48638" y="0"/>
                </a:cubicBezTo>
                <a:close/>
              </a:path>
            </a:pathLst>
          </a:custGeom>
          <a:solidFill>
            <a:srgbClr val="7F8C8D"/>
          </a:solidFill>
          <a:ln/>
        </p:spPr>
      </p:sp>
      <p:sp>
        <p:nvSpPr>
          <p:cNvPr id="595928948" name="Text 44"/>
          <p:cNvSpPr/>
          <p:nvPr/>
        </p:nvSpPr>
        <p:spPr bwMode="auto">
          <a:xfrm>
            <a:off x="10554510" y="5042170"/>
            <a:ext cx="308042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E0E2E5"/>
                </a:solidFill>
                <a:latin typeface="MiSans"/>
                <a:ea typeface="MiSans"/>
                <a:cs typeface="MiSans"/>
              </a:rPr>
              <a:t>U2R</a:t>
            </a:r>
            <a:endParaRPr lang="en-US" sz="1600"/>
          </a:p>
        </p:txBody>
      </p:sp>
      <p:pic>
        <p:nvPicPr>
          <p:cNvPr id="774046429" name="Image 0" descr="https://kimi-img.moonshot.cn/pub/slides/26-01-29-04:26:41-d5t720cbcdrm5nmdfcm0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333142" y="1722606"/>
            <a:ext cx="3528108" cy="30034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1A1D2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002311" name="Shape 0"/>
          <p:cNvSpPr/>
          <p:nvPr/>
        </p:nvSpPr>
        <p:spPr bwMode="auto">
          <a:xfrm>
            <a:off x="317500" y="349250"/>
            <a:ext cx="47625" cy="317500"/>
          </a:xfrm>
          <a:custGeom>
            <a:avLst/>
            <a:gdLst/>
            <a:ahLst/>
            <a:cxnLst/>
            <a:rect l="l" t="t" r="r" b="b"/>
            <a:pathLst>
              <a:path w="47625" h="317500" fill="norm" stroke="1" extrusionOk="0">
                <a:moveTo>
                  <a:pt x="23813" y="0"/>
                </a:moveTo>
                <a:lnTo>
                  <a:pt x="23813" y="0"/>
                </a:lnTo>
                <a:cubicBezTo>
                  <a:pt x="36955" y="0"/>
                  <a:pt x="47625" y="10670"/>
                  <a:pt x="47625" y="23813"/>
                </a:cubicBezTo>
                <a:lnTo>
                  <a:pt x="47625" y="293688"/>
                </a:lnTo>
                <a:cubicBezTo>
                  <a:pt x="47625" y="306830"/>
                  <a:pt x="36955" y="317500"/>
                  <a:pt x="23813" y="317500"/>
                </a:cubicBezTo>
                <a:lnTo>
                  <a:pt x="23813" y="317500"/>
                </a:lnTo>
                <a:cubicBezTo>
                  <a:pt x="10670" y="317500"/>
                  <a:pt x="0" y="306830"/>
                  <a:pt x="0" y="293688"/>
                </a:cubicBezTo>
                <a:lnTo>
                  <a:pt x="0" y="23813"/>
                </a:lnTo>
                <a:cubicBezTo>
                  <a:pt x="0" y="10670"/>
                  <a:pt x="10670" y="0"/>
                  <a:pt x="23812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411937983" name="Text 1"/>
          <p:cNvSpPr/>
          <p:nvPr/>
        </p:nvSpPr>
        <p:spPr bwMode="auto">
          <a:xfrm flipH="0" flipV="0">
            <a:off x="460374" y="317499"/>
            <a:ext cx="11831519" cy="380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  <a:defRPr/>
            </a:pPr>
            <a:r>
              <a:rPr lang="en-US" sz="3000" b="1">
                <a:solidFill>
                  <a:srgbClr val="E0E2E5"/>
                </a:solidFill>
                <a:latin typeface="MiSans"/>
                <a:ea typeface="MiSans"/>
                <a:cs typeface="MiSans"/>
              </a:rPr>
              <a:t>Patrones Distintivos por Tipo de Ataque</a:t>
            </a:r>
            <a:endParaRPr lang="en-US" sz="1600"/>
          </a:p>
        </p:txBody>
      </p:sp>
      <p:sp>
        <p:nvSpPr>
          <p:cNvPr id="2116655723" name="Text 2"/>
          <p:cNvSpPr/>
          <p:nvPr/>
        </p:nvSpPr>
        <p:spPr bwMode="auto">
          <a:xfrm>
            <a:off x="507999" y="838814"/>
            <a:ext cx="11445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250">
                <a:solidFill>
                  <a:srgbClr val="5F85A5"/>
                </a:solidFill>
                <a:latin typeface="MiSans"/>
                <a:ea typeface="MiSans"/>
                <a:cs typeface="MiSans"/>
              </a:rPr>
              <a:t>Firmas Específicas Identificadas en el Análisis</a:t>
            </a:r>
            <a:endParaRPr lang="en-US" sz="1600"/>
          </a:p>
        </p:txBody>
      </p:sp>
      <p:sp>
        <p:nvSpPr>
          <p:cNvPr id="469355897" name="Shape 3"/>
          <p:cNvSpPr/>
          <p:nvPr/>
        </p:nvSpPr>
        <p:spPr bwMode="auto">
          <a:xfrm>
            <a:off x="321469" y="1146969"/>
            <a:ext cx="5707063" cy="2420938"/>
          </a:xfrm>
          <a:custGeom>
            <a:avLst/>
            <a:gdLst/>
            <a:ahLst/>
            <a:cxnLst/>
            <a:rect l="l" t="t" r="r" b="b"/>
            <a:pathLst>
              <a:path w="5707063" h="2420938" fill="norm" stroke="1" extrusionOk="0">
                <a:moveTo>
                  <a:pt x="127002" y="0"/>
                </a:moveTo>
                <a:lnTo>
                  <a:pt x="5580060" y="0"/>
                </a:lnTo>
                <a:cubicBezTo>
                  <a:pt x="5650202" y="0"/>
                  <a:pt x="5707062" y="56861"/>
                  <a:pt x="5707062" y="127002"/>
                </a:cubicBezTo>
                <a:lnTo>
                  <a:pt x="5707063" y="2293935"/>
                </a:lnTo>
                <a:cubicBezTo>
                  <a:pt x="5707062" y="2364077"/>
                  <a:pt x="5650202" y="2420938"/>
                  <a:pt x="5580060" y="2420938"/>
                </a:cubicBezTo>
                <a:lnTo>
                  <a:pt x="127002" y="2420938"/>
                </a:lnTo>
                <a:cubicBezTo>
                  <a:pt x="56861" y="2420938"/>
                  <a:pt x="0" y="2364077"/>
                  <a:pt x="0" y="2293935"/>
                </a:cubicBezTo>
                <a:lnTo>
                  <a:pt x="0" y="127002"/>
                </a:lnTo>
                <a:cubicBezTo>
                  <a:pt x="0" y="56908"/>
                  <a:pt x="56908" y="0"/>
                  <a:pt x="127002" y="0"/>
                </a:cubicBezTo>
                <a:close/>
              </a:path>
            </a:pathLst>
          </a:custGeom>
          <a:solidFill>
            <a:srgbClr val="E74C3C">
              <a:alpha val="10196"/>
            </a:srgbClr>
          </a:solidFill>
          <a:ln w="12700">
            <a:solidFill>
              <a:srgbClr val="E74C3C">
                <a:alpha val="40000"/>
              </a:srgbClr>
            </a:solidFill>
            <a:prstDash val="solid"/>
          </a:ln>
        </p:spPr>
      </p:sp>
      <p:sp>
        <p:nvSpPr>
          <p:cNvPr id="254296874" name="Shape 4"/>
          <p:cNvSpPr/>
          <p:nvPr/>
        </p:nvSpPr>
        <p:spPr bwMode="auto">
          <a:xfrm>
            <a:off x="488156" y="1313656"/>
            <a:ext cx="436563" cy="436563"/>
          </a:xfrm>
          <a:custGeom>
            <a:avLst/>
            <a:gdLst/>
            <a:ahLst/>
            <a:cxnLst/>
            <a:rect l="l" t="t" r="r" b="b"/>
            <a:pathLst>
              <a:path w="436563" h="436563" fill="norm" stroke="1" extrusionOk="0">
                <a:moveTo>
                  <a:pt x="95249" y="0"/>
                </a:moveTo>
                <a:lnTo>
                  <a:pt x="341313" y="0"/>
                </a:lnTo>
                <a:cubicBezTo>
                  <a:pt x="393918" y="0"/>
                  <a:pt x="436563" y="42645"/>
                  <a:pt x="436563" y="95249"/>
                </a:cubicBezTo>
                <a:lnTo>
                  <a:pt x="436563" y="341313"/>
                </a:lnTo>
                <a:cubicBezTo>
                  <a:pt x="436563" y="393918"/>
                  <a:pt x="393918" y="436563"/>
                  <a:pt x="341313" y="436563"/>
                </a:cubicBezTo>
                <a:lnTo>
                  <a:pt x="95249" y="436563"/>
                </a:lnTo>
                <a:cubicBezTo>
                  <a:pt x="42645" y="436563"/>
                  <a:pt x="0" y="393918"/>
                  <a:pt x="0" y="341313"/>
                </a:cubicBezTo>
                <a:lnTo>
                  <a:pt x="0" y="95249"/>
                </a:lnTo>
                <a:cubicBezTo>
                  <a:pt x="0" y="42645"/>
                  <a:pt x="42645" y="0"/>
                  <a:pt x="95249" y="0"/>
                </a:cubicBezTo>
                <a:close/>
              </a:path>
            </a:pathLst>
          </a:custGeom>
          <a:solidFill>
            <a:srgbClr val="E74C3C">
              <a:alpha val="20000"/>
            </a:srgbClr>
          </a:solidFill>
          <a:ln w="12700">
            <a:solidFill>
              <a:srgbClr val="E74C3C">
                <a:alpha val="40000"/>
              </a:srgbClr>
            </a:solidFill>
            <a:prstDash val="solid"/>
          </a:ln>
        </p:spPr>
      </p:sp>
      <p:sp>
        <p:nvSpPr>
          <p:cNvPr id="477480872" name="Shape 5"/>
          <p:cNvSpPr/>
          <p:nvPr/>
        </p:nvSpPr>
        <p:spPr bwMode="auto">
          <a:xfrm>
            <a:off x="599281" y="1436688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 fill="norm" stroke="1" extrusionOk="0">
                <a:moveTo>
                  <a:pt x="178594" y="-5953"/>
                </a:moveTo>
                <a:cubicBezTo>
                  <a:pt x="181161" y="-5953"/>
                  <a:pt x="183431" y="-4316"/>
                  <a:pt x="184249" y="-1898"/>
                </a:cubicBezTo>
                <a:lnTo>
                  <a:pt x="189272" y="13134"/>
                </a:lnTo>
                <a:lnTo>
                  <a:pt x="204304" y="18157"/>
                </a:lnTo>
                <a:cubicBezTo>
                  <a:pt x="206722" y="18976"/>
                  <a:pt x="208359" y="21245"/>
                  <a:pt x="208359" y="23812"/>
                </a:cubicBezTo>
                <a:cubicBezTo>
                  <a:pt x="208359" y="26380"/>
                  <a:pt x="206722" y="28649"/>
                  <a:pt x="204304" y="29468"/>
                </a:cubicBezTo>
                <a:lnTo>
                  <a:pt x="189272" y="34491"/>
                </a:lnTo>
                <a:lnTo>
                  <a:pt x="184249" y="49523"/>
                </a:lnTo>
                <a:cubicBezTo>
                  <a:pt x="183431" y="51941"/>
                  <a:pt x="181161" y="53578"/>
                  <a:pt x="178594" y="53578"/>
                </a:cubicBezTo>
                <a:cubicBezTo>
                  <a:pt x="176026" y="53578"/>
                  <a:pt x="173757" y="51941"/>
                  <a:pt x="172938" y="49523"/>
                </a:cubicBezTo>
                <a:lnTo>
                  <a:pt x="167915" y="34491"/>
                </a:lnTo>
                <a:lnTo>
                  <a:pt x="152884" y="29468"/>
                </a:lnTo>
                <a:cubicBezTo>
                  <a:pt x="150465" y="28649"/>
                  <a:pt x="148828" y="26380"/>
                  <a:pt x="148828" y="23812"/>
                </a:cubicBezTo>
                <a:cubicBezTo>
                  <a:pt x="148828" y="21245"/>
                  <a:pt x="150465" y="18976"/>
                  <a:pt x="152884" y="18157"/>
                </a:cubicBezTo>
                <a:lnTo>
                  <a:pt x="167915" y="13134"/>
                </a:lnTo>
                <a:lnTo>
                  <a:pt x="172938" y="-1898"/>
                </a:lnTo>
                <a:cubicBezTo>
                  <a:pt x="173757" y="-4316"/>
                  <a:pt x="176026" y="-5953"/>
                  <a:pt x="178594" y="-5953"/>
                </a:cubicBezTo>
                <a:close/>
                <a:moveTo>
                  <a:pt x="119583" y="36240"/>
                </a:moveTo>
                <a:cubicBezTo>
                  <a:pt x="124234" y="31589"/>
                  <a:pt x="131787" y="31589"/>
                  <a:pt x="136438" y="36240"/>
                </a:cubicBezTo>
                <a:lnTo>
                  <a:pt x="166204" y="66005"/>
                </a:lnTo>
                <a:cubicBezTo>
                  <a:pt x="170855" y="70656"/>
                  <a:pt x="170855" y="78209"/>
                  <a:pt x="166204" y="82860"/>
                </a:cubicBezTo>
                <a:lnTo>
                  <a:pt x="162148" y="86916"/>
                </a:lnTo>
                <a:cubicBezTo>
                  <a:pt x="165088" y="95101"/>
                  <a:pt x="166688" y="103919"/>
                  <a:pt x="166688" y="113147"/>
                </a:cubicBezTo>
                <a:cubicBezTo>
                  <a:pt x="166688" y="155897"/>
                  <a:pt x="132048" y="190537"/>
                  <a:pt x="89297" y="190537"/>
                </a:cubicBezTo>
                <a:cubicBezTo>
                  <a:pt x="46546" y="190537"/>
                  <a:pt x="11906" y="155860"/>
                  <a:pt x="11906" y="113109"/>
                </a:cubicBezTo>
                <a:cubicBezTo>
                  <a:pt x="11906" y="70358"/>
                  <a:pt x="46546" y="35719"/>
                  <a:pt x="89297" y="35719"/>
                </a:cubicBezTo>
                <a:cubicBezTo>
                  <a:pt x="98487" y="35719"/>
                  <a:pt x="107342" y="37319"/>
                  <a:pt x="115528" y="40295"/>
                </a:cubicBezTo>
                <a:lnTo>
                  <a:pt x="119583" y="36240"/>
                </a:lnTo>
                <a:close/>
                <a:moveTo>
                  <a:pt x="53578" y="113109"/>
                </a:moveTo>
                <a:cubicBezTo>
                  <a:pt x="53578" y="93390"/>
                  <a:pt x="69577" y="77391"/>
                  <a:pt x="89297" y="77391"/>
                </a:cubicBezTo>
                <a:cubicBezTo>
                  <a:pt x="94245" y="77391"/>
                  <a:pt x="98227" y="73409"/>
                  <a:pt x="98227" y="68461"/>
                </a:cubicBezTo>
                <a:cubicBezTo>
                  <a:pt x="98227" y="63512"/>
                  <a:pt x="94245" y="59531"/>
                  <a:pt x="89297" y="59531"/>
                </a:cubicBezTo>
                <a:cubicBezTo>
                  <a:pt x="59717" y="59531"/>
                  <a:pt x="35719" y="83530"/>
                  <a:pt x="35719" y="113109"/>
                </a:cubicBezTo>
                <a:cubicBezTo>
                  <a:pt x="35719" y="118058"/>
                  <a:pt x="39700" y="122039"/>
                  <a:pt x="44648" y="122039"/>
                </a:cubicBezTo>
                <a:cubicBezTo>
                  <a:pt x="49597" y="122039"/>
                  <a:pt x="53578" y="118058"/>
                  <a:pt x="53578" y="113109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1584186072" name="Text 6"/>
          <p:cNvSpPr/>
          <p:nvPr/>
        </p:nvSpPr>
        <p:spPr bwMode="auto">
          <a:xfrm>
            <a:off x="1023938" y="1309688"/>
            <a:ext cx="1476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500" b="1">
                <a:solidFill>
                  <a:srgbClr val="E74C3C"/>
                </a:solidFill>
                <a:latin typeface="MiSans"/>
                <a:ea typeface="MiSans"/>
                <a:cs typeface="MiSans"/>
              </a:rPr>
              <a:t>DoS</a:t>
            </a:r>
            <a:endParaRPr lang="en-US" sz="1600"/>
          </a:p>
        </p:txBody>
      </p:sp>
      <p:sp>
        <p:nvSpPr>
          <p:cNvPr id="2099039918" name="Text 7"/>
          <p:cNvSpPr/>
          <p:nvPr/>
        </p:nvSpPr>
        <p:spPr bwMode="auto">
          <a:xfrm>
            <a:off x="1023938" y="1563688"/>
            <a:ext cx="144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E0E2E5">
                    <a:alpha val="70000"/>
                  </a:srgbClr>
                </a:solidFill>
                <a:latin typeface="MiSans"/>
                <a:ea typeface="MiSans"/>
                <a:cs typeface="MiSans"/>
              </a:rPr>
              <a:t>Denegación de Servicio</a:t>
            </a:r>
            <a:endParaRPr lang="en-US" sz="1600"/>
          </a:p>
        </p:txBody>
      </p:sp>
      <p:sp>
        <p:nvSpPr>
          <p:cNvPr id="1756912284" name="Shape 8"/>
          <p:cNvSpPr/>
          <p:nvPr/>
        </p:nvSpPr>
        <p:spPr bwMode="auto">
          <a:xfrm>
            <a:off x="488156" y="1885156"/>
            <a:ext cx="5373688" cy="357188"/>
          </a:xfrm>
          <a:custGeom>
            <a:avLst/>
            <a:gdLst/>
            <a:ahLst/>
            <a:cxnLst/>
            <a:rect l="l" t="t" r="r" b="b"/>
            <a:pathLst>
              <a:path w="5373688" h="357188" fill="norm" stroke="1" extrusionOk="0">
                <a:moveTo>
                  <a:pt x="63501" y="0"/>
                </a:moveTo>
                <a:lnTo>
                  <a:pt x="5310187" y="0"/>
                </a:lnTo>
                <a:cubicBezTo>
                  <a:pt x="5345257" y="0"/>
                  <a:pt x="5373688" y="28430"/>
                  <a:pt x="5373688" y="63501"/>
                </a:cubicBezTo>
                <a:lnTo>
                  <a:pt x="5373688" y="293687"/>
                </a:lnTo>
                <a:cubicBezTo>
                  <a:pt x="5373688" y="328757"/>
                  <a:pt x="5345257" y="357188"/>
                  <a:pt x="5310187" y="357188"/>
                </a:cubicBezTo>
                <a:lnTo>
                  <a:pt x="63501" y="357188"/>
                </a:lnTo>
                <a:cubicBezTo>
                  <a:pt x="28430" y="357188"/>
                  <a:pt x="0" y="328757"/>
                  <a:pt x="0" y="293687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E74C3C">
                <a:alpha val="30193"/>
              </a:srgbClr>
            </a:solidFill>
            <a:prstDash val="solid"/>
          </a:ln>
        </p:spPr>
      </p:sp>
      <p:sp>
        <p:nvSpPr>
          <p:cNvPr id="545190800" name="Text 9"/>
          <p:cNvSpPr/>
          <p:nvPr/>
        </p:nvSpPr>
        <p:spPr bwMode="auto">
          <a:xfrm>
            <a:off x="600075" y="1968500"/>
            <a:ext cx="20374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E0E2E5">
                    <a:alpha val="80000"/>
                  </a:srgbClr>
                </a:solidFill>
                <a:latin typeface="MiSans"/>
                <a:ea typeface="MiSans"/>
                <a:cs typeface="MiSans"/>
              </a:rPr>
              <a:t>src_bytes y dst_bytes</a:t>
            </a:r>
            <a:endParaRPr lang="en-US" sz="1600"/>
          </a:p>
        </p:txBody>
      </p:sp>
      <p:sp>
        <p:nvSpPr>
          <p:cNvPr id="1867508076" name="Text 10"/>
          <p:cNvSpPr/>
          <p:nvPr/>
        </p:nvSpPr>
        <p:spPr bwMode="auto">
          <a:xfrm>
            <a:off x="5663034" y="1952625"/>
            <a:ext cx="182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250" b="1">
                <a:solidFill>
                  <a:srgbClr val="E74C3C"/>
                </a:solidFill>
                <a:latin typeface="MiSans"/>
                <a:ea typeface="MiSans"/>
                <a:cs typeface="MiSans"/>
              </a:rPr>
              <a:t>0</a:t>
            </a:r>
            <a:endParaRPr lang="en-US" sz="1600"/>
          </a:p>
        </p:txBody>
      </p:sp>
      <p:sp>
        <p:nvSpPr>
          <p:cNvPr id="1865604690" name="Shape 11"/>
          <p:cNvSpPr/>
          <p:nvPr/>
        </p:nvSpPr>
        <p:spPr bwMode="auto">
          <a:xfrm>
            <a:off x="488156" y="2313781"/>
            <a:ext cx="5373688" cy="357188"/>
          </a:xfrm>
          <a:custGeom>
            <a:avLst/>
            <a:gdLst/>
            <a:ahLst/>
            <a:cxnLst/>
            <a:rect l="l" t="t" r="r" b="b"/>
            <a:pathLst>
              <a:path w="5373688" h="357188" fill="norm" stroke="1" extrusionOk="0">
                <a:moveTo>
                  <a:pt x="63501" y="0"/>
                </a:moveTo>
                <a:lnTo>
                  <a:pt x="5310187" y="0"/>
                </a:lnTo>
                <a:cubicBezTo>
                  <a:pt x="5345257" y="0"/>
                  <a:pt x="5373688" y="28430"/>
                  <a:pt x="5373688" y="63501"/>
                </a:cubicBezTo>
                <a:lnTo>
                  <a:pt x="5373688" y="293687"/>
                </a:lnTo>
                <a:cubicBezTo>
                  <a:pt x="5373688" y="328757"/>
                  <a:pt x="5345257" y="357188"/>
                  <a:pt x="5310187" y="357188"/>
                </a:cubicBezTo>
                <a:lnTo>
                  <a:pt x="63501" y="357188"/>
                </a:lnTo>
                <a:cubicBezTo>
                  <a:pt x="28430" y="357188"/>
                  <a:pt x="0" y="328757"/>
                  <a:pt x="0" y="293687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E74C3C">
                <a:alpha val="30193"/>
              </a:srgbClr>
            </a:solidFill>
            <a:prstDash val="solid"/>
          </a:ln>
        </p:spPr>
      </p:sp>
      <p:sp>
        <p:nvSpPr>
          <p:cNvPr id="1198667898" name="Text 12"/>
          <p:cNvSpPr/>
          <p:nvPr/>
        </p:nvSpPr>
        <p:spPr bwMode="auto">
          <a:xfrm>
            <a:off x="587375" y="2397125"/>
            <a:ext cx="69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E0E2E5">
                    <a:alpha val="80000"/>
                  </a:srgbClr>
                </a:solidFill>
                <a:latin typeface="MiSans"/>
                <a:ea typeface="MiSans"/>
                <a:cs typeface="MiSans"/>
              </a:rPr>
              <a:t>serror_rate</a:t>
            </a:r>
            <a:endParaRPr lang="en-US" sz="1600"/>
          </a:p>
        </p:txBody>
      </p:sp>
      <p:sp>
        <p:nvSpPr>
          <p:cNvPr id="1569081659" name="Text 13"/>
          <p:cNvSpPr/>
          <p:nvPr/>
        </p:nvSpPr>
        <p:spPr bwMode="auto">
          <a:xfrm>
            <a:off x="5558917" y="2381250"/>
            <a:ext cx="28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250" b="1">
                <a:solidFill>
                  <a:srgbClr val="E74C3C"/>
                </a:solidFill>
                <a:latin typeface="MiSans"/>
                <a:ea typeface="MiSans"/>
                <a:cs typeface="MiSans"/>
              </a:rPr>
              <a:t>1.0</a:t>
            </a:r>
            <a:endParaRPr lang="en-US" sz="1600"/>
          </a:p>
        </p:txBody>
      </p:sp>
      <p:sp>
        <p:nvSpPr>
          <p:cNvPr id="349414039" name="Shape 14"/>
          <p:cNvSpPr/>
          <p:nvPr/>
        </p:nvSpPr>
        <p:spPr bwMode="auto">
          <a:xfrm>
            <a:off x="488156" y="2742406"/>
            <a:ext cx="5373688" cy="357188"/>
          </a:xfrm>
          <a:custGeom>
            <a:avLst/>
            <a:gdLst/>
            <a:ahLst/>
            <a:cxnLst/>
            <a:rect l="l" t="t" r="r" b="b"/>
            <a:pathLst>
              <a:path w="5373688" h="357188" fill="norm" stroke="1" extrusionOk="0">
                <a:moveTo>
                  <a:pt x="63501" y="0"/>
                </a:moveTo>
                <a:lnTo>
                  <a:pt x="5310187" y="0"/>
                </a:lnTo>
                <a:cubicBezTo>
                  <a:pt x="5345257" y="0"/>
                  <a:pt x="5373688" y="28430"/>
                  <a:pt x="5373688" y="63501"/>
                </a:cubicBezTo>
                <a:lnTo>
                  <a:pt x="5373688" y="293687"/>
                </a:lnTo>
                <a:cubicBezTo>
                  <a:pt x="5373688" y="328757"/>
                  <a:pt x="5345257" y="357188"/>
                  <a:pt x="5310187" y="357188"/>
                </a:cubicBezTo>
                <a:lnTo>
                  <a:pt x="63501" y="357188"/>
                </a:lnTo>
                <a:cubicBezTo>
                  <a:pt x="28430" y="357188"/>
                  <a:pt x="0" y="328757"/>
                  <a:pt x="0" y="293687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E74C3C">
                <a:alpha val="30193"/>
              </a:srgbClr>
            </a:solidFill>
            <a:prstDash val="solid"/>
          </a:ln>
        </p:spPr>
      </p:sp>
      <p:sp>
        <p:nvSpPr>
          <p:cNvPr id="1540645357" name="Text 15"/>
          <p:cNvSpPr/>
          <p:nvPr/>
        </p:nvSpPr>
        <p:spPr bwMode="auto">
          <a:xfrm>
            <a:off x="587375" y="2825750"/>
            <a:ext cx="39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E0E2E5">
                    <a:alpha val="80000"/>
                  </a:srgbClr>
                </a:solidFill>
                <a:latin typeface="MiSans"/>
                <a:ea typeface="MiSans"/>
                <a:cs typeface="MiSans"/>
              </a:rPr>
              <a:t>count</a:t>
            </a:r>
            <a:endParaRPr lang="en-US" sz="1600"/>
          </a:p>
        </p:txBody>
      </p:sp>
      <p:sp>
        <p:nvSpPr>
          <p:cNvPr id="292350114" name="Text 16"/>
          <p:cNvSpPr/>
          <p:nvPr/>
        </p:nvSpPr>
        <p:spPr bwMode="auto">
          <a:xfrm>
            <a:off x="5535724" y="2809875"/>
            <a:ext cx="309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250" b="1">
                <a:solidFill>
                  <a:srgbClr val="E74C3C"/>
                </a:solidFill>
                <a:latin typeface="MiSans"/>
                <a:ea typeface="MiSans"/>
                <a:cs typeface="MiSans"/>
              </a:rPr>
              <a:t>177</a:t>
            </a:r>
            <a:endParaRPr lang="en-US" sz="1600"/>
          </a:p>
        </p:txBody>
      </p:sp>
      <p:sp>
        <p:nvSpPr>
          <p:cNvPr id="309008923" name="Shape 17"/>
          <p:cNvSpPr/>
          <p:nvPr/>
        </p:nvSpPr>
        <p:spPr bwMode="auto">
          <a:xfrm>
            <a:off x="500063" y="32385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 fill="norm" stroke="1" extrusionOk="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55563" y="39688"/>
                </a:moveTo>
                <a:cubicBezTo>
                  <a:pt x="55563" y="35307"/>
                  <a:pt x="59119" y="31750"/>
                  <a:pt x="63500" y="31750"/>
                </a:cubicBezTo>
                <a:cubicBezTo>
                  <a:pt x="67881" y="31750"/>
                  <a:pt x="71438" y="35307"/>
                  <a:pt x="71438" y="39688"/>
                </a:cubicBezTo>
                <a:cubicBezTo>
                  <a:pt x="71438" y="44068"/>
                  <a:pt x="67881" y="47625"/>
                  <a:pt x="63500" y="47625"/>
                </a:cubicBezTo>
                <a:cubicBezTo>
                  <a:pt x="59119" y="47625"/>
                  <a:pt x="55563" y="44068"/>
                  <a:pt x="55563" y="39688"/>
                </a:cubicBezTo>
                <a:close/>
                <a:moveTo>
                  <a:pt x="53578" y="55563"/>
                </a:moveTo>
                <a:lnTo>
                  <a:pt x="65484" y="55563"/>
                </a:lnTo>
                <a:cubicBezTo>
                  <a:pt x="68783" y="55563"/>
                  <a:pt x="71438" y="58217"/>
                  <a:pt x="71438" y="61516"/>
                </a:cubicBezTo>
                <a:lnTo>
                  <a:pt x="71438" y="83344"/>
                </a:lnTo>
                <a:lnTo>
                  <a:pt x="73422" y="83344"/>
                </a:lnTo>
                <a:cubicBezTo>
                  <a:pt x="76721" y="83344"/>
                  <a:pt x="79375" y="85998"/>
                  <a:pt x="79375" y="89297"/>
                </a:cubicBezTo>
                <a:cubicBezTo>
                  <a:pt x="79375" y="92596"/>
                  <a:pt x="76721" y="95250"/>
                  <a:pt x="73422" y="95250"/>
                </a:cubicBezTo>
                <a:lnTo>
                  <a:pt x="53578" y="95250"/>
                </a:lnTo>
                <a:cubicBezTo>
                  <a:pt x="50279" y="95250"/>
                  <a:pt x="47625" y="92596"/>
                  <a:pt x="47625" y="89297"/>
                </a:cubicBezTo>
                <a:cubicBezTo>
                  <a:pt x="47625" y="85998"/>
                  <a:pt x="50279" y="83344"/>
                  <a:pt x="53578" y="83344"/>
                </a:cubicBezTo>
                <a:lnTo>
                  <a:pt x="59531" y="83344"/>
                </a:lnTo>
                <a:lnTo>
                  <a:pt x="59531" y="67469"/>
                </a:lnTo>
                <a:lnTo>
                  <a:pt x="53578" y="67469"/>
                </a:lnTo>
                <a:cubicBezTo>
                  <a:pt x="50279" y="67469"/>
                  <a:pt x="47625" y="64815"/>
                  <a:pt x="47625" y="61516"/>
                </a:cubicBezTo>
                <a:cubicBezTo>
                  <a:pt x="47625" y="58217"/>
                  <a:pt x="50279" y="55563"/>
                  <a:pt x="53578" y="55563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2008640160" name="Text 18"/>
          <p:cNvSpPr/>
          <p:nvPr/>
        </p:nvSpPr>
        <p:spPr bwMode="auto">
          <a:xfrm>
            <a:off x="682625" y="3198813"/>
            <a:ext cx="5246688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000">
                <a:solidFill>
                  <a:srgbClr val="E0E2E5">
                    <a:alpha val="70000"/>
                  </a:srgbClr>
                </a:solidFill>
                <a:latin typeface="MiSans"/>
                <a:ea typeface="MiSans"/>
                <a:cs typeface="MiSans"/>
              </a:rPr>
              <a:t>SYN flood masivo: conexiones incompletas</a:t>
            </a:r>
            <a:endParaRPr lang="en-US" sz="1600"/>
          </a:p>
        </p:txBody>
      </p:sp>
      <p:sp>
        <p:nvSpPr>
          <p:cNvPr id="2139746873" name="Shape 19"/>
          <p:cNvSpPr/>
          <p:nvPr/>
        </p:nvSpPr>
        <p:spPr bwMode="auto">
          <a:xfrm>
            <a:off x="6163469" y="1146969"/>
            <a:ext cx="5707063" cy="2420938"/>
          </a:xfrm>
          <a:custGeom>
            <a:avLst/>
            <a:gdLst/>
            <a:ahLst/>
            <a:cxnLst/>
            <a:rect l="l" t="t" r="r" b="b"/>
            <a:pathLst>
              <a:path w="5707063" h="2420938" fill="norm" stroke="1" extrusionOk="0">
                <a:moveTo>
                  <a:pt x="127002" y="0"/>
                </a:moveTo>
                <a:lnTo>
                  <a:pt x="5580060" y="0"/>
                </a:lnTo>
                <a:cubicBezTo>
                  <a:pt x="5650202" y="0"/>
                  <a:pt x="5707062" y="56861"/>
                  <a:pt x="5707062" y="127002"/>
                </a:cubicBezTo>
                <a:lnTo>
                  <a:pt x="5707063" y="2293935"/>
                </a:lnTo>
                <a:cubicBezTo>
                  <a:pt x="5707062" y="2364077"/>
                  <a:pt x="5650202" y="2420938"/>
                  <a:pt x="5580060" y="2420938"/>
                </a:cubicBezTo>
                <a:lnTo>
                  <a:pt x="127002" y="2420938"/>
                </a:lnTo>
                <a:cubicBezTo>
                  <a:pt x="56861" y="2420938"/>
                  <a:pt x="0" y="2364077"/>
                  <a:pt x="0" y="2293935"/>
                </a:cubicBezTo>
                <a:lnTo>
                  <a:pt x="0" y="127002"/>
                </a:lnTo>
                <a:cubicBezTo>
                  <a:pt x="0" y="56908"/>
                  <a:pt x="56908" y="0"/>
                  <a:pt x="127002" y="0"/>
                </a:cubicBezTo>
                <a:close/>
              </a:path>
            </a:pathLst>
          </a:custGeom>
          <a:solidFill>
            <a:srgbClr val="F39C12">
              <a:alpha val="10196"/>
            </a:srgbClr>
          </a:solidFill>
          <a:ln w="12700">
            <a:solidFill>
              <a:srgbClr val="F39C12">
                <a:alpha val="40000"/>
              </a:srgbClr>
            </a:solidFill>
            <a:prstDash val="solid"/>
          </a:ln>
        </p:spPr>
      </p:sp>
      <p:sp>
        <p:nvSpPr>
          <p:cNvPr id="283261458" name="Shape 20"/>
          <p:cNvSpPr/>
          <p:nvPr/>
        </p:nvSpPr>
        <p:spPr bwMode="auto">
          <a:xfrm>
            <a:off x="6330156" y="1313656"/>
            <a:ext cx="436563" cy="436563"/>
          </a:xfrm>
          <a:custGeom>
            <a:avLst/>
            <a:gdLst/>
            <a:ahLst/>
            <a:cxnLst/>
            <a:rect l="l" t="t" r="r" b="b"/>
            <a:pathLst>
              <a:path w="436563" h="436563" fill="norm" stroke="1" extrusionOk="0">
                <a:moveTo>
                  <a:pt x="95249" y="0"/>
                </a:moveTo>
                <a:lnTo>
                  <a:pt x="341313" y="0"/>
                </a:lnTo>
                <a:cubicBezTo>
                  <a:pt x="393918" y="0"/>
                  <a:pt x="436563" y="42645"/>
                  <a:pt x="436563" y="95249"/>
                </a:cubicBezTo>
                <a:lnTo>
                  <a:pt x="436563" y="341313"/>
                </a:lnTo>
                <a:cubicBezTo>
                  <a:pt x="436563" y="393918"/>
                  <a:pt x="393918" y="436563"/>
                  <a:pt x="341313" y="436563"/>
                </a:cubicBezTo>
                <a:lnTo>
                  <a:pt x="95249" y="436563"/>
                </a:lnTo>
                <a:cubicBezTo>
                  <a:pt x="42645" y="436563"/>
                  <a:pt x="0" y="393918"/>
                  <a:pt x="0" y="341313"/>
                </a:cubicBezTo>
                <a:lnTo>
                  <a:pt x="0" y="95249"/>
                </a:lnTo>
                <a:cubicBezTo>
                  <a:pt x="0" y="42645"/>
                  <a:pt x="42645" y="0"/>
                  <a:pt x="95249" y="0"/>
                </a:cubicBezTo>
                <a:close/>
              </a:path>
            </a:pathLst>
          </a:custGeom>
          <a:solidFill>
            <a:srgbClr val="F39C12">
              <a:alpha val="20000"/>
            </a:srgbClr>
          </a:solidFill>
          <a:ln w="12700">
            <a:solidFill>
              <a:srgbClr val="F39C12">
                <a:alpha val="40000"/>
              </a:srgbClr>
            </a:solidFill>
            <a:prstDash val="solid"/>
          </a:ln>
        </p:spPr>
      </p:sp>
      <p:sp>
        <p:nvSpPr>
          <p:cNvPr id="824309900" name="Shape 21"/>
          <p:cNvSpPr/>
          <p:nvPr/>
        </p:nvSpPr>
        <p:spPr bwMode="auto">
          <a:xfrm>
            <a:off x="6453188" y="143668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 fill="norm" stroke="1" extrusionOk="0">
                <a:moveTo>
                  <a:pt x="154781" y="77391"/>
                </a:moveTo>
                <a:cubicBezTo>
                  <a:pt x="154781" y="94469"/>
                  <a:pt x="149237" y="110244"/>
                  <a:pt x="139898" y="123044"/>
                </a:cubicBezTo>
                <a:lnTo>
                  <a:pt x="187003" y="170185"/>
                </a:lnTo>
                <a:cubicBezTo>
                  <a:pt x="191653" y="174836"/>
                  <a:pt x="191653" y="182389"/>
                  <a:pt x="187003" y="187040"/>
                </a:cubicBezTo>
                <a:cubicBezTo>
                  <a:pt x="182352" y="191691"/>
                  <a:pt x="174799" y="191691"/>
                  <a:pt x="170148" y="187040"/>
                </a:cubicBezTo>
                <a:lnTo>
                  <a:pt x="123044" y="139898"/>
                </a:lnTo>
                <a:cubicBezTo>
                  <a:pt x="110244" y="149237"/>
                  <a:pt x="94469" y="154781"/>
                  <a:pt x="77391" y="154781"/>
                </a:cubicBezTo>
                <a:cubicBezTo>
                  <a:pt x="34640" y="154781"/>
                  <a:pt x="0" y="120142"/>
                  <a:pt x="0" y="77391"/>
                </a:cubicBezTo>
                <a:cubicBezTo>
                  <a:pt x="0" y="34640"/>
                  <a:pt x="34640" y="0"/>
                  <a:pt x="77391" y="0"/>
                </a:cubicBezTo>
                <a:cubicBezTo>
                  <a:pt x="120142" y="0"/>
                  <a:pt x="154781" y="34640"/>
                  <a:pt x="154781" y="77391"/>
                </a:cubicBezTo>
                <a:close/>
                <a:moveTo>
                  <a:pt x="77391" y="130969"/>
                </a:moveTo>
                <a:cubicBezTo>
                  <a:pt x="106961" y="130969"/>
                  <a:pt x="130969" y="106961"/>
                  <a:pt x="130969" y="77391"/>
                </a:cubicBezTo>
                <a:cubicBezTo>
                  <a:pt x="130969" y="47820"/>
                  <a:pt x="106961" y="23812"/>
                  <a:pt x="77391" y="23812"/>
                </a:cubicBezTo>
                <a:cubicBezTo>
                  <a:pt x="47820" y="23812"/>
                  <a:pt x="23813" y="47820"/>
                  <a:pt x="23812" y="77391"/>
                </a:cubicBezTo>
                <a:cubicBezTo>
                  <a:pt x="23812" y="106961"/>
                  <a:pt x="47820" y="130969"/>
                  <a:pt x="77391" y="130969"/>
                </a:cubicBezTo>
                <a:close/>
              </a:path>
            </a:pathLst>
          </a:custGeom>
          <a:solidFill>
            <a:srgbClr val="F39C12"/>
          </a:solidFill>
          <a:ln/>
        </p:spPr>
      </p:sp>
      <p:sp>
        <p:nvSpPr>
          <p:cNvPr id="477898299" name="Text 22"/>
          <p:cNvSpPr/>
          <p:nvPr/>
        </p:nvSpPr>
        <p:spPr bwMode="auto">
          <a:xfrm>
            <a:off x="6865937" y="1309688"/>
            <a:ext cx="124618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500" b="1">
                <a:solidFill>
                  <a:srgbClr val="F39C12"/>
                </a:solidFill>
                <a:latin typeface="MiSans"/>
                <a:ea typeface="MiSans"/>
                <a:cs typeface="MiSans"/>
              </a:rPr>
              <a:t>Probe</a:t>
            </a:r>
            <a:endParaRPr lang="en-US" sz="1600"/>
          </a:p>
        </p:txBody>
      </p:sp>
      <p:sp>
        <p:nvSpPr>
          <p:cNvPr id="845444144" name="Text 23"/>
          <p:cNvSpPr/>
          <p:nvPr/>
        </p:nvSpPr>
        <p:spPr bwMode="auto">
          <a:xfrm>
            <a:off x="6865937" y="1563688"/>
            <a:ext cx="1214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E0E2E5">
                    <a:alpha val="70000"/>
                  </a:srgbClr>
                </a:solidFill>
                <a:latin typeface="MiSans"/>
                <a:ea typeface="MiSans"/>
                <a:cs typeface="MiSans"/>
              </a:rPr>
              <a:t>Escaneo de Puertos</a:t>
            </a:r>
            <a:endParaRPr lang="en-US" sz="1600"/>
          </a:p>
        </p:txBody>
      </p:sp>
      <p:sp>
        <p:nvSpPr>
          <p:cNvPr id="1820979144" name="Shape 24"/>
          <p:cNvSpPr/>
          <p:nvPr/>
        </p:nvSpPr>
        <p:spPr bwMode="auto">
          <a:xfrm>
            <a:off x="6330156" y="1885156"/>
            <a:ext cx="5373688" cy="357188"/>
          </a:xfrm>
          <a:custGeom>
            <a:avLst/>
            <a:gdLst/>
            <a:ahLst/>
            <a:cxnLst/>
            <a:rect l="l" t="t" r="r" b="b"/>
            <a:pathLst>
              <a:path w="5373688" h="357188" fill="norm" stroke="1" extrusionOk="0">
                <a:moveTo>
                  <a:pt x="63501" y="0"/>
                </a:moveTo>
                <a:lnTo>
                  <a:pt x="5310187" y="0"/>
                </a:lnTo>
                <a:cubicBezTo>
                  <a:pt x="5345257" y="0"/>
                  <a:pt x="5373688" y="28430"/>
                  <a:pt x="5373688" y="63501"/>
                </a:cubicBezTo>
                <a:lnTo>
                  <a:pt x="5373688" y="293687"/>
                </a:lnTo>
                <a:cubicBezTo>
                  <a:pt x="5373688" y="328757"/>
                  <a:pt x="5345257" y="357188"/>
                  <a:pt x="5310187" y="357188"/>
                </a:cubicBezTo>
                <a:lnTo>
                  <a:pt x="63501" y="357188"/>
                </a:lnTo>
                <a:cubicBezTo>
                  <a:pt x="28430" y="357188"/>
                  <a:pt x="0" y="328757"/>
                  <a:pt x="0" y="293687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F39C12">
                <a:alpha val="30193"/>
              </a:srgbClr>
            </a:solidFill>
            <a:prstDash val="solid"/>
          </a:ln>
        </p:spPr>
      </p:sp>
      <p:sp>
        <p:nvSpPr>
          <p:cNvPr id="173595318" name="Text 25"/>
          <p:cNvSpPr/>
          <p:nvPr/>
        </p:nvSpPr>
        <p:spPr bwMode="auto">
          <a:xfrm>
            <a:off x="6429375" y="1968500"/>
            <a:ext cx="611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E0E2E5">
                    <a:alpha val="80000"/>
                  </a:srgbClr>
                </a:solidFill>
                <a:latin typeface="MiSans"/>
                <a:ea typeface="MiSans"/>
                <a:cs typeface="MiSans"/>
              </a:rPr>
              <a:t>src_bytes</a:t>
            </a:r>
            <a:endParaRPr lang="en-US" sz="1600"/>
          </a:p>
        </p:txBody>
      </p:sp>
      <p:sp>
        <p:nvSpPr>
          <p:cNvPr id="1051976563" name="Text 26"/>
          <p:cNvSpPr/>
          <p:nvPr/>
        </p:nvSpPr>
        <p:spPr bwMode="auto">
          <a:xfrm>
            <a:off x="11400730" y="1952625"/>
            <a:ext cx="28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250" b="1">
                <a:solidFill>
                  <a:srgbClr val="F39C12"/>
                </a:solidFill>
                <a:latin typeface="MiSans"/>
                <a:ea typeface="MiSans"/>
                <a:cs typeface="MiSans"/>
              </a:rPr>
              <a:t>≈ 1</a:t>
            </a:r>
            <a:endParaRPr lang="en-US" sz="1600"/>
          </a:p>
        </p:txBody>
      </p:sp>
      <p:sp>
        <p:nvSpPr>
          <p:cNvPr id="567491371" name="Shape 27"/>
          <p:cNvSpPr/>
          <p:nvPr/>
        </p:nvSpPr>
        <p:spPr bwMode="auto">
          <a:xfrm>
            <a:off x="6330156" y="2313781"/>
            <a:ext cx="5373688" cy="357188"/>
          </a:xfrm>
          <a:custGeom>
            <a:avLst/>
            <a:gdLst/>
            <a:ahLst/>
            <a:cxnLst/>
            <a:rect l="l" t="t" r="r" b="b"/>
            <a:pathLst>
              <a:path w="5373688" h="357188" fill="norm" stroke="1" extrusionOk="0">
                <a:moveTo>
                  <a:pt x="63501" y="0"/>
                </a:moveTo>
                <a:lnTo>
                  <a:pt x="5310187" y="0"/>
                </a:lnTo>
                <a:cubicBezTo>
                  <a:pt x="5345257" y="0"/>
                  <a:pt x="5373688" y="28430"/>
                  <a:pt x="5373688" y="63501"/>
                </a:cubicBezTo>
                <a:lnTo>
                  <a:pt x="5373688" y="293687"/>
                </a:lnTo>
                <a:cubicBezTo>
                  <a:pt x="5373688" y="328757"/>
                  <a:pt x="5345257" y="357188"/>
                  <a:pt x="5310187" y="357188"/>
                </a:cubicBezTo>
                <a:lnTo>
                  <a:pt x="63501" y="357188"/>
                </a:lnTo>
                <a:cubicBezTo>
                  <a:pt x="28430" y="357188"/>
                  <a:pt x="0" y="328757"/>
                  <a:pt x="0" y="293687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F39C12">
                <a:alpha val="30193"/>
              </a:srgbClr>
            </a:solidFill>
            <a:prstDash val="solid"/>
          </a:ln>
        </p:spPr>
      </p:sp>
      <p:sp>
        <p:nvSpPr>
          <p:cNvPr id="693111111" name="Text 28"/>
          <p:cNvSpPr/>
          <p:nvPr/>
        </p:nvSpPr>
        <p:spPr bwMode="auto">
          <a:xfrm>
            <a:off x="6429375" y="2397125"/>
            <a:ext cx="68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E0E2E5">
                    <a:alpha val="80000"/>
                  </a:srgbClr>
                </a:solidFill>
                <a:latin typeface="MiSans"/>
                <a:ea typeface="MiSans"/>
                <a:cs typeface="MiSans"/>
              </a:rPr>
              <a:t>dst_bytes</a:t>
            </a:r>
            <a:endParaRPr lang="en-US" sz="1600"/>
          </a:p>
        </p:txBody>
      </p:sp>
      <p:sp>
        <p:nvSpPr>
          <p:cNvPr id="340590026" name="Text 29"/>
          <p:cNvSpPr/>
          <p:nvPr/>
        </p:nvSpPr>
        <p:spPr bwMode="auto">
          <a:xfrm>
            <a:off x="11543605" y="2357438"/>
            <a:ext cx="508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250" b="1">
                <a:solidFill>
                  <a:srgbClr val="F39C12"/>
                </a:solidFill>
                <a:latin typeface="MiSans"/>
                <a:ea typeface="MiSans"/>
                <a:cs typeface="MiSans"/>
              </a:rPr>
              <a:t>0</a:t>
            </a:r>
            <a:endParaRPr lang="en-US" sz="1600"/>
          </a:p>
        </p:txBody>
      </p:sp>
      <p:sp>
        <p:nvSpPr>
          <p:cNvPr id="2010569620" name="Shape 30"/>
          <p:cNvSpPr/>
          <p:nvPr/>
        </p:nvSpPr>
        <p:spPr bwMode="auto">
          <a:xfrm>
            <a:off x="6330156" y="2742406"/>
            <a:ext cx="5373688" cy="357188"/>
          </a:xfrm>
          <a:custGeom>
            <a:avLst/>
            <a:gdLst/>
            <a:ahLst/>
            <a:cxnLst/>
            <a:rect l="l" t="t" r="r" b="b"/>
            <a:pathLst>
              <a:path w="5373688" h="357188" fill="norm" stroke="1" extrusionOk="0">
                <a:moveTo>
                  <a:pt x="63501" y="0"/>
                </a:moveTo>
                <a:lnTo>
                  <a:pt x="5310187" y="0"/>
                </a:lnTo>
                <a:cubicBezTo>
                  <a:pt x="5345257" y="0"/>
                  <a:pt x="5373688" y="28430"/>
                  <a:pt x="5373688" y="63501"/>
                </a:cubicBezTo>
                <a:lnTo>
                  <a:pt x="5373688" y="293687"/>
                </a:lnTo>
                <a:cubicBezTo>
                  <a:pt x="5373688" y="328757"/>
                  <a:pt x="5345257" y="357188"/>
                  <a:pt x="5310187" y="357188"/>
                </a:cubicBezTo>
                <a:lnTo>
                  <a:pt x="63501" y="357188"/>
                </a:lnTo>
                <a:cubicBezTo>
                  <a:pt x="28430" y="357188"/>
                  <a:pt x="0" y="328757"/>
                  <a:pt x="0" y="293687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F39C12">
                <a:alpha val="30193"/>
              </a:srgbClr>
            </a:solidFill>
            <a:prstDash val="solid"/>
          </a:ln>
        </p:spPr>
      </p:sp>
      <p:sp>
        <p:nvSpPr>
          <p:cNvPr id="111294480" name="Text 31"/>
          <p:cNvSpPr/>
          <p:nvPr/>
        </p:nvSpPr>
        <p:spPr bwMode="auto">
          <a:xfrm>
            <a:off x="6429375" y="2825750"/>
            <a:ext cx="547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E0E2E5">
                    <a:alpha val="80000"/>
                  </a:srgbClr>
                </a:solidFill>
                <a:latin typeface="MiSans"/>
                <a:ea typeface="MiSans"/>
                <a:cs typeface="MiSans"/>
              </a:rPr>
              <a:t>count</a:t>
            </a:r>
            <a:endParaRPr lang="en-US" sz="1600"/>
          </a:p>
        </p:txBody>
      </p:sp>
      <p:sp>
        <p:nvSpPr>
          <p:cNvPr id="517724320" name="Text 32"/>
          <p:cNvSpPr/>
          <p:nvPr/>
        </p:nvSpPr>
        <p:spPr bwMode="auto">
          <a:xfrm>
            <a:off x="11010366" y="2809875"/>
            <a:ext cx="67090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250" b="1">
                <a:solidFill>
                  <a:srgbClr val="F39C12"/>
                </a:solidFill>
                <a:latin typeface="MiSans"/>
                <a:ea typeface="MiSans"/>
                <a:cs typeface="MiSans"/>
              </a:rPr>
              <a:t>Variable</a:t>
            </a:r>
            <a:endParaRPr lang="en-US" sz="1600"/>
          </a:p>
        </p:txBody>
      </p:sp>
      <p:sp>
        <p:nvSpPr>
          <p:cNvPr id="747161751" name="Shape 33"/>
          <p:cNvSpPr/>
          <p:nvPr/>
        </p:nvSpPr>
        <p:spPr bwMode="auto">
          <a:xfrm>
            <a:off x="6342063" y="32385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 fill="norm" stroke="1" extrusionOk="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55563" y="39688"/>
                </a:moveTo>
                <a:cubicBezTo>
                  <a:pt x="55563" y="35307"/>
                  <a:pt x="59119" y="31750"/>
                  <a:pt x="63500" y="31750"/>
                </a:cubicBezTo>
                <a:cubicBezTo>
                  <a:pt x="67881" y="31750"/>
                  <a:pt x="71438" y="35307"/>
                  <a:pt x="71438" y="39688"/>
                </a:cubicBezTo>
                <a:cubicBezTo>
                  <a:pt x="71438" y="44068"/>
                  <a:pt x="67881" y="47625"/>
                  <a:pt x="63500" y="47625"/>
                </a:cubicBezTo>
                <a:cubicBezTo>
                  <a:pt x="59119" y="47625"/>
                  <a:pt x="55563" y="44068"/>
                  <a:pt x="55563" y="39688"/>
                </a:cubicBezTo>
                <a:close/>
                <a:moveTo>
                  <a:pt x="53578" y="55563"/>
                </a:moveTo>
                <a:lnTo>
                  <a:pt x="65484" y="55563"/>
                </a:lnTo>
                <a:cubicBezTo>
                  <a:pt x="68783" y="55563"/>
                  <a:pt x="71438" y="58217"/>
                  <a:pt x="71438" y="61516"/>
                </a:cubicBezTo>
                <a:lnTo>
                  <a:pt x="71438" y="83344"/>
                </a:lnTo>
                <a:lnTo>
                  <a:pt x="73422" y="83344"/>
                </a:lnTo>
                <a:cubicBezTo>
                  <a:pt x="76721" y="83344"/>
                  <a:pt x="79375" y="85998"/>
                  <a:pt x="79375" y="89297"/>
                </a:cubicBezTo>
                <a:cubicBezTo>
                  <a:pt x="79375" y="92596"/>
                  <a:pt x="76721" y="95250"/>
                  <a:pt x="73422" y="95250"/>
                </a:cubicBezTo>
                <a:lnTo>
                  <a:pt x="53578" y="95250"/>
                </a:lnTo>
                <a:cubicBezTo>
                  <a:pt x="50279" y="95250"/>
                  <a:pt x="47625" y="92596"/>
                  <a:pt x="47625" y="89297"/>
                </a:cubicBezTo>
                <a:cubicBezTo>
                  <a:pt x="47625" y="85998"/>
                  <a:pt x="50279" y="83344"/>
                  <a:pt x="53578" y="83344"/>
                </a:cubicBezTo>
                <a:lnTo>
                  <a:pt x="59531" y="83344"/>
                </a:lnTo>
                <a:lnTo>
                  <a:pt x="59531" y="67469"/>
                </a:lnTo>
                <a:lnTo>
                  <a:pt x="53578" y="67469"/>
                </a:lnTo>
                <a:cubicBezTo>
                  <a:pt x="50279" y="67469"/>
                  <a:pt x="47625" y="64815"/>
                  <a:pt x="47625" y="61516"/>
                </a:cubicBezTo>
                <a:cubicBezTo>
                  <a:pt x="47625" y="58217"/>
                  <a:pt x="50279" y="55563"/>
                  <a:pt x="53578" y="55563"/>
                </a:cubicBezTo>
                <a:close/>
              </a:path>
            </a:pathLst>
          </a:custGeom>
          <a:solidFill>
            <a:srgbClr val="F39C12"/>
          </a:solidFill>
          <a:ln/>
        </p:spPr>
      </p:sp>
      <p:sp>
        <p:nvSpPr>
          <p:cNvPr id="1214573638" name="Text 34"/>
          <p:cNvSpPr/>
          <p:nvPr/>
        </p:nvSpPr>
        <p:spPr bwMode="auto">
          <a:xfrm>
            <a:off x="6524625" y="3198813"/>
            <a:ext cx="5246688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000">
                <a:solidFill>
                  <a:srgbClr val="E0E2E5">
                    <a:alpha val="70000"/>
                  </a:srgbClr>
                </a:solidFill>
                <a:latin typeface="MiSans"/>
                <a:ea typeface="MiSans"/>
                <a:cs typeface="MiSans"/>
              </a:rPr>
              <a:t>Escaneo rápido de múltiples puertos</a:t>
            </a:r>
            <a:endParaRPr lang="en-US" sz="1600"/>
          </a:p>
        </p:txBody>
      </p:sp>
      <p:sp>
        <p:nvSpPr>
          <p:cNvPr id="108460728" name="Shape 35"/>
          <p:cNvSpPr/>
          <p:nvPr/>
        </p:nvSpPr>
        <p:spPr bwMode="auto">
          <a:xfrm>
            <a:off x="321469" y="3702844"/>
            <a:ext cx="5707063" cy="2420938"/>
          </a:xfrm>
          <a:custGeom>
            <a:avLst/>
            <a:gdLst/>
            <a:ahLst/>
            <a:cxnLst/>
            <a:rect l="l" t="t" r="r" b="b"/>
            <a:pathLst>
              <a:path w="5707063" h="2420938" fill="norm" stroke="1" extrusionOk="0">
                <a:moveTo>
                  <a:pt x="127002" y="0"/>
                </a:moveTo>
                <a:lnTo>
                  <a:pt x="5580060" y="0"/>
                </a:lnTo>
                <a:cubicBezTo>
                  <a:pt x="5650202" y="0"/>
                  <a:pt x="5707062" y="56861"/>
                  <a:pt x="5707062" y="127002"/>
                </a:cubicBezTo>
                <a:lnTo>
                  <a:pt x="5707063" y="2293935"/>
                </a:lnTo>
                <a:cubicBezTo>
                  <a:pt x="5707062" y="2364077"/>
                  <a:pt x="5650202" y="2420938"/>
                  <a:pt x="5580060" y="2420938"/>
                </a:cubicBezTo>
                <a:lnTo>
                  <a:pt x="127002" y="2420938"/>
                </a:lnTo>
                <a:cubicBezTo>
                  <a:pt x="56861" y="2420938"/>
                  <a:pt x="0" y="2364077"/>
                  <a:pt x="0" y="2293935"/>
                </a:cubicBezTo>
                <a:lnTo>
                  <a:pt x="0" y="127002"/>
                </a:lnTo>
                <a:cubicBezTo>
                  <a:pt x="0" y="56908"/>
                  <a:pt x="56908" y="0"/>
                  <a:pt x="127002" y="0"/>
                </a:cubicBezTo>
                <a:close/>
              </a:path>
            </a:pathLst>
          </a:custGeom>
          <a:solidFill>
            <a:srgbClr val="7F8C8D">
              <a:alpha val="10196"/>
            </a:srgbClr>
          </a:solidFill>
          <a:ln w="12700">
            <a:solidFill>
              <a:srgbClr val="7F8C8D">
                <a:alpha val="40000"/>
              </a:srgbClr>
            </a:solidFill>
            <a:prstDash val="solid"/>
          </a:ln>
        </p:spPr>
      </p:sp>
      <p:sp>
        <p:nvSpPr>
          <p:cNvPr id="1767389134" name="Shape 36"/>
          <p:cNvSpPr/>
          <p:nvPr/>
        </p:nvSpPr>
        <p:spPr bwMode="auto">
          <a:xfrm>
            <a:off x="488156" y="3869531"/>
            <a:ext cx="436563" cy="436563"/>
          </a:xfrm>
          <a:custGeom>
            <a:avLst/>
            <a:gdLst/>
            <a:ahLst/>
            <a:cxnLst/>
            <a:rect l="l" t="t" r="r" b="b"/>
            <a:pathLst>
              <a:path w="436563" h="436563" fill="norm" stroke="1" extrusionOk="0">
                <a:moveTo>
                  <a:pt x="95249" y="0"/>
                </a:moveTo>
                <a:lnTo>
                  <a:pt x="341313" y="0"/>
                </a:lnTo>
                <a:cubicBezTo>
                  <a:pt x="393918" y="0"/>
                  <a:pt x="436563" y="42645"/>
                  <a:pt x="436563" y="95249"/>
                </a:cubicBezTo>
                <a:lnTo>
                  <a:pt x="436563" y="341313"/>
                </a:lnTo>
                <a:cubicBezTo>
                  <a:pt x="436563" y="393918"/>
                  <a:pt x="393918" y="436563"/>
                  <a:pt x="341313" y="436563"/>
                </a:cubicBezTo>
                <a:lnTo>
                  <a:pt x="95249" y="436563"/>
                </a:lnTo>
                <a:cubicBezTo>
                  <a:pt x="42645" y="436563"/>
                  <a:pt x="0" y="393918"/>
                  <a:pt x="0" y="341313"/>
                </a:cubicBezTo>
                <a:lnTo>
                  <a:pt x="0" y="95249"/>
                </a:lnTo>
                <a:cubicBezTo>
                  <a:pt x="0" y="42645"/>
                  <a:pt x="42645" y="0"/>
                  <a:pt x="95249" y="0"/>
                </a:cubicBezTo>
                <a:close/>
              </a:path>
            </a:pathLst>
          </a:custGeom>
          <a:solidFill>
            <a:srgbClr val="7F8C8D">
              <a:alpha val="20000"/>
            </a:srgbClr>
          </a:solidFill>
          <a:ln w="12700">
            <a:solidFill>
              <a:srgbClr val="7F8C8D">
                <a:alpha val="40000"/>
              </a:srgbClr>
            </a:solidFill>
            <a:prstDash val="solid"/>
          </a:ln>
        </p:spPr>
      </p:sp>
      <p:sp>
        <p:nvSpPr>
          <p:cNvPr id="927301391" name="Shape 37"/>
          <p:cNvSpPr/>
          <p:nvPr/>
        </p:nvSpPr>
        <p:spPr bwMode="auto">
          <a:xfrm>
            <a:off x="599281" y="399256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 fill="norm" stroke="1" extrusionOk="0">
                <a:moveTo>
                  <a:pt x="83344" y="92273"/>
                </a:moveTo>
                <a:cubicBezTo>
                  <a:pt x="107986" y="92273"/>
                  <a:pt x="127992" y="72267"/>
                  <a:pt x="127992" y="47625"/>
                </a:cubicBezTo>
                <a:cubicBezTo>
                  <a:pt x="127992" y="22983"/>
                  <a:pt x="107986" y="2977"/>
                  <a:pt x="83344" y="2977"/>
                </a:cubicBezTo>
                <a:cubicBezTo>
                  <a:pt x="58702" y="2977"/>
                  <a:pt x="38695" y="22983"/>
                  <a:pt x="38695" y="47625"/>
                </a:cubicBezTo>
                <a:cubicBezTo>
                  <a:pt x="38695" y="72267"/>
                  <a:pt x="58702" y="92273"/>
                  <a:pt x="83344" y="92273"/>
                </a:cubicBezTo>
                <a:close/>
                <a:moveTo>
                  <a:pt x="72293" y="113109"/>
                </a:moveTo>
                <a:cubicBezTo>
                  <a:pt x="35644" y="113109"/>
                  <a:pt x="5953" y="142801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110579" y="190500"/>
                </a:lnTo>
                <a:cubicBezTo>
                  <a:pt x="97110" y="174650"/>
                  <a:pt x="89297" y="154223"/>
                  <a:pt x="89297" y="132606"/>
                </a:cubicBezTo>
                <a:lnTo>
                  <a:pt x="89297" y="121034"/>
                </a:lnTo>
                <a:cubicBezTo>
                  <a:pt x="89297" y="118318"/>
                  <a:pt x="89669" y="115639"/>
                  <a:pt x="90376" y="113109"/>
                </a:cubicBezTo>
                <a:lnTo>
                  <a:pt x="72293" y="113109"/>
                </a:lnTo>
                <a:close/>
                <a:moveTo>
                  <a:pt x="165683" y="181756"/>
                </a:moveTo>
                <a:lnTo>
                  <a:pt x="160734" y="184100"/>
                </a:lnTo>
                <a:lnTo>
                  <a:pt x="160734" y="114114"/>
                </a:lnTo>
                <a:lnTo>
                  <a:pt x="196453" y="126020"/>
                </a:lnTo>
                <a:lnTo>
                  <a:pt x="196453" y="133313"/>
                </a:lnTo>
                <a:cubicBezTo>
                  <a:pt x="196453" y="154074"/>
                  <a:pt x="184472" y="172938"/>
                  <a:pt x="165683" y="181794"/>
                </a:cubicBezTo>
                <a:close/>
                <a:moveTo>
                  <a:pt x="156976" y="96552"/>
                </a:moveTo>
                <a:lnTo>
                  <a:pt x="115305" y="110430"/>
                </a:lnTo>
                <a:cubicBezTo>
                  <a:pt x="110430" y="112068"/>
                  <a:pt x="107156" y="116607"/>
                  <a:pt x="107156" y="121741"/>
                </a:cubicBezTo>
                <a:lnTo>
                  <a:pt x="107156" y="133313"/>
                </a:lnTo>
                <a:cubicBezTo>
                  <a:pt x="107156" y="160995"/>
                  <a:pt x="123155" y="186184"/>
                  <a:pt x="148158" y="197941"/>
                </a:cubicBezTo>
                <a:lnTo>
                  <a:pt x="155042" y="201178"/>
                </a:lnTo>
                <a:cubicBezTo>
                  <a:pt x="156828" y="201997"/>
                  <a:pt x="158762" y="202443"/>
                  <a:pt x="160697" y="202443"/>
                </a:cubicBezTo>
                <a:cubicBezTo>
                  <a:pt x="162632" y="202443"/>
                  <a:pt x="164604" y="201997"/>
                  <a:pt x="166353" y="201178"/>
                </a:cubicBezTo>
                <a:lnTo>
                  <a:pt x="173236" y="197941"/>
                </a:lnTo>
                <a:cubicBezTo>
                  <a:pt x="198313" y="186147"/>
                  <a:pt x="214313" y="160958"/>
                  <a:pt x="214313" y="133276"/>
                </a:cubicBezTo>
                <a:lnTo>
                  <a:pt x="214313" y="121704"/>
                </a:lnTo>
                <a:cubicBezTo>
                  <a:pt x="214313" y="116570"/>
                  <a:pt x="211038" y="112030"/>
                  <a:pt x="206164" y="110393"/>
                </a:cubicBezTo>
                <a:lnTo>
                  <a:pt x="164492" y="96515"/>
                </a:lnTo>
                <a:cubicBezTo>
                  <a:pt x="162037" y="95696"/>
                  <a:pt x="159395" y="95696"/>
                  <a:pt x="156976" y="96515"/>
                </a:cubicBezTo>
                <a:close/>
              </a:path>
            </a:pathLst>
          </a:custGeom>
          <a:solidFill>
            <a:srgbClr val="7F8C8D"/>
          </a:solidFill>
          <a:ln/>
        </p:spPr>
      </p:sp>
      <p:sp>
        <p:nvSpPr>
          <p:cNvPr id="1705980352" name="Text 38"/>
          <p:cNvSpPr/>
          <p:nvPr/>
        </p:nvSpPr>
        <p:spPr bwMode="auto">
          <a:xfrm>
            <a:off x="1023938" y="3865563"/>
            <a:ext cx="14208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500" b="1">
                <a:solidFill>
                  <a:srgbClr val="7F8C8D"/>
                </a:solidFill>
                <a:latin typeface="MiSans"/>
                <a:ea typeface="MiSans"/>
                <a:cs typeface="MiSans"/>
              </a:rPr>
              <a:t>U2R</a:t>
            </a:r>
            <a:endParaRPr lang="en-US" sz="1600"/>
          </a:p>
        </p:txBody>
      </p:sp>
      <p:sp>
        <p:nvSpPr>
          <p:cNvPr id="2099598498" name="Text 39"/>
          <p:cNvSpPr/>
          <p:nvPr/>
        </p:nvSpPr>
        <p:spPr bwMode="auto">
          <a:xfrm>
            <a:off x="1023938" y="4119562"/>
            <a:ext cx="13890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E0E2E5">
                    <a:alpha val="70000"/>
                  </a:srgbClr>
                </a:solidFill>
                <a:latin typeface="MiSans"/>
                <a:ea typeface="MiSans"/>
                <a:cs typeface="MiSans"/>
              </a:rPr>
              <a:t>Escalada de Privilegios</a:t>
            </a:r>
            <a:endParaRPr lang="en-US" sz="1600"/>
          </a:p>
        </p:txBody>
      </p:sp>
      <p:sp>
        <p:nvSpPr>
          <p:cNvPr id="2025951116" name="Shape 40"/>
          <p:cNvSpPr/>
          <p:nvPr/>
        </p:nvSpPr>
        <p:spPr bwMode="auto">
          <a:xfrm>
            <a:off x="488156" y="4441031"/>
            <a:ext cx="5373688" cy="357188"/>
          </a:xfrm>
          <a:custGeom>
            <a:avLst/>
            <a:gdLst/>
            <a:ahLst/>
            <a:cxnLst/>
            <a:rect l="l" t="t" r="r" b="b"/>
            <a:pathLst>
              <a:path w="5373688" h="357188" fill="norm" stroke="1" extrusionOk="0">
                <a:moveTo>
                  <a:pt x="63501" y="0"/>
                </a:moveTo>
                <a:lnTo>
                  <a:pt x="5310187" y="0"/>
                </a:lnTo>
                <a:cubicBezTo>
                  <a:pt x="5345257" y="0"/>
                  <a:pt x="5373688" y="28430"/>
                  <a:pt x="5373688" y="63501"/>
                </a:cubicBezTo>
                <a:lnTo>
                  <a:pt x="5373688" y="293687"/>
                </a:lnTo>
                <a:cubicBezTo>
                  <a:pt x="5373688" y="328757"/>
                  <a:pt x="5345257" y="357188"/>
                  <a:pt x="5310187" y="357188"/>
                </a:cubicBezTo>
                <a:lnTo>
                  <a:pt x="63501" y="357188"/>
                </a:lnTo>
                <a:cubicBezTo>
                  <a:pt x="28430" y="357188"/>
                  <a:pt x="0" y="328757"/>
                  <a:pt x="0" y="293687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7F8C8D">
                <a:alpha val="30193"/>
              </a:srgbClr>
            </a:solidFill>
            <a:prstDash val="solid"/>
          </a:ln>
        </p:spPr>
      </p:sp>
      <p:sp>
        <p:nvSpPr>
          <p:cNvPr id="1889595320" name="Text 41"/>
          <p:cNvSpPr/>
          <p:nvPr/>
        </p:nvSpPr>
        <p:spPr bwMode="auto">
          <a:xfrm>
            <a:off x="587375" y="4524375"/>
            <a:ext cx="619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E0E2E5">
                    <a:alpha val="80000"/>
                  </a:srgbClr>
                </a:solidFill>
                <a:latin typeface="MiSans"/>
                <a:ea typeface="MiSans"/>
                <a:cs typeface="MiSans"/>
              </a:rPr>
              <a:t>dst_bytes</a:t>
            </a:r>
            <a:endParaRPr lang="en-US" sz="1600"/>
          </a:p>
        </p:txBody>
      </p:sp>
      <p:sp>
        <p:nvSpPr>
          <p:cNvPr id="693083070" name="Text 42"/>
          <p:cNvSpPr/>
          <p:nvPr/>
        </p:nvSpPr>
        <p:spPr bwMode="auto">
          <a:xfrm>
            <a:off x="5335240" y="4508500"/>
            <a:ext cx="508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250" b="1">
                <a:solidFill>
                  <a:srgbClr val="7F8C8D"/>
                </a:solidFill>
                <a:latin typeface="MiSans"/>
                <a:ea typeface="MiSans"/>
                <a:cs typeface="MiSans"/>
              </a:rPr>
              <a:t>3,860</a:t>
            </a:r>
            <a:endParaRPr lang="en-US" sz="1600"/>
          </a:p>
        </p:txBody>
      </p:sp>
      <p:sp>
        <p:nvSpPr>
          <p:cNvPr id="351009505" name="Shape 43"/>
          <p:cNvSpPr/>
          <p:nvPr/>
        </p:nvSpPr>
        <p:spPr bwMode="auto">
          <a:xfrm>
            <a:off x="488156" y="4869656"/>
            <a:ext cx="5373688" cy="357188"/>
          </a:xfrm>
          <a:custGeom>
            <a:avLst/>
            <a:gdLst/>
            <a:ahLst/>
            <a:cxnLst/>
            <a:rect l="l" t="t" r="r" b="b"/>
            <a:pathLst>
              <a:path w="5373688" h="357188" fill="norm" stroke="1" extrusionOk="0">
                <a:moveTo>
                  <a:pt x="63501" y="0"/>
                </a:moveTo>
                <a:lnTo>
                  <a:pt x="5310187" y="0"/>
                </a:lnTo>
                <a:cubicBezTo>
                  <a:pt x="5345257" y="0"/>
                  <a:pt x="5373688" y="28430"/>
                  <a:pt x="5373688" y="63501"/>
                </a:cubicBezTo>
                <a:lnTo>
                  <a:pt x="5373688" y="293687"/>
                </a:lnTo>
                <a:cubicBezTo>
                  <a:pt x="5373688" y="328757"/>
                  <a:pt x="5345257" y="357188"/>
                  <a:pt x="5310187" y="357188"/>
                </a:cubicBezTo>
                <a:lnTo>
                  <a:pt x="63501" y="357188"/>
                </a:lnTo>
                <a:cubicBezTo>
                  <a:pt x="28430" y="357188"/>
                  <a:pt x="0" y="328757"/>
                  <a:pt x="0" y="293687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7F8C8D">
                <a:alpha val="30193"/>
              </a:srgbClr>
            </a:solidFill>
            <a:prstDash val="solid"/>
          </a:ln>
        </p:spPr>
      </p:sp>
      <p:sp>
        <p:nvSpPr>
          <p:cNvPr id="930001035" name="Text 44"/>
          <p:cNvSpPr/>
          <p:nvPr/>
        </p:nvSpPr>
        <p:spPr bwMode="auto">
          <a:xfrm>
            <a:off x="587375" y="4953000"/>
            <a:ext cx="547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E0E2E5">
                    <a:alpha val="80000"/>
                  </a:srgbClr>
                </a:solidFill>
                <a:latin typeface="MiSans"/>
                <a:ea typeface="MiSans"/>
                <a:cs typeface="MiSans"/>
              </a:rPr>
              <a:t>duration</a:t>
            </a:r>
            <a:endParaRPr lang="en-US" sz="1600"/>
          </a:p>
        </p:txBody>
      </p:sp>
      <p:sp>
        <p:nvSpPr>
          <p:cNvPr id="690550216" name="Text 45"/>
          <p:cNvSpPr/>
          <p:nvPr/>
        </p:nvSpPr>
        <p:spPr bwMode="auto">
          <a:xfrm>
            <a:off x="5270624" y="4937125"/>
            <a:ext cx="571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250" b="1">
                <a:solidFill>
                  <a:srgbClr val="7F8C8D"/>
                </a:solidFill>
                <a:latin typeface="MiSans"/>
                <a:ea typeface="MiSans"/>
                <a:cs typeface="MiSans"/>
              </a:rPr>
              <a:t>53 seg</a:t>
            </a:r>
            <a:endParaRPr lang="en-US" sz="1600"/>
          </a:p>
        </p:txBody>
      </p:sp>
      <p:sp>
        <p:nvSpPr>
          <p:cNvPr id="1720140357" name="Shape 46"/>
          <p:cNvSpPr/>
          <p:nvPr/>
        </p:nvSpPr>
        <p:spPr bwMode="auto">
          <a:xfrm>
            <a:off x="488156" y="5298281"/>
            <a:ext cx="5373688" cy="357188"/>
          </a:xfrm>
          <a:custGeom>
            <a:avLst/>
            <a:gdLst/>
            <a:ahLst/>
            <a:cxnLst/>
            <a:rect l="l" t="t" r="r" b="b"/>
            <a:pathLst>
              <a:path w="5373688" h="357188" fill="norm" stroke="1" extrusionOk="0">
                <a:moveTo>
                  <a:pt x="63501" y="0"/>
                </a:moveTo>
                <a:lnTo>
                  <a:pt x="5310187" y="0"/>
                </a:lnTo>
                <a:cubicBezTo>
                  <a:pt x="5345257" y="0"/>
                  <a:pt x="5373688" y="28430"/>
                  <a:pt x="5373688" y="63501"/>
                </a:cubicBezTo>
                <a:lnTo>
                  <a:pt x="5373688" y="293687"/>
                </a:lnTo>
                <a:cubicBezTo>
                  <a:pt x="5373688" y="328757"/>
                  <a:pt x="5345257" y="357188"/>
                  <a:pt x="5310187" y="357188"/>
                </a:cubicBezTo>
                <a:lnTo>
                  <a:pt x="63501" y="357188"/>
                </a:lnTo>
                <a:cubicBezTo>
                  <a:pt x="28430" y="357188"/>
                  <a:pt x="0" y="328757"/>
                  <a:pt x="0" y="293687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7F8C8D">
                <a:alpha val="30193"/>
              </a:srgbClr>
            </a:solidFill>
            <a:prstDash val="solid"/>
          </a:ln>
        </p:spPr>
      </p:sp>
      <p:sp>
        <p:nvSpPr>
          <p:cNvPr id="215972842" name="Text 47"/>
          <p:cNvSpPr/>
          <p:nvPr/>
        </p:nvSpPr>
        <p:spPr bwMode="auto">
          <a:xfrm>
            <a:off x="587375" y="5381625"/>
            <a:ext cx="27958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E0E2E5">
                    <a:alpha val="80000"/>
                  </a:srgbClr>
                </a:solidFill>
                <a:latin typeface="MiSans"/>
                <a:ea typeface="MiSans"/>
                <a:cs typeface="MiSans"/>
              </a:rPr>
              <a:t>sesiones largas con descargas de exploits</a:t>
            </a:r>
            <a:endParaRPr lang="en-US" sz="1600"/>
          </a:p>
        </p:txBody>
      </p:sp>
      <p:sp>
        <p:nvSpPr>
          <p:cNvPr id="2128403977" name="Shape 48"/>
          <p:cNvSpPr/>
          <p:nvPr/>
        </p:nvSpPr>
        <p:spPr bwMode="auto">
          <a:xfrm>
            <a:off x="6163469" y="3702844"/>
            <a:ext cx="5707063" cy="2420938"/>
          </a:xfrm>
          <a:custGeom>
            <a:avLst/>
            <a:gdLst/>
            <a:ahLst/>
            <a:cxnLst/>
            <a:rect l="l" t="t" r="r" b="b"/>
            <a:pathLst>
              <a:path w="5707063" h="2420938" fill="norm" stroke="1" extrusionOk="0">
                <a:moveTo>
                  <a:pt x="127002" y="0"/>
                </a:moveTo>
                <a:lnTo>
                  <a:pt x="5580060" y="0"/>
                </a:lnTo>
                <a:cubicBezTo>
                  <a:pt x="5650202" y="0"/>
                  <a:pt x="5707062" y="56861"/>
                  <a:pt x="5707062" y="127002"/>
                </a:cubicBezTo>
                <a:lnTo>
                  <a:pt x="5707063" y="2293935"/>
                </a:lnTo>
                <a:cubicBezTo>
                  <a:pt x="5707062" y="2364077"/>
                  <a:pt x="5650202" y="2420938"/>
                  <a:pt x="5580060" y="2420938"/>
                </a:cubicBezTo>
                <a:lnTo>
                  <a:pt x="127002" y="2420938"/>
                </a:lnTo>
                <a:cubicBezTo>
                  <a:pt x="56861" y="2420938"/>
                  <a:pt x="0" y="2364077"/>
                  <a:pt x="0" y="2293935"/>
                </a:cubicBezTo>
                <a:lnTo>
                  <a:pt x="0" y="127002"/>
                </a:lnTo>
                <a:cubicBezTo>
                  <a:pt x="0" y="56908"/>
                  <a:pt x="56908" y="0"/>
                  <a:pt x="127002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12700">
            <a:solidFill>
              <a:srgbClr val="4ECDC4">
                <a:alpha val="40000"/>
              </a:srgbClr>
            </a:solidFill>
            <a:prstDash val="solid"/>
          </a:ln>
        </p:spPr>
      </p:sp>
      <p:sp>
        <p:nvSpPr>
          <p:cNvPr id="683491524" name="Shape 49"/>
          <p:cNvSpPr/>
          <p:nvPr/>
        </p:nvSpPr>
        <p:spPr bwMode="auto">
          <a:xfrm>
            <a:off x="6330156" y="3869531"/>
            <a:ext cx="436563" cy="436563"/>
          </a:xfrm>
          <a:custGeom>
            <a:avLst/>
            <a:gdLst/>
            <a:ahLst/>
            <a:cxnLst/>
            <a:rect l="l" t="t" r="r" b="b"/>
            <a:pathLst>
              <a:path w="436563" h="436563" fill="norm" stroke="1" extrusionOk="0">
                <a:moveTo>
                  <a:pt x="95249" y="0"/>
                </a:moveTo>
                <a:lnTo>
                  <a:pt x="341313" y="0"/>
                </a:lnTo>
                <a:cubicBezTo>
                  <a:pt x="393918" y="0"/>
                  <a:pt x="436563" y="42645"/>
                  <a:pt x="436563" y="95249"/>
                </a:cubicBezTo>
                <a:lnTo>
                  <a:pt x="436563" y="341313"/>
                </a:lnTo>
                <a:cubicBezTo>
                  <a:pt x="436563" y="393918"/>
                  <a:pt x="393918" y="436563"/>
                  <a:pt x="341313" y="436563"/>
                </a:cubicBezTo>
                <a:lnTo>
                  <a:pt x="95249" y="436563"/>
                </a:lnTo>
                <a:cubicBezTo>
                  <a:pt x="42645" y="436563"/>
                  <a:pt x="0" y="393918"/>
                  <a:pt x="0" y="341313"/>
                </a:cubicBezTo>
                <a:lnTo>
                  <a:pt x="0" y="95249"/>
                </a:lnTo>
                <a:cubicBezTo>
                  <a:pt x="0" y="42645"/>
                  <a:pt x="42645" y="0"/>
                  <a:pt x="95249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 w="12700">
            <a:solidFill>
              <a:srgbClr val="4ECDC4">
                <a:alpha val="40000"/>
              </a:srgbClr>
            </a:solidFill>
            <a:prstDash val="solid"/>
          </a:ln>
        </p:spPr>
      </p:sp>
      <p:sp>
        <p:nvSpPr>
          <p:cNvPr id="547478210" name="Shape 50"/>
          <p:cNvSpPr/>
          <p:nvPr/>
        </p:nvSpPr>
        <p:spPr bwMode="auto">
          <a:xfrm>
            <a:off x="6453188" y="399256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 fill="norm" stroke="1" extrusionOk="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162908999" name="Text 51"/>
          <p:cNvSpPr/>
          <p:nvPr/>
        </p:nvSpPr>
        <p:spPr bwMode="auto">
          <a:xfrm>
            <a:off x="6865937" y="3865563"/>
            <a:ext cx="103981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500" b="1">
                <a:solidFill>
                  <a:srgbClr val="4ECDC4"/>
                </a:solidFill>
                <a:latin typeface="MiSans"/>
                <a:ea typeface="MiSans"/>
                <a:cs typeface="MiSans"/>
              </a:rPr>
              <a:t>Normal</a:t>
            </a:r>
            <a:endParaRPr lang="en-US" sz="1600"/>
          </a:p>
        </p:txBody>
      </p:sp>
      <p:sp>
        <p:nvSpPr>
          <p:cNvPr id="13603556" name="Text 52"/>
          <p:cNvSpPr/>
          <p:nvPr/>
        </p:nvSpPr>
        <p:spPr bwMode="auto">
          <a:xfrm>
            <a:off x="6865937" y="4119562"/>
            <a:ext cx="1008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E0E2E5">
                    <a:alpha val="70000"/>
                  </a:srgbClr>
                </a:solidFill>
                <a:latin typeface="MiSans"/>
                <a:ea typeface="MiSans"/>
                <a:cs typeface="MiSans"/>
              </a:rPr>
              <a:t>Tráfico Legítimo</a:t>
            </a:r>
            <a:endParaRPr lang="en-US" sz="1600"/>
          </a:p>
        </p:txBody>
      </p:sp>
      <p:sp>
        <p:nvSpPr>
          <p:cNvPr id="1728625902" name="Shape 53"/>
          <p:cNvSpPr/>
          <p:nvPr/>
        </p:nvSpPr>
        <p:spPr bwMode="auto">
          <a:xfrm>
            <a:off x="6330156" y="4441031"/>
            <a:ext cx="5373688" cy="357188"/>
          </a:xfrm>
          <a:custGeom>
            <a:avLst/>
            <a:gdLst/>
            <a:ahLst/>
            <a:cxnLst/>
            <a:rect l="l" t="t" r="r" b="b"/>
            <a:pathLst>
              <a:path w="5373688" h="357188" fill="norm" stroke="1" extrusionOk="0">
                <a:moveTo>
                  <a:pt x="63501" y="0"/>
                </a:moveTo>
                <a:lnTo>
                  <a:pt x="5310187" y="0"/>
                </a:lnTo>
                <a:cubicBezTo>
                  <a:pt x="5345257" y="0"/>
                  <a:pt x="5373688" y="28430"/>
                  <a:pt x="5373688" y="63501"/>
                </a:cubicBezTo>
                <a:lnTo>
                  <a:pt x="5373688" y="293687"/>
                </a:lnTo>
                <a:cubicBezTo>
                  <a:pt x="5373688" y="328757"/>
                  <a:pt x="5345257" y="357188"/>
                  <a:pt x="5310187" y="357188"/>
                </a:cubicBezTo>
                <a:lnTo>
                  <a:pt x="63501" y="357188"/>
                </a:lnTo>
                <a:cubicBezTo>
                  <a:pt x="28430" y="357188"/>
                  <a:pt x="0" y="328757"/>
                  <a:pt x="0" y="293687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4ECDC4">
                <a:alpha val="30193"/>
              </a:srgbClr>
            </a:solidFill>
            <a:prstDash val="solid"/>
          </a:ln>
        </p:spPr>
      </p:sp>
      <p:sp>
        <p:nvSpPr>
          <p:cNvPr id="1922187319" name="Text 54"/>
          <p:cNvSpPr/>
          <p:nvPr/>
        </p:nvSpPr>
        <p:spPr bwMode="auto">
          <a:xfrm>
            <a:off x="6429375" y="4524375"/>
            <a:ext cx="611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E0E2E5">
                    <a:alpha val="80000"/>
                  </a:srgbClr>
                </a:solidFill>
                <a:latin typeface="MiSans"/>
                <a:ea typeface="MiSans"/>
                <a:cs typeface="MiSans"/>
              </a:rPr>
              <a:t>src_bytes</a:t>
            </a:r>
            <a:endParaRPr lang="en-US" sz="1600"/>
          </a:p>
        </p:txBody>
      </p:sp>
      <p:sp>
        <p:nvSpPr>
          <p:cNvPr id="32353480" name="Text 55"/>
          <p:cNvSpPr/>
          <p:nvPr/>
        </p:nvSpPr>
        <p:spPr bwMode="auto">
          <a:xfrm>
            <a:off x="11010366" y="4508500"/>
            <a:ext cx="674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250" b="1">
                <a:solidFill>
                  <a:srgbClr val="4ECDC4"/>
                </a:solidFill>
                <a:latin typeface="MiSans"/>
                <a:ea typeface="MiSans"/>
                <a:cs typeface="MiSans"/>
              </a:rPr>
              <a:t>Variable</a:t>
            </a:r>
            <a:endParaRPr lang="en-US" sz="1600"/>
          </a:p>
        </p:txBody>
      </p:sp>
      <p:sp>
        <p:nvSpPr>
          <p:cNvPr id="1064185077" name="Shape 56"/>
          <p:cNvSpPr/>
          <p:nvPr/>
        </p:nvSpPr>
        <p:spPr bwMode="auto">
          <a:xfrm>
            <a:off x="6330156" y="4869656"/>
            <a:ext cx="5373688" cy="357188"/>
          </a:xfrm>
          <a:custGeom>
            <a:avLst/>
            <a:gdLst/>
            <a:ahLst/>
            <a:cxnLst/>
            <a:rect l="l" t="t" r="r" b="b"/>
            <a:pathLst>
              <a:path w="5373688" h="357188" fill="norm" stroke="1" extrusionOk="0">
                <a:moveTo>
                  <a:pt x="63501" y="0"/>
                </a:moveTo>
                <a:lnTo>
                  <a:pt x="5310187" y="0"/>
                </a:lnTo>
                <a:cubicBezTo>
                  <a:pt x="5345257" y="0"/>
                  <a:pt x="5373688" y="28430"/>
                  <a:pt x="5373688" y="63501"/>
                </a:cubicBezTo>
                <a:lnTo>
                  <a:pt x="5373688" y="293687"/>
                </a:lnTo>
                <a:cubicBezTo>
                  <a:pt x="5373688" y="328757"/>
                  <a:pt x="5345257" y="357188"/>
                  <a:pt x="5310187" y="357188"/>
                </a:cubicBezTo>
                <a:lnTo>
                  <a:pt x="63501" y="357188"/>
                </a:lnTo>
                <a:cubicBezTo>
                  <a:pt x="28430" y="357188"/>
                  <a:pt x="0" y="328757"/>
                  <a:pt x="0" y="293687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4ECDC4">
                <a:alpha val="30193"/>
              </a:srgbClr>
            </a:solidFill>
            <a:prstDash val="solid"/>
          </a:ln>
        </p:spPr>
      </p:sp>
      <p:sp>
        <p:nvSpPr>
          <p:cNvPr id="1374928215" name="Text 57"/>
          <p:cNvSpPr/>
          <p:nvPr/>
        </p:nvSpPr>
        <p:spPr bwMode="auto">
          <a:xfrm>
            <a:off x="6429375" y="4953000"/>
            <a:ext cx="619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E0E2E5">
                    <a:alpha val="80000"/>
                  </a:srgbClr>
                </a:solidFill>
                <a:latin typeface="MiSans"/>
                <a:ea typeface="MiSans"/>
                <a:cs typeface="MiSans"/>
              </a:rPr>
              <a:t>dst_bytes</a:t>
            </a:r>
            <a:endParaRPr lang="en-US" sz="1600"/>
          </a:p>
        </p:txBody>
      </p:sp>
      <p:sp>
        <p:nvSpPr>
          <p:cNvPr id="616793904" name="Text 58"/>
          <p:cNvSpPr/>
          <p:nvPr/>
        </p:nvSpPr>
        <p:spPr bwMode="auto">
          <a:xfrm>
            <a:off x="11010366" y="4937125"/>
            <a:ext cx="674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250" b="1">
                <a:solidFill>
                  <a:srgbClr val="4ECDC4"/>
                </a:solidFill>
                <a:latin typeface="MiSans"/>
                <a:ea typeface="MiSans"/>
                <a:cs typeface="MiSans"/>
              </a:rPr>
              <a:t>Variable</a:t>
            </a:r>
            <a:endParaRPr lang="en-US" sz="1600"/>
          </a:p>
        </p:txBody>
      </p:sp>
      <p:sp>
        <p:nvSpPr>
          <p:cNvPr id="326713765" name="Shape 59"/>
          <p:cNvSpPr/>
          <p:nvPr/>
        </p:nvSpPr>
        <p:spPr bwMode="auto">
          <a:xfrm>
            <a:off x="6330156" y="5298281"/>
            <a:ext cx="5373688" cy="357188"/>
          </a:xfrm>
          <a:custGeom>
            <a:avLst/>
            <a:gdLst/>
            <a:ahLst/>
            <a:cxnLst/>
            <a:rect l="l" t="t" r="r" b="b"/>
            <a:pathLst>
              <a:path w="5373688" h="357188" fill="norm" stroke="1" extrusionOk="0">
                <a:moveTo>
                  <a:pt x="63501" y="0"/>
                </a:moveTo>
                <a:lnTo>
                  <a:pt x="5310187" y="0"/>
                </a:lnTo>
                <a:cubicBezTo>
                  <a:pt x="5345257" y="0"/>
                  <a:pt x="5373688" y="28430"/>
                  <a:pt x="5373688" y="63501"/>
                </a:cubicBezTo>
                <a:lnTo>
                  <a:pt x="5373688" y="293687"/>
                </a:lnTo>
                <a:cubicBezTo>
                  <a:pt x="5373688" y="328757"/>
                  <a:pt x="5345257" y="357188"/>
                  <a:pt x="5310187" y="357188"/>
                </a:cubicBezTo>
                <a:lnTo>
                  <a:pt x="63501" y="357188"/>
                </a:lnTo>
                <a:cubicBezTo>
                  <a:pt x="28430" y="357188"/>
                  <a:pt x="0" y="328757"/>
                  <a:pt x="0" y="293687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4ECDC4">
                <a:alpha val="30193"/>
              </a:srgbClr>
            </a:solidFill>
            <a:prstDash val="solid"/>
          </a:ln>
        </p:spPr>
      </p:sp>
      <p:sp>
        <p:nvSpPr>
          <p:cNvPr id="1514515806" name="Text 60"/>
          <p:cNvSpPr/>
          <p:nvPr/>
        </p:nvSpPr>
        <p:spPr bwMode="auto">
          <a:xfrm>
            <a:off x="6429375" y="5381625"/>
            <a:ext cx="746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E0E2E5">
                    <a:alpha val="80000"/>
                  </a:srgbClr>
                </a:solidFill>
                <a:latin typeface="MiSans"/>
                <a:ea typeface="MiSans"/>
                <a:cs typeface="MiSans"/>
              </a:rPr>
              <a:t>Variabilidad</a:t>
            </a:r>
            <a:endParaRPr lang="en-US" sz="1600"/>
          </a:p>
        </p:txBody>
      </p:sp>
      <p:sp>
        <p:nvSpPr>
          <p:cNvPr id="789623756" name="Text 61"/>
          <p:cNvSpPr/>
          <p:nvPr/>
        </p:nvSpPr>
        <p:spPr bwMode="auto">
          <a:xfrm>
            <a:off x="11320921" y="5365750"/>
            <a:ext cx="365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250" b="1">
                <a:solidFill>
                  <a:srgbClr val="4ECDC4"/>
                </a:solidFill>
                <a:latin typeface="MiSans"/>
                <a:ea typeface="MiSans"/>
                <a:cs typeface="MiSans"/>
              </a:rPr>
              <a:t>Alta</a:t>
            </a:r>
            <a:endParaRPr lang="en-US" sz="1600"/>
          </a:p>
        </p:txBody>
      </p:sp>
      <p:sp>
        <p:nvSpPr>
          <p:cNvPr id="1721504399" name="Shape 62"/>
          <p:cNvSpPr/>
          <p:nvPr/>
        </p:nvSpPr>
        <p:spPr bwMode="auto">
          <a:xfrm>
            <a:off x="6342063" y="579437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 fill="norm" stroke="1" extrusionOk="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55563" y="39688"/>
                </a:moveTo>
                <a:cubicBezTo>
                  <a:pt x="55563" y="35307"/>
                  <a:pt x="59119" y="31750"/>
                  <a:pt x="63500" y="31750"/>
                </a:cubicBezTo>
                <a:cubicBezTo>
                  <a:pt x="67881" y="31750"/>
                  <a:pt x="71438" y="35307"/>
                  <a:pt x="71438" y="39688"/>
                </a:cubicBezTo>
                <a:cubicBezTo>
                  <a:pt x="71438" y="44068"/>
                  <a:pt x="67881" y="47625"/>
                  <a:pt x="63500" y="47625"/>
                </a:cubicBezTo>
                <a:cubicBezTo>
                  <a:pt x="59119" y="47625"/>
                  <a:pt x="55563" y="44068"/>
                  <a:pt x="55563" y="39688"/>
                </a:cubicBezTo>
                <a:close/>
                <a:moveTo>
                  <a:pt x="53578" y="55563"/>
                </a:moveTo>
                <a:lnTo>
                  <a:pt x="65484" y="55563"/>
                </a:lnTo>
                <a:cubicBezTo>
                  <a:pt x="68783" y="55563"/>
                  <a:pt x="71438" y="58217"/>
                  <a:pt x="71438" y="61516"/>
                </a:cubicBezTo>
                <a:lnTo>
                  <a:pt x="71438" y="83344"/>
                </a:lnTo>
                <a:lnTo>
                  <a:pt x="73422" y="83344"/>
                </a:lnTo>
                <a:cubicBezTo>
                  <a:pt x="76721" y="83344"/>
                  <a:pt x="79375" y="85998"/>
                  <a:pt x="79375" y="89297"/>
                </a:cubicBezTo>
                <a:cubicBezTo>
                  <a:pt x="79375" y="92596"/>
                  <a:pt x="76721" y="95250"/>
                  <a:pt x="73422" y="95250"/>
                </a:cubicBezTo>
                <a:lnTo>
                  <a:pt x="53578" y="95250"/>
                </a:lnTo>
                <a:cubicBezTo>
                  <a:pt x="50279" y="95250"/>
                  <a:pt x="47625" y="92596"/>
                  <a:pt x="47625" y="89297"/>
                </a:cubicBezTo>
                <a:cubicBezTo>
                  <a:pt x="47625" y="85998"/>
                  <a:pt x="50279" y="83344"/>
                  <a:pt x="53578" y="83344"/>
                </a:cubicBezTo>
                <a:lnTo>
                  <a:pt x="59531" y="83344"/>
                </a:lnTo>
                <a:lnTo>
                  <a:pt x="59531" y="67469"/>
                </a:lnTo>
                <a:lnTo>
                  <a:pt x="53578" y="67469"/>
                </a:lnTo>
                <a:cubicBezTo>
                  <a:pt x="50279" y="67469"/>
                  <a:pt x="47625" y="64815"/>
                  <a:pt x="47625" y="61516"/>
                </a:cubicBezTo>
                <a:cubicBezTo>
                  <a:pt x="47625" y="58217"/>
                  <a:pt x="50279" y="55563"/>
                  <a:pt x="53578" y="55563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78544035" name="Text 63"/>
          <p:cNvSpPr/>
          <p:nvPr/>
        </p:nvSpPr>
        <p:spPr bwMode="auto">
          <a:xfrm>
            <a:off x="6524625" y="5754688"/>
            <a:ext cx="5246688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000">
                <a:solidFill>
                  <a:srgbClr val="E0E2E5">
                    <a:alpha val="70000"/>
                  </a:srgbClr>
                </a:solidFill>
                <a:latin typeface="MiSans"/>
                <a:ea typeface="MiSans"/>
                <a:cs typeface="MiSans"/>
              </a:rPr>
              <a:t>Valores intermedios con alta variabilidad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1A1D2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2641272" name="Shape 0"/>
          <p:cNvSpPr/>
          <p:nvPr/>
        </p:nvSpPr>
        <p:spPr bwMode="auto">
          <a:xfrm>
            <a:off x="359911" y="611849"/>
            <a:ext cx="44989" cy="359911"/>
          </a:xfrm>
          <a:custGeom>
            <a:avLst/>
            <a:gdLst/>
            <a:ahLst/>
            <a:cxnLst/>
            <a:rect l="l" t="t" r="r" b="b"/>
            <a:pathLst>
              <a:path w="44989" h="359911" fill="norm" stroke="1" extrusionOk="0">
                <a:moveTo>
                  <a:pt x="22494" y="0"/>
                </a:moveTo>
                <a:lnTo>
                  <a:pt x="22494" y="0"/>
                </a:lnTo>
                <a:cubicBezTo>
                  <a:pt x="34909" y="0"/>
                  <a:pt x="44989" y="10079"/>
                  <a:pt x="44989" y="22494"/>
                </a:cubicBezTo>
                <a:lnTo>
                  <a:pt x="44989" y="337417"/>
                </a:lnTo>
                <a:cubicBezTo>
                  <a:pt x="44989" y="349840"/>
                  <a:pt x="34918" y="359911"/>
                  <a:pt x="22494" y="359911"/>
                </a:cubicBezTo>
                <a:lnTo>
                  <a:pt x="22494" y="359911"/>
                </a:lnTo>
                <a:cubicBezTo>
                  <a:pt x="10071" y="359911"/>
                  <a:pt x="0" y="349840"/>
                  <a:pt x="0" y="337417"/>
                </a:cubicBezTo>
                <a:lnTo>
                  <a:pt x="0" y="22494"/>
                </a:lnTo>
                <a:cubicBezTo>
                  <a:pt x="0" y="10079"/>
                  <a:pt x="10079" y="0"/>
                  <a:pt x="22494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611050572" name="Text 1"/>
          <p:cNvSpPr/>
          <p:nvPr/>
        </p:nvSpPr>
        <p:spPr bwMode="auto">
          <a:xfrm>
            <a:off x="513788" y="359911"/>
            <a:ext cx="11535162" cy="863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  <a:defRPr/>
            </a:pPr>
            <a:r>
              <a:rPr lang="en-US" sz="3400" b="1">
                <a:solidFill>
                  <a:srgbClr val="E0E2E5"/>
                </a:solidFill>
                <a:latin typeface="MiSans"/>
                <a:ea typeface="MiSans"/>
                <a:cs typeface="MiSans"/>
              </a:rPr>
              <a:t>Pregunta 2: ¿Podemos reducir 32 variables sin perder información?</a:t>
            </a:r>
            <a:endParaRPr lang="en-US" sz="1600"/>
          </a:p>
        </p:txBody>
      </p:sp>
      <p:sp>
        <p:nvSpPr>
          <p:cNvPr id="329514551" name="Text 2"/>
          <p:cNvSpPr/>
          <p:nvPr/>
        </p:nvSpPr>
        <p:spPr bwMode="auto">
          <a:xfrm>
            <a:off x="575858" y="1295681"/>
            <a:ext cx="11346208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5F85A5"/>
                </a:solidFill>
                <a:latin typeface="MiSans"/>
                <a:ea typeface="MiSans"/>
                <a:cs typeface="MiSans"/>
              </a:rPr>
              <a:t>Análisis de Componentes Principales (PCA)</a:t>
            </a:r>
            <a:endParaRPr lang="en-US" sz="1600"/>
          </a:p>
        </p:txBody>
      </p:sp>
      <p:sp>
        <p:nvSpPr>
          <p:cNvPr id="1794187704" name="Shape 3"/>
          <p:cNvSpPr/>
          <p:nvPr/>
        </p:nvSpPr>
        <p:spPr bwMode="auto">
          <a:xfrm>
            <a:off x="364410" y="1732074"/>
            <a:ext cx="6964286" cy="4759829"/>
          </a:xfrm>
          <a:custGeom>
            <a:avLst/>
            <a:gdLst/>
            <a:ahLst/>
            <a:cxnLst/>
            <a:rect l="l" t="t" r="r" b="b"/>
            <a:pathLst>
              <a:path w="6964286" h="4759829" fill="norm" stroke="1" extrusionOk="0">
                <a:moveTo>
                  <a:pt x="143985" y="0"/>
                </a:moveTo>
                <a:lnTo>
                  <a:pt x="6820302" y="0"/>
                </a:lnTo>
                <a:cubicBezTo>
                  <a:pt x="6899822" y="0"/>
                  <a:pt x="6964286" y="64464"/>
                  <a:pt x="6964286" y="143985"/>
                </a:cubicBezTo>
                <a:lnTo>
                  <a:pt x="6964286" y="4615844"/>
                </a:lnTo>
                <a:cubicBezTo>
                  <a:pt x="6964286" y="4695365"/>
                  <a:pt x="6899822" y="4759829"/>
                  <a:pt x="6820302" y="4759829"/>
                </a:cubicBezTo>
                <a:lnTo>
                  <a:pt x="143985" y="4759829"/>
                </a:lnTo>
                <a:cubicBezTo>
                  <a:pt x="64464" y="4759829"/>
                  <a:pt x="0" y="4695365"/>
                  <a:pt x="0" y="4615844"/>
                </a:cubicBezTo>
                <a:lnTo>
                  <a:pt x="0" y="143985"/>
                </a:lnTo>
                <a:cubicBezTo>
                  <a:pt x="0" y="64517"/>
                  <a:pt x="64517" y="0"/>
                  <a:pt x="143985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5F85A5">
                <a:alpha val="30193"/>
              </a:srgbClr>
            </a:solidFill>
            <a:prstDash val="solid"/>
          </a:ln>
        </p:spPr>
      </p:sp>
      <p:sp>
        <p:nvSpPr>
          <p:cNvPr id="1744642537" name="Text 4"/>
          <p:cNvSpPr/>
          <p:nvPr/>
        </p:nvSpPr>
        <p:spPr bwMode="auto">
          <a:xfrm>
            <a:off x="503876" y="1916528"/>
            <a:ext cx="6685355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400" b="1">
                <a:solidFill>
                  <a:srgbClr val="E0E2E5"/>
                </a:solidFill>
                <a:latin typeface="MiSans"/>
                <a:ea typeface="MiSans"/>
                <a:cs typeface="MiSans"/>
              </a:rPr>
              <a:t>Scree Plot - Varianza Explicada</a:t>
            </a:r>
            <a:endParaRPr lang="en-US" sz="1600"/>
          </a:p>
        </p:txBody>
      </p:sp>
      <p:sp>
        <p:nvSpPr>
          <p:cNvPr id="276089807" name="Shape 5"/>
          <p:cNvSpPr/>
          <p:nvPr/>
        </p:nvSpPr>
        <p:spPr bwMode="auto">
          <a:xfrm>
            <a:off x="553364" y="5322190"/>
            <a:ext cx="2114480" cy="980759"/>
          </a:xfrm>
          <a:custGeom>
            <a:avLst/>
            <a:gdLst/>
            <a:ahLst/>
            <a:cxnLst/>
            <a:rect l="l" t="t" r="r" b="b"/>
            <a:pathLst>
              <a:path w="2114480" h="980759" fill="norm" stroke="1" extrusionOk="0">
                <a:moveTo>
                  <a:pt x="107972" y="0"/>
                </a:moveTo>
                <a:lnTo>
                  <a:pt x="2006508" y="0"/>
                </a:lnTo>
                <a:cubicBezTo>
                  <a:pt x="2066139" y="0"/>
                  <a:pt x="2114480" y="48341"/>
                  <a:pt x="2114480" y="107972"/>
                </a:cubicBezTo>
                <a:lnTo>
                  <a:pt x="2114480" y="872787"/>
                </a:lnTo>
                <a:cubicBezTo>
                  <a:pt x="2114480" y="932418"/>
                  <a:pt x="2066139" y="980759"/>
                  <a:pt x="2006508" y="980759"/>
                </a:cubicBezTo>
                <a:lnTo>
                  <a:pt x="107972" y="980759"/>
                </a:lnTo>
                <a:cubicBezTo>
                  <a:pt x="48341" y="980759"/>
                  <a:pt x="0" y="932418"/>
                  <a:pt x="0" y="872787"/>
                </a:cubicBezTo>
                <a:lnTo>
                  <a:pt x="0" y="107972"/>
                </a:lnTo>
                <a:cubicBezTo>
                  <a:pt x="0" y="48381"/>
                  <a:pt x="48381" y="0"/>
                  <a:pt x="10797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4ECDC4">
                <a:alpha val="30193"/>
              </a:srgbClr>
            </a:solidFill>
            <a:prstDash val="solid"/>
          </a:ln>
        </p:spPr>
      </p:sp>
      <p:sp>
        <p:nvSpPr>
          <p:cNvPr id="522058701" name="Text 6"/>
          <p:cNvSpPr/>
          <p:nvPr/>
        </p:nvSpPr>
        <p:spPr bwMode="auto">
          <a:xfrm>
            <a:off x="629845" y="5434663"/>
            <a:ext cx="1961517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s-ES" sz="1150">
                <a:solidFill>
                  <a:srgbClr val="E0E2E5">
                    <a:alpha val="70000"/>
                  </a:srgbClr>
                </a:solidFill>
                <a:latin typeface="MiSans"/>
                <a:ea typeface="MiSans"/>
                <a:cs typeface="MiSans"/>
              </a:rPr>
              <a:t>5</a:t>
            </a:r>
            <a:r>
              <a:rPr lang="en-US" sz="1150">
                <a:solidFill>
                  <a:srgbClr val="E0E2E5">
                    <a:alpha val="70000"/>
                  </a:srgbClr>
                </a:solidFill>
                <a:latin typeface="MiSans"/>
                <a:ea typeface="MiSans"/>
                <a:cs typeface="MiSans"/>
              </a:rPr>
              <a:t> PCs</a:t>
            </a:r>
            <a:endParaRPr lang="en-US" sz="1600"/>
          </a:p>
        </p:txBody>
      </p:sp>
      <p:sp>
        <p:nvSpPr>
          <p:cNvPr id="1184736569" name="Text 7"/>
          <p:cNvSpPr/>
          <p:nvPr/>
        </p:nvSpPr>
        <p:spPr bwMode="auto">
          <a:xfrm>
            <a:off x="611849" y="5686601"/>
            <a:ext cx="1997508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lang="es-ES" sz="1700" b="1">
                <a:solidFill>
                  <a:srgbClr val="4ECDC4"/>
                </a:solidFill>
                <a:latin typeface="MiSans"/>
                <a:ea typeface="MiSans"/>
                <a:cs typeface="MiSans"/>
              </a:rPr>
              <a:t>60.7</a:t>
            </a:r>
            <a:r>
              <a:rPr lang="en-US" sz="1700" b="1">
                <a:solidFill>
                  <a:srgbClr val="4ECDC4"/>
                </a:solidFill>
                <a:latin typeface="MiSans"/>
                <a:ea typeface="MiSans"/>
                <a:cs typeface="MiSans"/>
              </a:rPr>
              <a:t>5%</a:t>
            </a:r>
            <a:endParaRPr lang="en-US" sz="1600"/>
          </a:p>
        </p:txBody>
      </p:sp>
      <p:sp>
        <p:nvSpPr>
          <p:cNvPr id="155450145" name="Text 8"/>
          <p:cNvSpPr/>
          <p:nvPr/>
        </p:nvSpPr>
        <p:spPr bwMode="auto">
          <a:xfrm>
            <a:off x="629845" y="5974530"/>
            <a:ext cx="1961517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150">
                <a:solidFill>
                  <a:srgbClr val="E0E2E5">
                    <a:alpha val="60000"/>
                  </a:srgbClr>
                </a:solidFill>
                <a:latin typeface="MiSans"/>
                <a:ea typeface="MiSans"/>
                <a:cs typeface="MiSans"/>
              </a:rPr>
              <a:t>Varianza</a:t>
            </a:r>
            <a:endParaRPr lang="en-US" sz="1600"/>
          </a:p>
        </p:txBody>
      </p:sp>
      <p:sp>
        <p:nvSpPr>
          <p:cNvPr id="646410450" name="Shape 9"/>
          <p:cNvSpPr/>
          <p:nvPr/>
        </p:nvSpPr>
        <p:spPr bwMode="auto">
          <a:xfrm>
            <a:off x="2786783" y="5322190"/>
            <a:ext cx="2114480" cy="980759"/>
          </a:xfrm>
          <a:custGeom>
            <a:avLst/>
            <a:gdLst/>
            <a:ahLst/>
            <a:cxnLst/>
            <a:rect l="l" t="t" r="r" b="b"/>
            <a:pathLst>
              <a:path w="2114480" h="980759" fill="norm" stroke="1" extrusionOk="0">
                <a:moveTo>
                  <a:pt x="107972" y="0"/>
                </a:moveTo>
                <a:lnTo>
                  <a:pt x="2006508" y="0"/>
                </a:lnTo>
                <a:cubicBezTo>
                  <a:pt x="2066139" y="0"/>
                  <a:pt x="2114480" y="48341"/>
                  <a:pt x="2114480" y="107972"/>
                </a:cubicBezTo>
                <a:lnTo>
                  <a:pt x="2114480" y="872787"/>
                </a:lnTo>
                <a:cubicBezTo>
                  <a:pt x="2114480" y="932418"/>
                  <a:pt x="2066139" y="980759"/>
                  <a:pt x="2006508" y="980759"/>
                </a:cubicBezTo>
                <a:lnTo>
                  <a:pt x="107972" y="980759"/>
                </a:lnTo>
                <a:cubicBezTo>
                  <a:pt x="48341" y="980759"/>
                  <a:pt x="0" y="932418"/>
                  <a:pt x="0" y="872787"/>
                </a:cubicBezTo>
                <a:lnTo>
                  <a:pt x="0" y="107972"/>
                </a:lnTo>
                <a:cubicBezTo>
                  <a:pt x="0" y="48381"/>
                  <a:pt x="48381" y="0"/>
                  <a:pt x="10797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5F85A5">
                <a:alpha val="30193"/>
              </a:srgbClr>
            </a:solidFill>
            <a:prstDash val="solid"/>
          </a:ln>
        </p:spPr>
      </p:sp>
      <p:sp>
        <p:nvSpPr>
          <p:cNvPr id="1493136435" name="Text 10"/>
          <p:cNvSpPr/>
          <p:nvPr/>
        </p:nvSpPr>
        <p:spPr bwMode="auto">
          <a:xfrm>
            <a:off x="2863264" y="5434663"/>
            <a:ext cx="1961517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150">
                <a:solidFill>
                  <a:srgbClr val="E0E2E5">
                    <a:alpha val="70000"/>
                  </a:srgbClr>
                </a:solidFill>
                <a:latin typeface="MiSans"/>
                <a:ea typeface="MiSans"/>
                <a:cs typeface="MiSans"/>
              </a:rPr>
              <a:t>Reducción</a:t>
            </a:r>
            <a:endParaRPr lang="en-US" sz="1600"/>
          </a:p>
        </p:txBody>
      </p:sp>
      <p:sp>
        <p:nvSpPr>
          <p:cNvPr id="1200526807" name="Text 11"/>
          <p:cNvSpPr/>
          <p:nvPr/>
        </p:nvSpPr>
        <p:spPr bwMode="auto">
          <a:xfrm>
            <a:off x="2845269" y="5686601"/>
            <a:ext cx="1997508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lang="es-ES" sz="1700" b="1">
                <a:solidFill>
                  <a:srgbClr val="5F85A5"/>
                </a:solidFill>
                <a:latin typeface="MiSans"/>
                <a:ea typeface="MiSans"/>
                <a:cs typeface="MiSans"/>
              </a:rPr>
              <a:t>84.4</a:t>
            </a:r>
            <a:r>
              <a:rPr lang="en-US" sz="1700" b="1">
                <a:solidFill>
                  <a:srgbClr val="5F85A5"/>
                </a:solidFill>
                <a:latin typeface="MiSans"/>
                <a:ea typeface="MiSans"/>
                <a:cs typeface="MiSans"/>
              </a:rPr>
              <a:t>%</a:t>
            </a:r>
            <a:endParaRPr lang="en-US" sz="1600"/>
          </a:p>
        </p:txBody>
      </p:sp>
      <p:sp>
        <p:nvSpPr>
          <p:cNvPr id="2076178227" name="Text 12"/>
          <p:cNvSpPr/>
          <p:nvPr/>
        </p:nvSpPr>
        <p:spPr bwMode="auto">
          <a:xfrm>
            <a:off x="2863264" y="5974530"/>
            <a:ext cx="1961517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150">
                <a:solidFill>
                  <a:srgbClr val="E0E2E5">
                    <a:alpha val="60000"/>
                  </a:srgbClr>
                </a:solidFill>
                <a:latin typeface="MiSans"/>
                <a:ea typeface="MiSans"/>
                <a:cs typeface="MiSans"/>
              </a:rPr>
              <a:t>Dimensionalidad</a:t>
            </a:r>
            <a:endParaRPr lang="en-US" sz="1600"/>
          </a:p>
        </p:txBody>
      </p:sp>
      <p:sp>
        <p:nvSpPr>
          <p:cNvPr id="1697442722" name="Shape 13"/>
          <p:cNvSpPr/>
          <p:nvPr/>
        </p:nvSpPr>
        <p:spPr bwMode="auto">
          <a:xfrm>
            <a:off x="5020202" y="5322190"/>
            <a:ext cx="2114480" cy="980759"/>
          </a:xfrm>
          <a:custGeom>
            <a:avLst/>
            <a:gdLst/>
            <a:ahLst/>
            <a:cxnLst/>
            <a:rect l="l" t="t" r="r" b="b"/>
            <a:pathLst>
              <a:path w="2114480" h="980759" fill="norm" stroke="1" extrusionOk="0">
                <a:moveTo>
                  <a:pt x="107972" y="0"/>
                </a:moveTo>
                <a:lnTo>
                  <a:pt x="2006508" y="0"/>
                </a:lnTo>
                <a:cubicBezTo>
                  <a:pt x="2066139" y="0"/>
                  <a:pt x="2114480" y="48341"/>
                  <a:pt x="2114480" y="107972"/>
                </a:cubicBezTo>
                <a:lnTo>
                  <a:pt x="2114480" y="872787"/>
                </a:lnTo>
                <a:cubicBezTo>
                  <a:pt x="2114480" y="932418"/>
                  <a:pt x="2066139" y="980759"/>
                  <a:pt x="2006508" y="980759"/>
                </a:cubicBezTo>
                <a:lnTo>
                  <a:pt x="107972" y="980759"/>
                </a:lnTo>
                <a:cubicBezTo>
                  <a:pt x="48341" y="980759"/>
                  <a:pt x="0" y="932418"/>
                  <a:pt x="0" y="872787"/>
                </a:cubicBezTo>
                <a:lnTo>
                  <a:pt x="0" y="107972"/>
                </a:lnTo>
                <a:cubicBezTo>
                  <a:pt x="0" y="48381"/>
                  <a:pt x="48381" y="0"/>
                  <a:pt x="10797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F39C12">
                <a:alpha val="30193"/>
              </a:srgbClr>
            </a:solidFill>
            <a:prstDash val="solid"/>
          </a:ln>
        </p:spPr>
      </p:sp>
      <p:sp>
        <p:nvSpPr>
          <p:cNvPr id="1723570834" name="Text 14"/>
          <p:cNvSpPr/>
          <p:nvPr/>
        </p:nvSpPr>
        <p:spPr bwMode="auto">
          <a:xfrm>
            <a:off x="5096683" y="5434663"/>
            <a:ext cx="1961517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150">
                <a:solidFill>
                  <a:srgbClr val="E0E2E5">
                    <a:alpha val="70000"/>
                  </a:srgbClr>
                </a:solidFill>
                <a:latin typeface="MiSans"/>
                <a:ea typeface="MiSans"/>
                <a:cs typeface="MiSans"/>
              </a:rPr>
              <a:t>Silhouette</a:t>
            </a:r>
            <a:endParaRPr lang="en-US" sz="1600"/>
          </a:p>
        </p:txBody>
      </p:sp>
      <p:sp>
        <p:nvSpPr>
          <p:cNvPr id="1431305012" name="Text 15"/>
          <p:cNvSpPr/>
          <p:nvPr/>
        </p:nvSpPr>
        <p:spPr bwMode="auto">
          <a:xfrm>
            <a:off x="5078688" y="5686601"/>
            <a:ext cx="1997508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1700" b="1">
                <a:solidFill>
                  <a:srgbClr val="F39C12"/>
                </a:solidFill>
                <a:latin typeface="MiSans"/>
                <a:ea typeface="MiSans"/>
                <a:cs typeface="MiSans"/>
              </a:rPr>
              <a:t>0.13</a:t>
            </a:r>
            <a:endParaRPr lang="en-US" sz="1600"/>
          </a:p>
        </p:txBody>
      </p:sp>
      <p:sp>
        <p:nvSpPr>
          <p:cNvPr id="543707291" name="Text 16"/>
          <p:cNvSpPr/>
          <p:nvPr/>
        </p:nvSpPr>
        <p:spPr bwMode="auto">
          <a:xfrm>
            <a:off x="5096683" y="5974530"/>
            <a:ext cx="1961517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150">
                <a:solidFill>
                  <a:srgbClr val="E0E2E5">
                    <a:alpha val="60000"/>
                  </a:srgbClr>
                </a:solidFill>
                <a:latin typeface="MiSans"/>
                <a:ea typeface="MiSans"/>
                <a:cs typeface="MiSans"/>
              </a:rPr>
              <a:t>En 2D</a:t>
            </a:r>
            <a:endParaRPr lang="en-US" sz="1600"/>
          </a:p>
        </p:txBody>
      </p:sp>
      <p:sp>
        <p:nvSpPr>
          <p:cNvPr id="1918570202" name="Shape 17"/>
          <p:cNvSpPr/>
          <p:nvPr/>
        </p:nvSpPr>
        <p:spPr bwMode="auto">
          <a:xfrm>
            <a:off x="7514627" y="1732074"/>
            <a:ext cx="4309939" cy="3068245"/>
          </a:xfrm>
          <a:custGeom>
            <a:avLst/>
            <a:gdLst/>
            <a:ahLst/>
            <a:cxnLst/>
            <a:rect l="l" t="t" r="r" b="b"/>
            <a:pathLst>
              <a:path w="4309939" h="3068245" fill="norm" stroke="1" extrusionOk="0">
                <a:moveTo>
                  <a:pt x="143962" y="0"/>
                </a:moveTo>
                <a:lnTo>
                  <a:pt x="4165977" y="0"/>
                </a:lnTo>
                <a:cubicBezTo>
                  <a:pt x="4245485" y="0"/>
                  <a:pt x="4309939" y="64454"/>
                  <a:pt x="4309939" y="143962"/>
                </a:cubicBezTo>
                <a:lnTo>
                  <a:pt x="4309939" y="2924283"/>
                </a:lnTo>
                <a:cubicBezTo>
                  <a:pt x="4309939" y="3003791"/>
                  <a:pt x="4245485" y="3068245"/>
                  <a:pt x="4165977" y="3068245"/>
                </a:cubicBezTo>
                <a:lnTo>
                  <a:pt x="143962" y="3068245"/>
                </a:lnTo>
                <a:cubicBezTo>
                  <a:pt x="64454" y="3068245"/>
                  <a:pt x="0" y="3003791"/>
                  <a:pt x="0" y="2924283"/>
                </a:cubicBezTo>
                <a:lnTo>
                  <a:pt x="0" y="143962"/>
                </a:lnTo>
                <a:cubicBezTo>
                  <a:pt x="0" y="64507"/>
                  <a:pt x="64507" y="0"/>
                  <a:pt x="14396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5F85A5">
                <a:alpha val="30193"/>
              </a:srgbClr>
            </a:solidFill>
            <a:prstDash val="solid"/>
          </a:ln>
        </p:spPr>
      </p:sp>
      <p:sp>
        <p:nvSpPr>
          <p:cNvPr id="1373793823" name="Text 18"/>
          <p:cNvSpPr/>
          <p:nvPr/>
        </p:nvSpPr>
        <p:spPr bwMode="auto">
          <a:xfrm>
            <a:off x="7654093" y="1916528"/>
            <a:ext cx="4031008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400" b="1">
                <a:solidFill>
                  <a:srgbClr val="E0E2E5"/>
                </a:solidFill>
                <a:latin typeface="MiSans"/>
                <a:ea typeface="MiSans"/>
                <a:cs typeface="MiSans"/>
              </a:rPr>
              <a:t>Proyección 3D - Primeros 3 PCs</a:t>
            </a:r>
            <a:endParaRPr lang="en-US" sz="1600"/>
          </a:p>
        </p:txBody>
      </p:sp>
      <p:sp>
        <p:nvSpPr>
          <p:cNvPr id="1944492186" name="Shape 19"/>
          <p:cNvSpPr/>
          <p:nvPr/>
        </p:nvSpPr>
        <p:spPr bwMode="auto">
          <a:xfrm>
            <a:off x="7514627" y="4953281"/>
            <a:ext cx="4309939" cy="1538621"/>
          </a:xfrm>
          <a:custGeom>
            <a:avLst/>
            <a:gdLst/>
            <a:ahLst/>
            <a:cxnLst/>
            <a:rect l="l" t="t" r="r" b="b"/>
            <a:pathLst>
              <a:path w="4309939" h="1538621" fill="norm" stroke="1" extrusionOk="0">
                <a:moveTo>
                  <a:pt x="143969" y="0"/>
                </a:moveTo>
                <a:lnTo>
                  <a:pt x="4165971" y="0"/>
                </a:lnTo>
                <a:cubicBezTo>
                  <a:pt x="4245429" y="0"/>
                  <a:pt x="4309939" y="64510"/>
                  <a:pt x="4309939" y="143969"/>
                </a:cubicBezTo>
                <a:lnTo>
                  <a:pt x="4309939" y="1394653"/>
                </a:lnTo>
                <a:cubicBezTo>
                  <a:pt x="4309939" y="1474164"/>
                  <a:pt x="4245482" y="1538621"/>
                  <a:pt x="4165971" y="1538621"/>
                </a:cubicBezTo>
                <a:lnTo>
                  <a:pt x="143969" y="1538621"/>
                </a:lnTo>
                <a:cubicBezTo>
                  <a:pt x="64510" y="1538621"/>
                  <a:pt x="0" y="1474111"/>
                  <a:pt x="0" y="1394653"/>
                </a:cubicBezTo>
                <a:lnTo>
                  <a:pt x="0" y="143969"/>
                </a:lnTo>
                <a:cubicBezTo>
                  <a:pt x="0" y="64510"/>
                  <a:pt x="64510" y="0"/>
                  <a:pt x="143969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12700">
            <a:solidFill>
              <a:srgbClr val="4ECDC4">
                <a:alpha val="40000"/>
              </a:srgbClr>
            </a:solidFill>
            <a:prstDash val="solid"/>
          </a:ln>
        </p:spPr>
      </p:sp>
      <p:sp>
        <p:nvSpPr>
          <p:cNvPr id="1241662054" name="Shape 20"/>
          <p:cNvSpPr/>
          <p:nvPr/>
        </p:nvSpPr>
        <p:spPr bwMode="auto">
          <a:xfrm>
            <a:off x="7703581" y="5142235"/>
            <a:ext cx="350914" cy="350914"/>
          </a:xfrm>
          <a:custGeom>
            <a:avLst/>
            <a:gdLst/>
            <a:ahLst/>
            <a:cxnLst/>
            <a:rect l="l" t="t" r="r" b="b"/>
            <a:pathLst>
              <a:path w="350914" h="350914" fill="norm" stroke="1" extrusionOk="0">
                <a:moveTo>
                  <a:pt x="107973" y="0"/>
                </a:moveTo>
                <a:lnTo>
                  <a:pt x="242941" y="0"/>
                </a:lnTo>
                <a:cubicBezTo>
                  <a:pt x="302533" y="0"/>
                  <a:pt x="350914" y="48381"/>
                  <a:pt x="350914" y="107973"/>
                </a:cubicBezTo>
                <a:lnTo>
                  <a:pt x="350914" y="242941"/>
                </a:lnTo>
                <a:cubicBezTo>
                  <a:pt x="350914" y="302533"/>
                  <a:pt x="302533" y="350914"/>
                  <a:pt x="242941" y="350914"/>
                </a:cubicBezTo>
                <a:lnTo>
                  <a:pt x="107973" y="350914"/>
                </a:lnTo>
                <a:cubicBezTo>
                  <a:pt x="48381" y="350914"/>
                  <a:pt x="0" y="302533"/>
                  <a:pt x="0" y="242941"/>
                </a:cubicBezTo>
                <a:lnTo>
                  <a:pt x="0" y="107973"/>
                </a:lnTo>
                <a:cubicBezTo>
                  <a:pt x="0" y="48381"/>
                  <a:pt x="48381" y="0"/>
                  <a:pt x="107973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 w="12700">
            <a:solidFill>
              <a:srgbClr val="4ECDC4">
                <a:alpha val="40000"/>
              </a:srgbClr>
            </a:solidFill>
            <a:prstDash val="solid"/>
          </a:ln>
        </p:spPr>
      </p:sp>
      <p:sp>
        <p:nvSpPr>
          <p:cNvPr id="1980855374" name="Shape 21"/>
          <p:cNvSpPr/>
          <p:nvPr/>
        </p:nvSpPr>
        <p:spPr bwMode="auto">
          <a:xfrm>
            <a:off x="7820552" y="5236711"/>
            <a:ext cx="121470" cy="161960"/>
          </a:xfrm>
          <a:custGeom>
            <a:avLst/>
            <a:gdLst/>
            <a:ahLst/>
            <a:cxnLst/>
            <a:rect l="l" t="t" r="r" b="b"/>
            <a:pathLst>
              <a:path w="121470" h="161960" fill="norm" stroke="1" extrusionOk="0">
                <a:moveTo>
                  <a:pt x="92653" y="121470"/>
                </a:moveTo>
                <a:cubicBezTo>
                  <a:pt x="94962" y="114416"/>
                  <a:pt x="99580" y="108026"/>
                  <a:pt x="104800" y="102522"/>
                </a:cubicBezTo>
                <a:cubicBezTo>
                  <a:pt x="115144" y="91640"/>
                  <a:pt x="121470" y="76931"/>
                  <a:pt x="121470" y="60735"/>
                </a:cubicBezTo>
                <a:cubicBezTo>
                  <a:pt x="121470" y="27204"/>
                  <a:pt x="94266" y="0"/>
                  <a:pt x="60735" y="0"/>
                </a:cubicBezTo>
                <a:cubicBezTo>
                  <a:pt x="27204" y="0"/>
                  <a:pt x="0" y="27204"/>
                  <a:pt x="0" y="60735"/>
                </a:cubicBezTo>
                <a:cubicBezTo>
                  <a:pt x="0" y="76931"/>
                  <a:pt x="6327" y="91640"/>
                  <a:pt x="16671" y="102522"/>
                </a:cubicBezTo>
                <a:cubicBezTo>
                  <a:pt x="21890" y="108026"/>
                  <a:pt x="26540" y="114416"/>
                  <a:pt x="28818" y="121470"/>
                </a:cubicBezTo>
                <a:lnTo>
                  <a:pt x="92621" y="121470"/>
                </a:lnTo>
                <a:close/>
                <a:moveTo>
                  <a:pt x="91103" y="136654"/>
                </a:moveTo>
                <a:lnTo>
                  <a:pt x="30368" y="136654"/>
                </a:lnTo>
                <a:lnTo>
                  <a:pt x="30368" y="141715"/>
                </a:lnTo>
                <a:cubicBezTo>
                  <a:pt x="30368" y="155697"/>
                  <a:pt x="41692" y="167021"/>
                  <a:pt x="55674" y="167021"/>
                </a:cubicBezTo>
                <a:lnTo>
                  <a:pt x="65796" y="167021"/>
                </a:lnTo>
                <a:cubicBezTo>
                  <a:pt x="79778" y="167021"/>
                  <a:pt x="91103" y="155697"/>
                  <a:pt x="91103" y="141715"/>
                </a:cubicBezTo>
                <a:lnTo>
                  <a:pt x="91103" y="136654"/>
                </a:lnTo>
                <a:close/>
                <a:moveTo>
                  <a:pt x="58204" y="35429"/>
                </a:moveTo>
                <a:cubicBezTo>
                  <a:pt x="45615" y="35429"/>
                  <a:pt x="35429" y="45615"/>
                  <a:pt x="35429" y="58204"/>
                </a:cubicBezTo>
                <a:cubicBezTo>
                  <a:pt x="35429" y="62412"/>
                  <a:pt x="32044" y="65796"/>
                  <a:pt x="27837" y="65796"/>
                </a:cubicBezTo>
                <a:cubicBezTo>
                  <a:pt x="23630" y="65796"/>
                  <a:pt x="20245" y="62412"/>
                  <a:pt x="20245" y="58204"/>
                </a:cubicBezTo>
                <a:cubicBezTo>
                  <a:pt x="20245" y="37232"/>
                  <a:pt x="37232" y="20245"/>
                  <a:pt x="58204" y="20245"/>
                </a:cubicBezTo>
                <a:cubicBezTo>
                  <a:pt x="62412" y="20245"/>
                  <a:pt x="65796" y="23630"/>
                  <a:pt x="65796" y="27837"/>
                </a:cubicBezTo>
                <a:cubicBezTo>
                  <a:pt x="65796" y="32044"/>
                  <a:pt x="62412" y="35429"/>
                  <a:pt x="58204" y="35429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695586809" name="Text 22"/>
          <p:cNvSpPr/>
          <p:nvPr/>
        </p:nvSpPr>
        <p:spPr bwMode="auto">
          <a:xfrm>
            <a:off x="8166966" y="5191723"/>
            <a:ext cx="1169712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300" b="1">
                <a:solidFill>
                  <a:srgbClr val="4ECDC4"/>
                </a:solidFill>
                <a:latin typeface="MiSans"/>
                <a:ea typeface="MiSans"/>
                <a:cs typeface="MiSans"/>
              </a:rPr>
              <a:t>Hallazgo Clave</a:t>
            </a:r>
            <a:endParaRPr lang="en-US" sz="1600"/>
          </a:p>
        </p:txBody>
      </p:sp>
      <p:sp>
        <p:nvSpPr>
          <p:cNvPr id="51126537" name="Text 23"/>
          <p:cNvSpPr/>
          <p:nvPr/>
        </p:nvSpPr>
        <p:spPr bwMode="auto">
          <a:xfrm>
            <a:off x="7699082" y="5605621"/>
            <a:ext cx="4013013" cy="701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150">
                <a:solidFill>
                  <a:srgbClr val="E0E2E5">
                    <a:alpha val="80000"/>
                  </a:srgbClr>
                </a:solidFill>
                <a:latin typeface="MiSans"/>
                <a:ea typeface="MiSans"/>
                <a:cs typeface="MiSans"/>
              </a:rPr>
              <a:t>El </a:t>
            </a:r>
            <a:r>
              <a:rPr lang="en-US" sz="1150" b="1">
                <a:solidFill>
                  <a:srgbClr val="4ECDC4"/>
                </a:solidFill>
                <a:latin typeface="MiSans"/>
                <a:ea typeface="MiSans"/>
                <a:cs typeface="MiSans"/>
              </a:rPr>
              <a:t>"codo"</a:t>
            </a:r>
            <a:r>
              <a:rPr lang="en-US" sz="1150">
                <a:solidFill>
                  <a:srgbClr val="E0E2E5">
                    <a:alpha val="80000"/>
                  </a:srgbClr>
                </a:solidFill>
                <a:latin typeface="MiSans"/>
                <a:ea typeface="MiSans"/>
                <a:cs typeface="MiSans"/>
              </a:rPr>
              <a:t> en 5 componentes indica el punto óptimo. La separabilidad real existe en 5</a:t>
            </a:r>
            <a:r>
              <a:rPr lang="en-US" sz="1150" b="1">
                <a:solidFill>
                  <a:srgbClr val="4ECDC4"/>
                </a:solidFill>
                <a:latin typeface="MiSans"/>
                <a:ea typeface="MiSans"/>
                <a:cs typeface="MiSans"/>
              </a:rPr>
              <a:t> dimensiones combinadas</a:t>
            </a:r>
            <a:r>
              <a:rPr lang="en-US" sz="1150">
                <a:solidFill>
                  <a:srgbClr val="E0E2E5">
                    <a:alpha val="80000"/>
                  </a:srgbClr>
                </a:solidFill>
                <a:latin typeface="MiSans"/>
                <a:ea typeface="MiSans"/>
                <a:cs typeface="MiSans"/>
              </a:rPr>
              <a:t> , no en proyecciones 2D/3D individuales.</a:t>
            </a:r>
            <a:endParaRPr lang="en-US" sz="1600"/>
          </a:p>
        </p:txBody>
      </p:sp>
      <p:pic>
        <p:nvPicPr>
          <p:cNvPr id="1813263041" name="Image 0" descr="https://kimi-img.moonshot.cn/pub/slides/26-01-29-04:27:39-d5t72euf2kq09dqqd4u0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29845" y="2331895"/>
            <a:ext cx="6428356" cy="2621386"/>
          </a:xfrm>
          <a:prstGeom prst="rect">
            <a:avLst/>
          </a:prstGeom>
        </p:spPr>
      </p:pic>
      <p:pic>
        <p:nvPicPr>
          <p:cNvPr id="1192018393" name="Image 1" descr="https://kimi-img.moonshot.cn/pub/slides/26-01-29-04:44:29-d5t7abf01qmbfs4q42mg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329333" y="2301793"/>
            <a:ext cx="2701711" cy="21274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1A1D2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0844235" name="Shape 0"/>
          <p:cNvSpPr/>
          <p:nvPr/>
        </p:nvSpPr>
        <p:spPr bwMode="auto">
          <a:xfrm>
            <a:off x="317500" y="349250"/>
            <a:ext cx="47625" cy="317500"/>
          </a:xfrm>
          <a:custGeom>
            <a:avLst/>
            <a:gdLst/>
            <a:ahLst/>
            <a:cxnLst/>
            <a:rect l="l" t="t" r="r" b="b"/>
            <a:pathLst>
              <a:path w="47625" h="317500" fill="norm" stroke="1" extrusionOk="0">
                <a:moveTo>
                  <a:pt x="23813" y="0"/>
                </a:moveTo>
                <a:lnTo>
                  <a:pt x="23813" y="0"/>
                </a:lnTo>
                <a:cubicBezTo>
                  <a:pt x="36955" y="0"/>
                  <a:pt x="47625" y="10670"/>
                  <a:pt x="47625" y="23813"/>
                </a:cubicBezTo>
                <a:lnTo>
                  <a:pt x="47625" y="293688"/>
                </a:lnTo>
                <a:cubicBezTo>
                  <a:pt x="47625" y="306830"/>
                  <a:pt x="36955" y="317500"/>
                  <a:pt x="23813" y="317500"/>
                </a:cubicBezTo>
                <a:lnTo>
                  <a:pt x="23813" y="317500"/>
                </a:lnTo>
                <a:cubicBezTo>
                  <a:pt x="10670" y="317500"/>
                  <a:pt x="0" y="306830"/>
                  <a:pt x="0" y="293688"/>
                </a:cubicBezTo>
                <a:lnTo>
                  <a:pt x="0" y="23813"/>
                </a:lnTo>
                <a:cubicBezTo>
                  <a:pt x="0" y="10670"/>
                  <a:pt x="10670" y="0"/>
                  <a:pt x="23812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767869437" name="Text 1"/>
          <p:cNvSpPr/>
          <p:nvPr/>
        </p:nvSpPr>
        <p:spPr bwMode="auto">
          <a:xfrm flipH="0" flipV="0">
            <a:off x="460374" y="317499"/>
            <a:ext cx="13797971" cy="380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  <a:defRPr/>
            </a:pPr>
            <a:r>
              <a:rPr lang="en-US" sz="3000" b="1">
                <a:solidFill>
                  <a:srgbClr val="E0E2E5"/>
                </a:solidFill>
                <a:latin typeface="MiSans"/>
                <a:ea typeface="MiSans"/>
                <a:cs typeface="MiSans"/>
              </a:rPr>
              <a:t>Pregunta 3: ¿Podemos predecir tipos específicos de ataque?</a:t>
            </a:r>
            <a:endParaRPr lang="en-US" sz="1600"/>
          </a:p>
        </p:txBody>
      </p:sp>
      <p:sp>
        <p:nvSpPr>
          <p:cNvPr id="352301328" name="Text 2"/>
          <p:cNvSpPr/>
          <p:nvPr/>
        </p:nvSpPr>
        <p:spPr bwMode="auto">
          <a:xfrm>
            <a:off x="507999" y="838814"/>
            <a:ext cx="11445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250">
                <a:solidFill>
                  <a:srgbClr val="5F85A5"/>
                </a:solidFill>
                <a:latin typeface="MiSans"/>
                <a:ea typeface="MiSans"/>
                <a:cs typeface="MiSans"/>
              </a:rPr>
              <a:t>Modelos Predictivos - Regresión Logística con PCA</a:t>
            </a:r>
            <a:endParaRPr lang="en-US" sz="1600"/>
          </a:p>
        </p:txBody>
      </p:sp>
      <p:sp>
        <p:nvSpPr>
          <p:cNvPr id="1020621355" name="Shape 3"/>
          <p:cNvSpPr/>
          <p:nvPr/>
        </p:nvSpPr>
        <p:spPr bwMode="auto">
          <a:xfrm>
            <a:off x="321469" y="1146969"/>
            <a:ext cx="3802062" cy="2881312"/>
          </a:xfrm>
          <a:custGeom>
            <a:avLst/>
            <a:gdLst/>
            <a:ahLst/>
            <a:cxnLst/>
            <a:rect l="l" t="t" r="r" b="b"/>
            <a:pathLst>
              <a:path w="3802062" h="2881313" fill="norm" stroke="1" extrusionOk="0">
                <a:moveTo>
                  <a:pt x="127008" y="0"/>
                </a:moveTo>
                <a:lnTo>
                  <a:pt x="3675054" y="0"/>
                </a:lnTo>
                <a:cubicBezTo>
                  <a:pt x="3745199" y="0"/>
                  <a:pt x="3802063" y="56864"/>
                  <a:pt x="3802063" y="127008"/>
                </a:cubicBezTo>
                <a:lnTo>
                  <a:pt x="3802062" y="2754304"/>
                </a:lnTo>
                <a:cubicBezTo>
                  <a:pt x="3802063" y="2824449"/>
                  <a:pt x="3745199" y="2881313"/>
                  <a:pt x="3675054" y="2881313"/>
                </a:cubicBezTo>
                <a:lnTo>
                  <a:pt x="127008" y="2881313"/>
                </a:lnTo>
                <a:cubicBezTo>
                  <a:pt x="56864" y="2881313"/>
                  <a:pt x="0" y="2824449"/>
                  <a:pt x="0" y="2754304"/>
                </a:cubicBezTo>
                <a:lnTo>
                  <a:pt x="0" y="127008"/>
                </a:lnTo>
                <a:cubicBezTo>
                  <a:pt x="0" y="56864"/>
                  <a:pt x="56864" y="0"/>
                  <a:pt x="127008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12700">
            <a:solidFill>
              <a:srgbClr val="4ECDC4">
                <a:alpha val="40000"/>
              </a:srgbClr>
            </a:solidFill>
            <a:prstDash val="solid"/>
          </a:ln>
        </p:spPr>
      </p:sp>
      <p:sp>
        <p:nvSpPr>
          <p:cNvPr id="1849609257" name="Shape 4"/>
          <p:cNvSpPr/>
          <p:nvPr/>
        </p:nvSpPr>
        <p:spPr bwMode="auto">
          <a:xfrm>
            <a:off x="488156" y="1313656"/>
            <a:ext cx="373063" cy="373063"/>
          </a:xfrm>
          <a:custGeom>
            <a:avLst/>
            <a:gdLst/>
            <a:ahLst/>
            <a:cxnLst/>
            <a:rect l="l" t="t" r="r" b="b"/>
            <a:pathLst>
              <a:path w="373063" h="373063" fill="norm" stroke="1" extrusionOk="0">
                <a:moveTo>
                  <a:pt x="95250" y="0"/>
                </a:moveTo>
                <a:lnTo>
                  <a:pt x="277812" y="0"/>
                </a:lnTo>
                <a:cubicBezTo>
                  <a:pt x="330417" y="0"/>
                  <a:pt x="373063" y="42645"/>
                  <a:pt x="373063" y="95250"/>
                </a:cubicBezTo>
                <a:lnTo>
                  <a:pt x="373063" y="277812"/>
                </a:lnTo>
                <a:cubicBezTo>
                  <a:pt x="373063" y="330417"/>
                  <a:pt x="330417" y="373063"/>
                  <a:pt x="277812" y="373063"/>
                </a:cubicBezTo>
                <a:lnTo>
                  <a:pt x="95250" y="373063"/>
                </a:lnTo>
                <a:cubicBezTo>
                  <a:pt x="42645" y="373063"/>
                  <a:pt x="0" y="330417"/>
                  <a:pt x="0" y="277812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 w="12700">
            <a:solidFill>
              <a:srgbClr val="4ECDC4">
                <a:alpha val="40000"/>
              </a:srgbClr>
            </a:solidFill>
            <a:prstDash val="solid"/>
          </a:ln>
        </p:spPr>
      </p:sp>
      <p:sp>
        <p:nvSpPr>
          <p:cNvPr id="2059463018" name="Shape 5"/>
          <p:cNvSpPr/>
          <p:nvPr/>
        </p:nvSpPr>
        <p:spPr bwMode="auto">
          <a:xfrm>
            <a:off x="595313" y="142081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 fill="norm" stroke="1" extrusionOk="0">
                <a:moveTo>
                  <a:pt x="37207" y="17363"/>
                </a:moveTo>
                <a:cubicBezTo>
                  <a:pt x="37207" y="7782"/>
                  <a:pt x="44990" y="0"/>
                  <a:pt x="54570" y="0"/>
                </a:cubicBezTo>
                <a:lnTo>
                  <a:pt x="62012" y="0"/>
                </a:lnTo>
                <a:cubicBezTo>
                  <a:pt x="67500" y="0"/>
                  <a:pt x="71934" y="4434"/>
                  <a:pt x="71934" y="9922"/>
                </a:cubicBezTo>
                <a:lnTo>
                  <a:pt x="71934" y="148828"/>
                </a:lnTo>
                <a:cubicBezTo>
                  <a:pt x="71934" y="154316"/>
                  <a:pt x="67500" y="158750"/>
                  <a:pt x="62012" y="158750"/>
                </a:cubicBezTo>
                <a:lnTo>
                  <a:pt x="52090" y="158750"/>
                </a:lnTo>
                <a:cubicBezTo>
                  <a:pt x="42850" y="158750"/>
                  <a:pt x="35068" y="152425"/>
                  <a:pt x="32866" y="143867"/>
                </a:cubicBezTo>
                <a:cubicBezTo>
                  <a:pt x="32649" y="143867"/>
                  <a:pt x="32463" y="143867"/>
                  <a:pt x="32246" y="143867"/>
                </a:cubicBezTo>
                <a:cubicBezTo>
                  <a:pt x="18542" y="143867"/>
                  <a:pt x="7441" y="132767"/>
                  <a:pt x="7441" y="119062"/>
                </a:cubicBezTo>
                <a:cubicBezTo>
                  <a:pt x="7441" y="113481"/>
                  <a:pt x="9302" y="108334"/>
                  <a:pt x="12402" y="104180"/>
                </a:cubicBezTo>
                <a:cubicBezTo>
                  <a:pt x="6387" y="99653"/>
                  <a:pt x="2480" y="92459"/>
                  <a:pt x="2480" y="84336"/>
                </a:cubicBezTo>
                <a:cubicBezTo>
                  <a:pt x="2480" y="74755"/>
                  <a:pt x="7938" y="66415"/>
                  <a:pt x="15875" y="62291"/>
                </a:cubicBezTo>
                <a:cubicBezTo>
                  <a:pt x="13674" y="58570"/>
                  <a:pt x="12402" y="54229"/>
                  <a:pt x="12402" y="49609"/>
                </a:cubicBezTo>
                <a:cubicBezTo>
                  <a:pt x="12402" y="35905"/>
                  <a:pt x="23502" y="24805"/>
                  <a:pt x="37207" y="24805"/>
                </a:cubicBezTo>
                <a:lnTo>
                  <a:pt x="37207" y="17363"/>
                </a:lnTo>
                <a:close/>
                <a:moveTo>
                  <a:pt x="121543" y="17363"/>
                </a:moveTo>
                <a:lnTo>
                  <a:pt x="121543" y="24805"/>
                </a:lnTo>
                <a:cubicBezTo>
                  <a:pt x="135248" y="24805"/>
                  <a:pt x="146348" y="35905"/>
                  <a:pt x="146348" y="49609"/>
                </a:cubicBezTo>
                <a:cubicBezTo>
                  <a:pt x="146348" y="54260"/>
                  <a:pt x="145076" y="58601"/>
                  <a:pt x="142875" y="62291"/>
                </a:cubicBezTo>
                <a:cubicBezTo>
                  <a:pt x="150844" y="66415"/>
                  <a:pt x="156270" y="74724"/>
                  <a:pt x="156270" y="84336"/>
                </a:cubicBezTo>
                <a:cubicBezTo>
                  <a:pt x="156270" y="92459"/>
                  <a:pt x="152363" y="99653"/>
                  <a:pt x="146348" y="104180"/>
                </a:cubicBezTo>
                <a:cubicBezTo>
                  <a:pt x="149448" y="108334"/>
                  <a:pt x="151309" y="113481"/>
                  <a:pt x="151309" y="119062"/>
                </a:cubicBezTo>
                <a:cubicBezTo>
                  <a:pt x="151309" y="132767"/>
                  <a:pt x="140208" y="143867"/>
                  <a:pt x="126504" y="143867"/>
                </a:cubicBezTo>
                <a:cubicBezTo>
                  <a:pt x="126287" y="143867"/>
                  <a:pt x="126101" y="143867"/>
                  <a:pt x="125884" y="143867"/>
                </a:cubicBezTo>
                <a:cubicBezTo>
                  <a:pt x="123682" y="152425"/>
                  <a:pt x="115900" y="158750"/>
                  <a:pt x="106660" y="158750"/>
                </a:cubicBezTo>
                <a:lnTo>
                  <a:pt x="96738" y="158750"/>
                </a:lnTo>
                <a:cubicBezTo>
                  <a:pt x="91250" y="158750"/>
                  <a:pt x="86816" y="154316"/>
                  <a:pt x="86816" y="148828"/>
                </a:cubicBezTo>
                <a:lnTo>
                  <a:pt x="86816" y="9922"/>
                </a:lnTo>
                <a:cubicBezTo>
                  <a:pt x="86816" y="4434"/>
                  <a:pt x="91250" y="0"/>
                  <a:pt x="96738" y="0"/>
                </a:cubicBezTo>
                <a:lnTo>
                  <a:pt x="104180" y="0"/>
                </a:lnTo>
                <a:cubicBezTo>
                  <a:pt x="113760" y="0"/>
                  <a:pt x="121543" y="7782"/>
                  <a:pt x="121543" y="17363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583372665" name="Text 6"/>
          <p:cNvSpPr/>
          <p:nvPr/>
        </p:nvSpPr>
        <p:spPr bwMode="auto">
          <a:xfrm>
            <a:off x="960438" y="1389062"/>
            <a:ext cx="98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250" b="1">
                <a:solidFill>
                  <a:srgbClr val="4ECDC4"/>
                </a:solidFill>
                <a:latin typeface="MiSans"/>
                <a:ea typeface="MiSans"/>
                <a:cs typeface="MiSans"/>
              </a:rPr>
              <a:t>Metodología</a:t>
            </a:r>
            <a:endParaRPr lang="en-US" sz="1600"/>
          </a:p>
        </p:txBody>
      </p:sp>
      <p:sp>
        <p:nvSpPr>
          <p:cNvPr id="475286993" name="Shape 7"/>
          <p:cNvSpPr/>
          <p:nvPr/>
        </p:nvSpPr>
        <p:spPr bwMode="auto">
          <a:xfrm>
            <a:off x="488156" y="1821656"/>
            <a:ext cx="3468688" cy="611188"/>
          </a:xfrm>
          <a:custGeom>
            <a:avLst/>
            <a:gdLst/>
            <a:ahLst/>
            <a:cxnLst/>
            <a:rect l="l" t="t" r="r" b="b"/>
            <a:pathLst>
              <a:path w="3468688" h="611188" fill="norm" stroke="1" extrusionOk="0">
                <a:moveTo>
                  <a:pt x="95247" y="0"/>
                </a:moveTo>
                <a:lnTo>
                  <a:pt x="3373440" y="0"/>
                </a:lnTo>
                <a:cubicBezTo>
                  <a:pt x="3426044" y="0"/>
                  <a:pt x="3468687" y="42644"/>
                  <a:pt x="3468687" y="95247"/>
                </a:cubicBezTo>
                <a:lnTo>
                  <a:pt x="3468688" y="515940"/>
                </a:lnTo>
                <a:cubicBezTo>
                  <a:pt x="3468687" y="568544"/>
                  <a:pt x="3426044" y="611188"/>
                  <a:pt x="3373440" y="611188"/>
                </a:cubicBezTo>
                <a:lnTo>
                  <a:pt x="95247" y="611188"/>
                </a:lnTo>
                <a:cubicBezTo>
                  <a:pt x="42644" y="611188"/>
                  <a:pt x="0" y="568544"/>
                  <a:pt x="0" y="515940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5F85A5">
                <a:alpha val="30193"/>
              </a:srgbClr>
            </a:solidFill>
            <a:prstDash val="solid"/>
          </a:ln>
        </p:spPr>
      </p:sp>
      <p:sp>
        <p:nvSpPr>
          <p:cNvPr id="727337913" name="Text 8"/>
          <p:cNvSpPr/>
          <p:nvPr/>
        </p:nvSpPr>
        <p:spPr bwMode="auto">
          <a:xfrm>
            <a:off x="587375" y="1920875"/>
            <a:ext cx="3333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 b="1">
                <a:solidFill>
                  <a:srgbClr val="E0E2E5"/>
                </a:solidFill>
                <a:latin typeface="MiSans"/>
                <a:ea typeface="MiSans"/>
                <a:cs typeface="MiSans"/>
              </a:rPr>
              <a:t>Algoritmo</a:t>
            </a:r>
            <a:endParaRPr lang="en-US" sz="1600"/>
          </a:p>
        </p:txBody>
      </p:sp>
      <p:sp>
        <p:nvSpPr>
          <p:cNvPr id="1343609216" name="Text 9"/>
          <p:cNvSpPr/>
          <p:nvPr/>
        </p:nvSpPr>
        <p:spPr bwMode="auto">
          <a:xfrm>
            <a:off x="587375" y="2143125"/>
            <a:ext cx="3333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E0E2E5">
                    <a:alpha val="70000"/>
                  </a:srgbClr>
                </a:solidFill>
                <a:latin typeface="MiSans"/>
                <a:ea typeface="MiSans"/>
                <a:cs typeface="MiSans"/>
              </a:rPr>
              <a:t>Regresión Logística Multiclase</a:t>
            </a:r>
            <a:endParaRPr lang="en-US" sz="1600"/>
          </a:p>
        </p:txBody>
      </p:sp>
      <p:sp>
        <p:nvSpPr>
          <p:cNvPr id="1458166711" name="Shape 10"/>
          <p:cNvSpPr/>
          <p:nvPr/>
        </p:nvSpPr>
        <p:spPr bwMode="auto">
          <a:xfrm>
            <a:off x="488156" y="2536031"/>
            <a:ext cx="3468688" cy="611188"/>
          </a:xfrm>
          <a:custGeom>
            <a:avLst/>
            <a:gdLst/>
            <a:ahLst/>
            <a:cxnLst/>
            <a:rect l="l" t="t" r="r" b="b"/>
            <a:pathLst>
              <a:path w="3468688" h="611188" fill="norm" stroke="1" extrusionOk="0">
                <a:moveTo>
                  <a:pt x="95247" y="0"/>
                </a:moveTo>
                <a:lnTo>
                  <a:pt x="3373440" y="0"/>
                </a:lnTo>
                <a:cubicBezTo>
                  <a:pt x="3426044" y="0"/>
                  <a:pt x="3468687" y="42644"/>
                  <a:pt x="3468687" y="95247"/>
                </a:cubicBezTo>
                <a:lnTo>
                  <a:pt x="3468688" y="515940"/>
                </a:lnTo>
                <a:cubicBezTo>
                  <a:pt x="3468687" y="568544"/>
                  <a:pt x="3426044" y="611188"/>
                  <a:pt x="3373440" y="611188"/>
                </a:cubicBezTo>
                <a:lnTo>
                  <a:pt x="95247" y="611188"/>
                </a:lnTo>
                <a:cubicBezTo>
                  <a:pt x="42644" y="611188"/>
                  <a:pt x="0" y="568544"/>
                  <a:pt x="0" y="515940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5F85A5">
                <a:alpha val="30193"/>
              </a:srgbClr>
            </a:solidFill>
            <a:prstDash val="solid"/>
          </a:ln>
        </p:spPr>
      </p:sp>
      <p:sp>
        <p:nvSpPr>
          <p:cNvPr id="546255830" name="Text 11"/>
          <p:cNvSpPr/>
          <p:nvPr/>
        </p:nvSpPr>
        <p:spPr bwMode="auto">
          <a:xfrm>
            <a:off x="587375" y="2635250"/>
            <a:ext cx="3333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 b="1">
                <a:solidFill>
                  <a:srgbClr val="E0E2E5"/>
                </a:solidFill>
                <a:latin typeface="MiSans"/>
                <a:ea typeface="MiSans"/>
                <a:cs typeface="MiSans"/>
              </a:rPr>
              <a:t>Estrategia</a:t>
            </a:r>
            <a:endParaRPr lang="en-US" sz="1600"/>
          </a:p>
        </p:txBody>
      </p:sp>
      <p:sp>
        <p:nvSpPr>
          <p:cNvPr id="732573838" name="Text 12"/>
          <p:cNvSpPr/>
          <p:nvPr/>
        </p:nvSpPr>
        <p:spPr bwMode="auto">
          <a:xfrm>
            <a:off x="587375" y="2857500"/>
            <a:ext cx="3333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E0E2E5">
                    <a:alpha val="70000"/>
                  </a:srgbClr>
                </a:solidFill>
                <a:latin typeface="MiSans"/>
                <a:ea typeface="MiSans"/>
                <a:cs typeface="MiSans"/>
              </a:rPr>
              <a:t>One-vs-Rest (4 modelos binarios)</a:t>
            </a:r>
            <a:endParaRPr lang="en-US" sz="1600"/>
          </a:p>
        </p:txBody>
      </p:sp>
      <p:sp>
        <p:nvSpPr>
          <p:cNvPr id="982926751" name="Shape 13"/>
          <p:cNvSpPr/>
          <p:nvPr/>
        </p:nvSpPr>
        <p:spPr bwMode="auto">
          <a:xfrm>
            <a:off x="488156" y="3250406"/>
            <a:ext cx="3468688" cy="611188"/>
          </a:xfrm>
          <a:custGeom>
            <a:avLst/>
            <a:gdLst/>
            <a:ahLst/>
            <a:cxnLst/>
            <a:rect l="l" t="t" r="r" b="b"/>
            <a:pathLst>
              <a:path w="3468688" h="611188" fill="norm" stroke="1" extrusionOk="0">
                <a:moveTo>
                  <a:pt x="95247" y="0"/>
                </a:moveTo>
                <a:lnTo>
                  <a:pt x="3373440" y="0"/>
                </a:lnTo>
                <a:cubicBezTo>
                  <a:pt x="3426044" y="0"/>
                  <a:pt x="3468687" y="42644"/>
                  <a:pt x="3468687" y="95247"/>
                </a:cubicBezTo>
                <a:lnTo>
                  <a:pt x="3468688" y="515940"/>
                </a:lnTo>
                <a:cubicBezTo>
                  <a:pt x="3468687" y="568544"/>
                  <a:pt x="3426044" y="611188"/>
                  <a:pt x="3373440" y="611188"/>
                </a:cubicBezTo>
                <a:lnTo>
                  <a:pt x="95247" y="611188"/>
                </a:lnTo>
                <a:cubicBezTo>
                  <a:pt x="42644" y="611188"/>
                  <a:pt x="0" y="568544"/>
                  <a:pt x="0" y="515940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5F85A5">
                <a:alpha val="30193"/>
              </a:srgbClr>
            </a:solidFill>
            <a:prstDash val="solid"/>
          </a:ln>
        </p:spPr>
      </p:sp>
      <p:sp>
        <p:nvSpPr>
          <p:cNvPr id="793742899" name="Text 14"/>
          <p:cNvSpPr/>
          <p:nvPr/>
        </p:nvSpPr>
        <p:spPr bwMode="auto">
          <a:xfrm>
            <a:off x="587375" y="3349625"/>
            <a:ext cx="3333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 b="1">
                <a:solidFill>
                  <a:srgbClr val="E0E2E5"/>
                </a:solidFill>
                <a:latin typeface="MiSans"/>
                <a:ea typeface="MiSans"/>
                <a:cs typeface="MiSans"/>
              </a:rPr>
              <a:t>Features</a:t>
            </a:r>
            <a:endParaRPr lang="en-US" sz="1600"/>
          </a:p>
        </p:txBody>
      </p:sp>
      <p:sp>
        <p:nvSpPr>
          <p:cNvPr id="950183789" name="Text 15"/>
          <p:cNvSpPr/>
          <p:nvPr/>
        </p:nvSpPr>
        <p:spPr bwMode="auto">
          <a:xfrm>
            <a:off x="587375" y="3571875"/>
            <a:ext cx="3333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E0E2E5">
                    <a:alpha val="70000"/>
                  </a:srgbClr>
                </a:solidFill>
                <a:latin typeface="MiSans"/>
                <a:ea typeface="MiSans"/>
                <a:cs typeface="MiSans"/>
              </a:rPr>
              <a:t>8 Componentes Principales</a:t>
            </a:r>
            <a:endParaRPr lang="en-US" sz="1600"/>
          </a:p>
        </p:txBody>
      </p:sp>
      <p:sp>
        <p:nvSpPr>
          <p:cNvPr id="1072517395" name="Shape 16"/>
          <p:cNvSpPr/>
          <p:nvPr/>
        </p:nvSpPr>
        <p:spPr bwMode="auto">
          <a:xfrm>
            <a:off x="321469" y="4163219"/>
            <a:ext cx="3802062" cy="2357438"/>
          </a:xfrm>
          <a:custGeom>
            <a:avLst/>
            <a:gdLst/>
            <a:ahLst/>
            <a:cxnLst/>
            <a:rect l="l" t="t" r="r" b="b"/>
            <a:pathLst>
              <a:path w="3802062" h="2357438" fill="norm" stroke="1" extrusionOk="0">
                <a:moveTo>
                  <a:pt x="126995" y="0"/>
                </a:moveTo>
                <a:lnTo>
                  <a:pt x="3675067" y="0"/>
                </a:lnTo>
                <a:cubicBezTo>
                  <a:pt x="3745205" y="0"/>
                  <a:pt x="3802062" y="56858"/>
                  <a:pt x="3802062" y="126995"/>
                </a:cubicBezTo>
                <a:lnTo>
                  <a:pt x="3802062" y="2230442"/>
                </a:lnTo>
                <a:cubicBezTo>
                  <a:pt x="3802062" y="2300580"/>
                  <a:pt x="3745205" y="2357438"/>
                  <a:pt x="3675067" y="2357438"/>
                </a:cubicBezTo>
                <a:lnTo>
                  <a:pt x="126995" y="2357438"/>
                </a:lnTo>
                <a:cubicBezTo>
                  <a:pt x="56858" y="2357438"/>
                  <a:pt x="0" y="2300580"/>
                  <a:pt x="0" y="2230442"/>
                </a:cubicBezTo>
                <a:lnTo>
                  <a:pt x="0" y="126995"/>
                </a:lnTo>
                <a:cubicBezTo>
                  <a:pt x="0" y="56905"/>
                  <a:pt x="56905" y="0"/>
                  <a:pt x="126995" y="0"/>
                </a:cubicBezTo>
                <a:close/>
              </a:path>
            </a:pathLst>
          </a:custGeom>
          <a:solidFill>
            <a:srgbClr val="5F85A5">
              <a:alpha val="10196"/>
            </a:srgbClr>
          </a:solidFill>
          <a:ln w="12700">
            <a:solidFill>
              <a:srgbClr val="5F85A5">
                <a:alpha val="40000"/>
              </a:srgbClr>
            </a:solidFill>
            <a:prstDash val="solid"/>
          </a:ln>
        </p:spPr>
      </p:sp>
      <p:sp>
        <p:nvSpPr>
          <p:cNvPr id="827893874" name="Shape 17"/>
          <p:cNvSpPr/>
          <p:nvPr/>
        </p:nvSpPr>
        <p:spPr bwMode="auto">
          <a:xfrm>
            <a:off x="488156" y="4329906"/>
            <a:ext cx="373063" cy="373063"/>
          </a:xfrm>
          <a:custGeom>
            <a:avLst/>
            <a:gdLst/>
            <a:ahLst/>
            <a:cxnLst/>
            <a:rect l="l" t="t" r="r" b="b"/>
            <a:pathLst>
              <a:path w="373063" h="373063" fill="norm" stroke="1" extrusionOk="0">
                <a:moveTo>
                  <a:pt x="95250" y="0"/>
                </a:moveTo>
                <a:lnTo>
                  <a:pt x="277812" y="0"/>
                </a:lnTo>
                <a:cubicBezTo>
                  <a:pt x="330417" y="0"/>
                  <a:pt x="373063" y="42645"/>
                  <a:pt x="373063" y="95250"/>
                </a:cubicBezTo>
                <a:lnTo>
                  <a:pt x="373063" y="277812"/>
                </a:lnTo>
                <a:cubicBezTo>
                  <a:pt x="373063" y="330417"/>
                  <a:pt x="330417" y="373063"/>
                  <a:pt x="277812" y="373063"/>
                </a:cubicBezTo>
                <a:lnTo>
                  <a:pt x="95250" y="373063"/>
                </a:lnTo>
                <a:cubicBezTo>
                  <a:pt x="42645" y="373063"/>
                  <a:pt x="0" y="330417"/>
                  <a:pt x="0" y="277812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5F85A5">
              <a:alpha val="20000"/>
            </a:srgbClr>
          </a:solidFill>
          <a:ln w="12700">
            <a:solidFill>
              <a:srgbClr val="5F85A5">
                <a:alpha val="40000"/>
              </a:srgbClr>
            </a:solidFill>
            <a:prstDash val="solid"/>
          </a:ln>
        </p:spPr>
      </p:sp>
      <p:sp>
        <p:nvSpPr>
          <p:cNvPr id="255448014" name="Shape 18"/>
          <p:cNvSpPr/>
          <p:nvPr/>
        </p:nvSpPr>
        <p:spPr bwMode="auto">
          <a:xfrm>
            <a:off x="595313" y="443706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 fill="norm" stroke="1" extrusionOk="0">
                <a:moveTo>
                  <a:pt x="44741" y="0"/>
                </a:moveTo>
                <a:lnTo>
                  <a:pt x="114195" y="0"/>
                </a:lnTo>
                <a:cubicBezTo>
                  <a:pt x="122411" y="0"/>
                  <a:pt x="129108" y="6759"/>
                  <a:pt x="128798" y="14945"/>
                </a:cubicBezTo>
                <a:cubicBezTo>
                  <a:pt x="128736" y="16588"/>
                  <a:pt x="128674" y="18231"/>
                  <a:pt x="128581" y="19844"/>
                </a:cubicBezTo>
                <a:lnTo>
                  <a:pt x="143960" y="19844"/>
                </a:lnTo>
                <a:cubicBezTo>
                  <a:pt x="152053" y="19844"/>
                  <a:pt x="159184" y="26541"/>
                  <a:pt x="158564" y="35285"/>
                </a:cubicBezTo>
                <a:cubicBezTo>
                  <a:pt x="156239" y="67438"/>
                  <a:pt x="139805" y="85111"/>
                  <a:pt x="121977" y="94351"/>
                </a:cubicBezTo>
                <a:cubicBezTo>
                  <a:pt x="117078" y="96893"/>
                  <a:pt x="112086" y="98785"/>
                  <a:pt x="107342" y="100180"/>
                </a:cubicBezTo>
                <a:cubicBezTo>
                  <a:pt x="101079" y="109048"/>
                  <a:pt x="94568" y="113729"/>
                  <a:pt x="89390" y="116241"/>
                </a:cubicBezTo>
                <a:lnTo>
                  <a:pt x="89390" y="138906"/>
                </a:lnTo>
                <a:lnTo>
                  <a:pt x="109234" y="138906"/>
                </a:lnTo>
                <a:cubicBezTo>
                  <a:pt x="114722" y="138906"/>
                  <a:pt x="119156" y="143340"/>
                  <a:pt x="119156" y="148828"/>
                </a:cubicBezTo>
                <a:cubicBezTo>
                  <a:pt x="119156" y="154316"/>
                  <a:pt x="114722" y="158750"/>
                  <a:pt x="109234" y="158750"/>
                </a:cubicBezTo>
                <a:lnTo>
                  <a:pt x="49702" y="158750"/>
                </a:lnTo>
                <a:cubicBezTo>
                  <a:pt x="44214" y="158750"/>
                  <a:pt x="39781" y="154316"/>
                  <a:pt x="39781" y="148828"/>
                </a:cubicBezTo>
                <a:cubicBezTo>
                  <a:pt x="39781" y="143340"/>
                  <a:pt x="44214" y="138906"/>
                  <a:pt x="49702" y="138906"/>
                </a:cubicBezTo>
                <a:lnTo>
                  <a:pt x="69546" y="138906"/>
                </a:lnTo>
                <a:lnTo>
                  <a:pt x="69546" y="116241"/>
                </a:lnTo>
                <a:cubicBezTo>
                  <a:pt x="64585" y="113854"/>
                  <a:pt x="58415" y="109420"/>
                  <a:pt x="52400" y="101265"/>
                </a:cubicBezTo>
                <a:cubicBezTo>
                  <a:pt x="46695" y="99777"/>
                  <a:pt x="40494" y="97513"/>
                  <a:pt x="34448" y="94103"/>
                </a:cubicBezTo>
                <a:cubicBezTo>
                  <a:pt x="17673" y="84708"/>
                  <a:pt x="2542" y="67004"/>
                  <a:pt x="372" y="35223"/>
                </a:cubicBezTo>
                <a:cubicBezTo>
                  <a:pt x="-217" y="26510"/>
                  <a:pt x="6883" y="19813"/>
                  <a:pt x="14976" y="19813"/>
                </a:cubicBezTo>
                <a:lnTo>
                  <a:pt x="30355" y="19813"/>
                </a:lnTo>
                <a:cubicBezTo>
                  <a:pt x="30262" y="18200"/>
                  <a:pt x="30200" y="16588"/>
                  <a:pt x="30138" y="14914"/>
                </a:cubicBezTo>
                <a:cubicBezTo>
                  <a:pt x="29828" y="6697"/>
                  <a:pt x="36525" y="-31"/>
                  <a:pt x="44741" y="-31"/>
                </a:cubicBezTo>
                <a:close/>
                <a:moveTo>
                  <a:pt x="31471" y="34727"/>
                </a:moveTo>
                <a:lnTo>
                  <a:pt x="15224" y="34727"/>
                </a:lnTo>
                <a:cubicBezTo>
                  <a:pt x="17146" y="60989"/>
                  <a:pt x="29208" y="74135"/>
                  <a:pt x="41641" y="81111"/>
                </a:cubicBezTo>
                <a:cubicBezTo>
                  <a:pt x="37176" y="69546"/>
                  <a:pt x="33486" y="54446"/>
                  <a:pt x="31471" y="34727"/>
                </a:cubicBezTo>
                <a:close/>
                <a:moveTo>
                  <a:pt x="117822" y="79623"/>
                </a:moveTo>
                <a:cubicBezTo>
                  <a:pt x="130380" y="72244"/>
                  <a:pt x="141728" y="59128"/>
                  <a:pt x="143650" y="34727"/>
                </a:cubicBezTo>
                <a:lnTo>
                  <a:pt x="127434" y="34727"/>
                </a:lnTo>
                <a:cubicBezTo>
                  <a:pt x="125512" y="53609"/>
                  <a:pt x="122039" y="68275"/>
                  <a:pt x="117822" y="79623"/>
                </a:cubicBezTo>
                <a:close/>
              </a:path>
            </a:pathLst>
          </a:custGeom>
          <a:solidFill>
            <a:srgbClr val="5F85A5"/>
          </a:solidFill>
          <a:ln/>
        </p:spPr>
      </p:sp>
      <p:sp>
        <p:nvSpPr>
          <p:cNvPr id="2107545755" name="Text 19"/>
          <p:cNvSpPr/>
          <p:nvPr/>
        </p:nvSpPr>
        <p:spPr bwMode="auto">
          <a:xfrm>
            <a:off x="960438" y="4405313"/>
            <a:ext cx="1547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250" b="1">
                <a:solidFill>
                  <a:srgbClr val="5F85A5"/>
                </a:solidFill>
                <a:latin typeface="MiSans"/>
                <a:ea typeface="MiSans"/>
                <a:cs typeface="MiSans"/>
              </a:rPr>
              <a:t>Resultados Globales</a:t>
            </a:r>
            <a:endParaRPr lang="en-US" sz="1600"/>
          </a:p>
        </p:txBody>
      </p:sp>
      <p:sp>
        <p:nvSpPr>
          <p:cNvPr id="1571109952" name="Shape 20"/>
          <p:cNvSpPr/>
          <p:nvPr/>
        </p:nvSpPr>
        <p:spPr bwMode="auto">
          <a:xfrm>
            <a:off x="488156" y="4837905"/>
            <a:ext cx="3468688" cy="706438"/>
          </a:xfrm>
          <a:custGeom>
            <a:avLst/>
            <a:gdLst/>
            <a:ahLst/>
            <a:cxnLst/>
            <a:rect l="l" t="t" r="r" b="b"/>
            <a:pathLst>
              <a:path w="3468688" h="706438" fill="norm" stroke="1" extrusionOk="0">
                <a:moveTo>
                  <a:pt x="95249" y="0"/>
                </a:moveTo>
                <a:lnTo>
                  <a:pt x="3373439" y="0"/>
                </a:lnTo>
                <a:cubicBezTo>
                  <a:pt x="3426043" y="0"/>
                  <a:pt x="3468688" y="42644"/>
                  <a:pt x="3468688" y="95249"/>
                </a:cubicBezTo>
                <a:lnTo>
                  <a:pt x="3468688" y="611189"/>
                </a:lnTo>
                <a:cubicBezTo>
                  <a:pt x="3468687" y="663793"/>
                  <a:pt x="3426043" y="706438"/>
                  <a:pt x="3373439" y="706437"/>
                </a:cubicBezTo>
                <a:lnTo>
                  <a:pt x="95249" y="706438"/>
                </a:lnTo>
                <a:cubicBezTo>
                  <a:pt x="42680" y="706437"/>
                  <a:pt x="0" y="663758"/>
                  <a:pt x="0" y="611189"/>
                </a:cubicBezTo>
                <a:lnTo>
                  <a:pt x="0" y="95249"/>
                </a:lnTo>
                <a:cubicBezTo>
                  <a:pt x="0" y="42680"/>
                  <a:pt x="42680" y="0"/>
                  <a:pt x="9524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4ECDC4">
                <a:alpha val="30193"/>
              </a:srgbClr>
            </a:solidFill>
            <a:prstDash val="solid"/>
          </a:ln>
        </p:spPr>
      </p:sp>
      <p:sp>
        <p:nvSpPr>
          <p:cNvPr id="986948120" name="Text 21"/>
          <p:cNvSpPr/>
          <p:nvPr/>
        </p:nvSpPr>
        <p:spPr bwMode="auto">
          <a:xfrm>
            <a:off x="587375" y="4968875"/>
            <a:ext cx="920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 b="1">
                <a:solidFill>
                  <a:srgbClr val="E0E2E5"/>
                </a:solidFill>
                <a:latin typeface="MiSans"/>
                <a:ea typeface="MiSans"/>
                <a:cs typeface="MiSans"/>
              </a:rPr>
              <a:t>AUC Promedio</a:t>
            </a:r>
            <a:endParaRPr lang="en-US" sz="1600"/>
          </a:p>
        </p:txBody>
      </p:sp>
      <p:sp>
        <p:nvSpPr>
          <p:cNvPr id="1370909399" name="Text 22"/>
          <p:cNvSpPr/>
          <p:nvPr/>
        </p:nvSpPr>
        <p:spPr bwMode="auto">
          <a:xfrm>
            <a:off x="3235213" y="4937125"/>
            <a:ext cx="714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500" b="1">
                <a:solidFill>
                  <a:srgbClr val="4ECDC4"/>
                </a:solidFill>
                <a:latin typeface="MiSans"/>
                <a:ea typeface="MiSans"/>
                <a:cs typeface="MiSans"/>
              </a:rPr>
              <a:t>0.9496</a:t>
            </a:r>
            <a:endParaRPr lang="en-US" sz="1600"/>
          </a:p>
        </p:txBody>
      </p:sp>
      <p:sp>
        <p:nvSpPr>
          <p:cNvPr id="324017998" name="Text 23"/>
          <p:cNvSpPr/>
          <p:nvPr/>
        </p:nvSpPr>
        <p:spPr bwMode="auto">
          <a:xfrm>
            <a:off x="587375" y="5254625"/>
            <a:ext cx="3333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E0E2E5">
                    <a:alpha val="70000"/>
                  </a:srgbClr>
                </a:solidFill>
                <a:latin typeface="MiSans"/>
                <a:ea typeface="MiSans"/>
                <a:cs typeface="MiSans"/>
              </a:rPr>
              <a:t>Excelente desempeño predictivo</a:t>
            </a:r>
            <a:endParaRPr lang="en-US" sz="1600"/>
          </a:p>
        </p:txBody>
      </p:sp>
      <p:sp>
        <p:nvSpPr>
          <p:cNvPr id="1178395434" name="Shape 24"/>
          <p:cNvSpPr/>
          <p:nvPr/>
        </p:nvSpPr>
        <p:spPr bwMode="auto">
          <a:xfrm>
            <a:off x="488156" y="5647531"/>
            <a:ext cx="3468688" cy="706438"/>
          </a:xfrm>
          <a:custGeom>
            <a:avLst/>
            <a:gdLst/>
            <a:ahLst/>
            <a:cxnLst/>
            <a:rect l="l" t="t" r="r" b="b"/>
            <a:pathLst>
              <a:path w="3468688" h="706438" fill="norm" stroke="1" extrusionOk="0">
                <a:moveTo>
                  <a:pt x="95249" y="0"/>
                </a:moveTo>
                <a:lnTo>
                  <a:pt x="3373439" y="0"/>
                </a:lnTo>
                <a:cubicBezTo>
                  <a:pt x="3426043" y="0"/>
                  <a:pt x="3468688" y="42644"/>
                  <a:pt x="3468688" y="95249"/>
                </a:cubicBezTo>
                <a:lnTo>
                  <a:pt x="3468688" y="611189"/>
                </a:lnTo>
                <a:cubicBezTo>
                  <a:pt x="3468687" y="663793"/>
                  <a:pt x="3426043" y="706438"/>
                  <a:pt x="3373439" y="706437"/>
                </a:cubicBezTo>
                <a:lnTo>
                  <a:pt x="95249" y="706438"/>
                </a:lnTo>
                <a:cubicBezTo>
                  <a:pt x="42680" y="706437"/>
                  <a:pt x="0" y="663758"/>
                  <a:pt x="0" y="611189"/>
                </a:cubicBezTo>
                <a:lnTo>
                  <a:pt x="0" y="95249"/>
                </a:lnTo>
                <a:cubicBezTo>
                  <a:pt x="0" y="42680"/>
                  <a:pt x="42680" y="0"/>
                  <a:pt x="9524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F39C12">
                <a:alpha val="30193"/>
              </a:srgbClr>
            </a:solidFill>
            <a:prstDash val="solid"/>
          </a:ln>
        </p:spPr>
      </p:sp>
      <p:sp>
        <p:nvSpPr>
          <p:cNvPr id="1189959311" name="Text 25"/>
          <p:cNvSpPr/>
          <p:nvPr/>
        </p:nvSpPr>
        <p:spPr bwMode="auto">
          <a:xfrm>
            <a:off x="587375" y="5778500"/>
            <a:ext cx="706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 b="1">
                <a:solidFill>
                  <a:srgbClr val="E0E2E5"/>
                </a:solidFill>
                <a:latin typeface="MiSans"/>
                <a:ea typeface="MiSans"/>
                <a:cs typeface="MiSans"/>
              </a:rPr>
              <a:t>Parsimonia</a:t>
            </a:r>
            <a:endParaRPr lang="en-US" sz="1600"/>
          </a:p>
        </p:txBody>
      </p:sp>
      <p:sp>
        <p:nvSpPr>
          <p:cNvPr id="1643017131" name="Text 26"/>
          <p:cNvSpPr/>
          <p:nvPr/>
        </p:nvSpPr>
        <p:spPr bwMode="auto">
          <a:xfrm>
            <a:off x="2861655" y="5746750"/>
            <a:ext cx="10874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500" b="1">
                <a:solidFill>
                  <a:srgbClr val="F39C12"/>
                </a:solidFill>
                <a:latin typeface="MiSans"/>
                <a:ea typeface="MiSans"/>
                <a:cs typeface="MiSans"/>
              </a:rPr>
              <a:t>8 vs 13 PCs</a:t>
            </a:r>
            <a:endParaRPr lang="en-US" sz="1600"/>
          </a:p>
        </p:txBody>
      </p:sp>
      <p:sp>
        <p:nvSpPr>
          <p:cNvPr id="977757354" name="Text 27"/>
          <p:cNvSpPr/>
          <p:nvPr/>
        </p:nvSpPr>
        <p:spPr bwMode="auto">
          <a:xfrm>
            <a:off x="587375" y="6064250"/>
            <a:ext cx="3333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E0E2E5">
                    <a:alpha val="70000"/>
                  </a:srgbClr>
                </a:solidFill>
                <a:latin typeface="MiSans"/>
                <a:ea typeface="MiSans"/>
                <a:cs typeface="MiSans"/>
              </a:rPr>
              <a:t>-38% features, mismo desempeño</a:t>
            </a:r>
            <a:endParaRPr lang="en-US" sz="1600"/>
          </a:p>
        </p:txBody>
      </p:sp>
      <p:sp>
        <p:nvSpPr>
          <p:cNvPr id="1825294077" name="Shape 28"/>
          <p:cNvSpPr/>
          <p:nvPr/>
        </p:nvSpPr>
        <p:spPr bwMode="auto">
          <a:xfrm>
            <a:off x="4290219" y="1146969"/>
            <a:ext cx="7580312" cy="4198938"/>
          </a:xfrm>
          <a:custGeom>
            <a:avLst/>
            <a:gdLst/>
            <a:ahLst/>
            <a:cxnLst/>
            <a:rect l="l" t="t" r="r" b="b"/>
            <a:pathLst>
              <a:path w="7580313" h="4198938" fill="norm" stroke="1" extrusionOk="0">
                <a:moveTo>
                  <a:pt x="127018" y="0"/>
                </a:moveTo>
                <a:lnTo>
                  <a:pt x="7453295" y="0"/>
                </a:lnTo>
                <a:cubicBezTo>
                  <a:pt x="7523445" y="0"/>
                  <a:pt x="7580313" y="56868"/>
                  <a:pt x="7580313" y="127018"/>
                </a:cubicBezTo>
                <a:lnTo>
                  <a:pt x="7580313" y="4071920"/>
                </a:lnTo>
                <a:cubicBezTo>
                  <a:pt x="7580313" y="4142070"/>
                  <a:pt x="7523445" y="4198938"/>
                  <a:pt x="7453295" y="4198938"/>
                </a:cubicBezTo>
                <a:lnTo>
                  <a:pt x="127018" y="4198938"/>
                </a:lnTo>
                <a:cubicBezTo>
                  <a:pt x="56868" y="4198938"/>
                  <a:pt x="0" y="4142070"/>
                  <a:pt x="0" y="4071920"/>
                </a:cubicBezTo>
                <a:lnTo>
                  <a:pt x="0" y="127018"/>
                </a:lnTo>
                <a:cubicBezTo>
                  <a:pt x="0" y="56915"/>
                  <a:pt x="56915" y="0"/>
                  <a:pt x="127018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5F85A5">
                <a:alpha val="30193"/>
              </a:srgbClr>
            </a:solidFill>
            <a:prstDash val="solid"/>
          </a:ln>
        </p:spPr>
      </p:sp>
      <p:sp>
        <p:nvSpPr>
          <p:cNvPr id="843066777" name="Text 29"/>
          <p:cNvSpPr/>
          <p:nvPr/>
        </p:nvSpPr>
        <p:spPr bwMode="auto">
          <a:xfrm>
            <a:off x="4413250" y="1309688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250" b="1">
                <a:solidFill>
                  <a:srgbClr val="E0E2E5"/>
                </a:solidFill>
                <a:latin typeface="MiSans"/>
                <a:ea typeface="MiSans"/>
                <a:cs typeface="MiSans"/>
              </a:rPr>
              <a:t>Curvas ROC - Modelos One-vs-Rest</a:t>
            </a:r>
            <a:endParaRPr lang="en-US" sz="1600"/>
          </a:p>
        </p:txBody>
      </p:sp>
      <p:sp>
        <p:nvSpPr>
          <p:cNvPr id="13871110" name="Shape 30"/>
          <p:cNvSpPr/>
          <p:nvPr/>
        </p:nvSpPr>
        <p:spPr bwMode="auto">
          <a:xfrm>
            <a:off x="4456906" y="4536281"/>
            <a:ext cx="1738313" cy="642938"/>
          </a:xfrm>
          <a:custGeom>
            <a:avLst/>
            <a:gdLst/>
            <a:ahLst/>
            <a:cxnLst/>
            <a:rect l="l" t="t" r="r" b="b"/>
            <a:pathLst>
              <a:path w="1738313" h="642938" fill="norm" stroke="1" extrusionOk="0">
                <a:moveTo>
                  <a:pt x="95251" y="0"/>
                </a:moveTo>
                <a:lnTo>
                  <a:pt x="1643061" y="0"/>
                </a:lnTo>
                <a:cubicBezTo>
                  <a:pt x="1695667" y="0"/>
                  <a:pt x="1738312" y="42645"/>
                  <a:pt x="1738312" y="95251"/>
                </a:cubicBezTo>
                <a:lnTo>
                  <a:pt x="1738313" y="547686"/>
                </a:lnTo>
                <a:cubicBezTo>
                  <a:pt x="1738312" y="600292"/>
                  <a:pt x="1695667" y="642937"/>
                  <a:pt x="1643061" y="642938"/>
                </a:cubicBezTo>
                <a:lnTo>
                  <a:pt x="95251" y="642938"/>
                </a:lnTo>
                <a:cubicBezTo>
                  <a:pt x="42645" y="642938"/>
                  <a:pt x="0" y="600292"/>
                  <a:pt x="0" y="547686"/>
                </a:cubicBezTo>
                <a:lnTo>
                  <a:pt x="0" y="95251"/>
                </a:lnTo>
                <a:cubicBezTo>
                  <a:pt x="0" y="42681"/>
                  <a:pt x="42681" y="0"/>
                  <a:pt x="9525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E74C3C">
                <a:alpha val="30193"/>
              </a:srgbClr>
            </a:solidFill>
            <a:prstDash val="solid"/>
          </a:ln>
        </p:spPr>
      </p:sp>
      <p:sp>
        <p:nvSpPr>
          <p:cNvPr id="1872213883" name="Text 31"/>
          <p:cNvSpPr/>
          <p:nvPr/>
        </p:nvSpPr>
        <p:spPr bwMode="auto">
          <a:xfrm>
            <a:off x="4524375" y="4635500"/>
            <a:ext cx="160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000">
                <a:solidFill>
                  <a:srgbClr val="E0E2E5">
                    <a:alpha val="70000"/>
                  </a:srgbClr>
                </a:solidFill>
                <a:latin typeface="MiSans"/>
                <a:ea typeface="MiSans"/>
                <a:cs typeface="MiSans"/>
              </a:rPr>
              <a:t>DoS</a:t>
            </a:r>
            <a:endParaRPr lang="en-US" sz="1600"/>
          </a:p>
        </p:txBody>
      </p:sp>
      <p:sp>
        <p:nvSpPr>
          <p:cNvPr id="796986790" name="Text 32"/>
          <p:cNvSpPr/>
          <p:nvPr/>
        </p:nvSpPr>
        <p:spPr bwMode="auto">
          <a:xfrm>
            <a:off x="4516438" y="4857750"/>
            <a:ext cx="1619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250" b="1">
                <a:solidFill>
                  <a:srgbClr val="E74C3C"/>
                </a:solidFill>
                <a:latin typeface="MiSans"/>
                <a:ea typeface="MiSans"/>
                <a:cs typeface="MiSans"/>
              </a:rPr>
              <a:t>0.9902</a:t>
            </a:r>
            <a:endParaRPr lang="en-US" sz="1600"/>
          </a:p>
        </p:txBody>
      </p:sp>
      <p:sp>
        <p:nvSpPr>
          <p:cNvPr id="1843029718" name="Shape 33"/>
          <p:cNvSpPr/>
          <p:nvPr/>
        </p:nvSpPr>
        <p:spPr bwMode="auto">
          <a:xfrm>
            <a:off x="6294437" y="4536281"/>
            <a:ext cx="1738313" cy="642938"/>
          </a:xfrm>
          <a:custGeom>
            <a:avLst/>
            <a:gdLst/>
            <a:ahLst/>
            <a:cxnLst/>
            <a:rect l="l" t="t" r="r" b="b"/>
            <a:pathLst>
              <a:path w="1738313" h="642938" fill="norm" stroke="1" extrusionOk="0">
                <a:moveTo>
                  <a:pt x="95251" y="0"/>
                </a:moveTo>
                <a:lnTo>
                  <a:pt x="1643061" y="0"/>
                </a:lnTo>
                <a:cubicBezTo>
                  <a:pt x="1695667" y="0"/>
                  <a:pt x="1738312" y="42645"/>
                  <a:pt x="1738312" y="95251"/>
                </a:cubicBezTo>
                <a:lnTo>
                  <a:pt x="1738313" y="547686"/>
                </a:lnTo>
                <a:cubicBezTo>
                  <a:pt x="1738312" y="600292"/>
                  <a:pt x="1695667" y="642937"/>
                  <a:pt x="1643061" y="642938"/>
                </a:cubicBezTo>
                <a:lnTo>
                  <a:pt x="95251" y="642938"/>
                </a:lnTo>
                <a:cubicBezTo>
                  <a:pt x="42645" y="642938"/>
                  <a:pt x="0" y="600292"/>
                  <a:pt x="0" y="547686"/>
                </a:cubicBezTo>
                <a:lnTo>
                  <a:pt x="0" y="95251"/>
                </a:lnTo>
                <a:cubicBezTo>
                  <a:pt x="0" y="42681"/>
                  <a:pt x="42681" y="0"/>
                  <a:pt x="9525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F39C12">
                <a:alpha val="30193"/>
              </a:srgbClr>
            </a:solidFill>
            <a:prstDash val="solid"/>
          </a:ln>
        </p:spPr>
      </p:sp>
      <p:sp>
        <p:nvSpPr>
          <p:cNvPr id="669869060" name="Text 34"/>
          <p:cNvSpPr/>
          <p:nvPr/>
        </p:nvSpPr>
        <p:spPr bwMode="auto">
          <a:xfrm>
            <a:off x="6361906" y="4635500"/>
            <a:ext cx="160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000">
                <a:solidFill>
                  <a:srgbClr val="E0E2E5">
                    <a:alpha val="70000"/>
                  </a:srgbClr>
                </a:solidFill>
                <a:latin typeface="MiSans"/>
                <a:ea typeface="MiSans"/>
                <a:cs typeface="MiSans"/>
              </a:rPr>
              <a:t>Probe</a:t>
            </a:r>
            <a:endParaRPr lang="en-US" sz="1600"/>
          </a:p>
        </p:txBody>
      </p:sp>
      <p:sp>
        <p:nvSpPr>
          <p:cNvPr id="1311227309" name="Text 35"/>
          <p:cNvSpPr/>
          <p:nvPr/>
        </p:nvSpPr>
        <p:spPr bwMode="auto">
          <a:xfrm>
            <a:off x="6353969" y="4857750"/>
            <a:ext cx="1619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250" b="1">
                <a:solidFill>
                  <a:srgbClr val="F39C12"/>
                </a:solidFill>
                <a:latin typeface="MiSans"/>
                <a:ea typeface="MiSans"/>
                <a:cs typeface="MiSans"/>
              </a:rPr>
              <a:t>0.9868</a:t>
            </a:r>
            <a:endParaRPr lang="en-US" sz="1600"/>
          </a:p>
        </p:txBody>
      </p:sp>
      <p:sp>
        <p:nvSpPr>
          <p:cNvPr id="537858736" name="Shape 36"/>
          <p:cNvSpPr/>
          <p:nvPr/>
        </p:nvSpPr>
        <p:spPr bwMode="auto">
          <a:xfrm>
            <a:off x="8131969" y="4536281"/>
            <a:ext cx="1738313" cy="642938"/>
          </a:xfrm>
          <a:custGeom>
            <a:avLst/>
            <a:gdLst/>
            <a:ahLst/>
            <a:cxnLst/>
            <a:rect l="l" t="t" r="r" b="b"/>
            <a:pathLst>
              <a:path w="1738313" h="642938" fill="norm" stroke="1" extrusionOk="0">
                <a:moveTo>
                  <a:pt x="95251" y="0"/>
                </a:moveTo>
                <a:lnTo>
                  <a:pt x="1643061" y="0"/>
                </a:lnTo>
                <a:cubicBezTo>
                  <a:pt x="1695667" y="0"/>
                  <a:pt x="1738312" y="42645"/>
                  <a:pt x="1738312" y="95251"/>
                </a:cubicBezTo>
                <a:lnTo>
                  <a:pt x="1738313" y="547686"/>
                </a:lnTo>
                <a:cubicBezTo>
                  <a:pt x="1738312" y="600292"/>
                  <a:pt x="1695667" y="642937"/>
                  <a:pt x="1643061" y="642938"/>
                </a:cubicBezTo>
                <a:lnTo>
                  <a:pt x="95251" y="642938"/>
                </a:lnTo>
                <a:cubicBezTo>
                  <a:pt x="42645" y="642938"/>
                  <a:pt x="0" y="600292"/>
                  <a:pt x="0" y="547686"/>
                </a:cubicBezTo>
                <a:lnTo>
                  <a:pt x="0" y="95251"/>
                </a:lnTo>
                <a:cubicBezTo>
                  <a:pt x="0" y="42681"/>
                  <a:pt x="42681" y="0"/>
                  <a:pt x="9525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9B59B6">
                <a:alpha val="30193"/>
              </a:srgbClr>
            </a:solidFill>
            <a:prstDash val="solid"/>
          </a:ln>
        </p:spPr>
      </p:sp>
      <p:sp>
        <p:nvSpPr>
          <p:cNvPr id="1329206779" name="Text 37"/>
          <p:cNvSpPr/>
          <p:nvPr/>
        </p:nvSpPr>
        <p:spPr bwMode="auto">
          <a:xfrm>
            <a:off x="8199438" y="4635500"/>
            <a:ext cx="160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000">
                <a:solidFill>
                  <a:srgbClr val="E0E2E5">
                    <a:alpha val="70000"/>
                  </a:srgbClr>
                </a:solidFill>
                <a:latin typeface="MiSans"/>
                <a:ea typeface="MiSans"/>
                <a:cs typeface="MiSans"/>
              </a:rPr>
              <a:t>R2L</a:t>
            </a:r>
            <a:endParaRPr lang="en-US" sz="1600"/>
          </a:p>
        </p:txBody>
      </p:sp>
      <p:sp>
        <p:nvSpPr>
          <p:cNvPr id="1150972347" name="Text 38"/>
          <p:cNvSpPr/>
          <p:nvPr/>
        </p:nvSpPr>
        <p:spPr bwMode="auto">
          <a:xfrm>
            <a:off x="8191500" y="4857750"/>
            <a:ext cx="1619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250" b="1">
                <a:solidFill>
                  <a:srgbClr val="9B59B6"/>
                </a:solidFill>
                <a:latin typeface="MiSans"/>
                <a:ea typeface="MiSans"/>
                <a:cs typeface="MiSans"/>
              </a:rPr>
              <a:t>0.9593</a:t>
            </a:r>
            <a:endParaRPr lang="en-US" sz="1600"/>
          </a:p>
        </p:txBody>
      </p:sp>
      <p:sp>
        <p:nvSpPr>
          <p:cNvPr id="786522999" name="Shape 39"/>
          <p:cNvSpPr/>
          <p:nvPr/>
        </p:nvSpPr>
        <p:spPr bwMode="auto">
          <a:xfrm>
            <a:off x="9969500" y="4536281"/>
            <a:ext cx="1738313" cy="642938"/>
          </a:xfrm>
          <a:custGeom>
            <a:avLst/>
            <a:gdLst/>
            <a:ahLst/>
            <a:cxnLst/>
            <a:rect l="l" t="t" r="r" b="b"/>
            <a:pathLst>
              <a:path w="1738313" h="642938" fill="norm" stroke="1" extrusionOk="0">
                <a:moveTo>
                  <a:pt x="95251" y="0"/>
                </a:moveTo>
                <a:lnTo>
                  <a:pt x="1643061" y="0"/>
                </a:lnTo>
                <a:cubicBezTo>
                  <a:pt x="1695667" y="0"/>
                  <a:pt x="1738312" y="42645"/>
                  <a:pt x="1738312" y="95251"/>
                </a:cubicBezTo>
                <a:lnTo>
                  <a:pt x="1738313" y="547686"/>
                </a:lnTo>
                <a:cubicBezTo>
                  <a:pt x="1738312" y="600292"/>
                  <a:pt x="1695667" y="642937"/>
                  <a:pt x="1643061" y="642938"/>
                </a:cubicBezTo>
                <a:lnTo>
                  <a:pt x="95251" y="642938"/>
                </a:lnTo>
                <a:cubicBezTo>
                  <a:pt x="42645" y="642938"/>
                  <a:pt x="0" y="600292"/>
                  <a:pt x="0" y="547686"/>
                </a:cubicBezTo>
                <a:lnTo>
                  <a:pt x="0" y="95251"/>
                </a:lnTo>
                <a:cubicBezTo>
                  <a:pt x="0" y="42681"/>
                  <a:pt x="42681" y="0"/>
                  <a:pt x="9525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7F8C8D">
                <a:alpha val="30193"/>
              </a:srgbClr>
            </a:solidFill>
            <a:prstDash val="solid"/>
          </a:ln>
        </p:spPr>
      </p:sp>
      <p:sp>
        <p:nvSpPr>
          <p:cNvPr id="1980214971" name="Text 40"/>
          <p:cNvSpPr/>
          <p:nvPr/>
        </p:nvSpPr>
        <p:spPr bwMode="auto">
          <a:xfrm>
            <a:off x="10036969" y="4635500"/>
            <a:ext cx="160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000">
                <a:solidFill>
                  <a:srgbClr val="E0E2E5">
                    <a:alpha val="70000"/>
                  </a:srgbClr>
                </a:solidFill>
                <a:latin typeface="MiSans"/>
                <a:ea typeface="MiSans"/>
                <a:cs typeface="MiSans"/>
              </a:rPr>
              <a:t>U2R</a:t>
            </a:r>
            <a:endParaRPr lang="en-US" sz="1600"/>
          </a:p>
        </p:txBody>
      </p:sp>
      <p:sp>
        <p:nvSpPr>
          <p:cNvPr id="2000944202" name="Text 41"/>
          <p:cNvSpPr/>
          <p:nvPr/>
        </p:nvSpPr>
        <p:spPr bwMode="auto">
          <a:xfrm>
            <a:off x="10029031" y="4857750"/>
            <a:ext cx="1619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250" b="1">
                <a:solidFill>
                  <a:srgbClr val="7F8C8D"/>
                </a:solidFill>
                <a:latin typeface="MiSans"/>
                <a:ea typeface="MiSans"/>
                <a:cs typeface="MiSans"/>
              </a:rPr>
              <a:t>0.8619</a:t>
            </a:r>
            <a:endParaRPr lang="en-US" sz="1600"/>
          </a:p>
        </p:txBody>
      </p:sp>
      <p:pic>
        <p:nvPicPr>
          <p:cNvPr id="315879436" name="Image 0" descr="https://kimi-img.moonshot.cn/pub/slides/26-01-29-04:45:31-d5t7aqtdbv1hdrqu8re0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701793" y="1686719"/>
            <a:ext cx="4335176" cy="26431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1A1D2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259422" name="Shape 0"/>
          <p:cNvSpPr/>
          <p:nvPr/>
        </p:nvSpPr>
        <p:spPr bwMode="auto">
          <a:xfrm>
            <a:off x="357537" y="393290"/>
            <a:ext cx="53630" cy="357537"/>
          </a:xfrm>
          <a:custGeom>
            <a:avLst/>
            <a:gdLst/>
            <a:ahLst/>
            <a:cxnLst/>
            <a:rect l="l" t="t" r="r" b="b"/>
            <a:pathLst>
              <a:path w="53630" h="357537" fill="norm" stroke="1" extrusionOk="0">
                <a:moveTo>
                  <a:pt x="26815" y="0"/>
                </a:moveTo>
                <a:lnTo>
                  <a:pt x="26815" y="0"/>
                </a:lnTo>
                <a:cubicBezTo>
                  <a:pt x="41615" y="0"/>
                  <a:pt x="53630" y="12016"/>
                  <a:pt x="53630" y="26815"/>
                </a:cubicBezTo>
                <a:lnTo>
                  <a:pt x="53630" y="330721"/>
                </a:lnTo>
                <a:cubicBezTo>
                  <a:pt x="53630" y="345531"/>
                  <a:pt x="41625" y="357537"/>
                  <a:pt x="26815" y="357537"/>
                </a:cubicBezTo>
                <a:lnTo>
                  <a:pt x="26815" y="357537"/>
                </a:lnTo>
                <a:cubicBezTo>
                  <a:pt x="12006" y="357537"/>
                  <a:pt x="0" y="345531"/>
                  <a:pt x="0" y="330721"/>
                </a:cubicBezTo>
                <a:lnTo>
                  <a:pt x="0" y="26815"/>
                </a:lnTo>
                <a:cubicBezTo>
                  <a:pt x="0" y="12016"/>
                  <a:pt x="12016" y="0"/>
                  <a:pt x="26815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703295562" name="Text 1"/>
          <p:cNvSpPr/>
          <p:nvPr/>
        </p:nvSpPr>
        <p:spPr bwMode="auto">
          <a:xfrm flipH="0" flipV="0">
            <a:off x="518427" y="357536"/>
            <a:ext cx="12710604" cy="429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  <a:defRPr/>
            </a:pPr>
            <a:r>
              <a:rPr lang="en-US" sz="3400" b="1">
                <a:solidFill>
                  <a:srgbClr val="E0E2E5"/>
                </a:solidFill>
                <a:latin typeface="MiSans"/>
                <a:ea typeface="MiSans"/>
                <a:cs typeface="MiSans"/>
              </a:rPr>
              <a:t>Desempeño Detallado por Categoría</a:t>
            </a:r>
            <a:endParaRPr lang="en-US" sz="1600"/>
          </a:p>
        </p:txBody>
      </p:sp>
      <p:sp>
        <p:nvSpPr>
          <p:cNvPr id="49143431" name="Text 2"/>
          <p:cNvSpPr/>
          <p:nvPr/>
        </p:nvSpPr>
        <p:spPr bwMode="auto">
          <a:xfrm>
            <a:off x="572059" y="858088"/>
            <a:ext cx="11351789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5F85A5"/>
                </a:solidFill>
                <a:latin typeface="MiSans"/>
                <a:ea typeface="MiSans"/>
                <a:cs typeface="MiSans"/>
              </a:rPr>
              <a:t>Análisis de Métricas por Tipo de Ataque</a:t>
            </a:r>
            <a:endParaRPr lang="en-US" sz="1600"/>
          </a:p>
        </p:txBody>
      </p:sp>
      <p:sp>
        <p:nvSpPr>
          <p:cNvPr id="505451954" name="Shape 3"/>
          <p:cNvSpPr/>
          <p:nvPr/>
        </p:nvSpPr>
        <p:spPr bwMode="auto">
          <a:xfrm>
            <a:off x="362006" y="1291601"/>
            <a:ext cx="11467988" cy="3593243"/>
          </a:xfrm>
          <a:custGeom>
            <a:avLst/>
            <a:gdLst/>
            <a:ahLst/>
            <a:cxnLst/>
            <a:rect l="l" t="t" r="r" b="b"/>
            <a:pathLst>
              <a:path w="11467988" h="3593243" fill="norm" stroke="1" extrusionOk="0">
                <a:moveTo>
                  <a:pt x="143011" y="0"/>
                </a:moveTo>
                <a:lnTo>
                  <a:pt x="11324977" y="0"/>
                </a:lnTo>
                <a:cubicBezTo>
                  <a:pt x="11403960" y="0"/>
                  <a:pt x="11467988" y="64028"/>
                  <a:pt x="11467988" y="143011"/>
                </a:cubicBezTo>
                <a:lnTo>
                  <a:pt x="11467988" y="3450232"/>
                </a:lnTo>
                <a:cubicBezTo>
                  <a:pt x="11467988" y="3529215"/>
                  <a:pt x="11403960" y="3593243"/>
                  <a:pt x="11324977" y="3593243"/>
                </a:cubicBezTo>
                <a:lnTo>
                  <a:pt x="143011" y="3593243"/>
                </a:lnTo>
                <a:cubicBezTo>
                  <a:pt x="64028" y="3593243"/>
                  <a:pt x="0" y="3529215"/>
                  <a:pt x="0" y="3450232"/>
                </a:cubicBezTo>
                <a:lnTo>
                  <a:pt x="0" y="143011"/>
                </a:lnTo>
                <a:cubicBezTo>
                  <a:pt x="0" y="64081"/>
                  <a:pt x="64081" y="0"/>
                  <a:pt x="143011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5F85A5">
                <a:alpha val="30193"/>
              </a:srgbClr>
            </a:solidFill>
            <a:prstDash val="solid"/>
          </a:ln>
        </p:spPr>
      </p:sp>
      <p:graphicFrame>
        <p:nvGraphicFramePr>
          <p:cNvPr id="1403008240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545243" y="1474839"/>
          <a:ext cx="11101513" cy="3226768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3146323"/>
                <a:gridCol w="1367578"/>
                <a:gridCol w="1313947"/>
                <a:gridCol w="1179871"/>
                <a:gridCol w="1367578"/>
                <a:gridCol w="2726217"/>
              </a:tblGrid>
              <a:tr h="645354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200" b="1" u="none">
                          <a:solidFill>
                            <a:srgbClr val="5F85A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Categoría</a:t>
                      </a:r>
                      <a:endParaRPr lang="en-US" sz="12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43015" marR="143015" marT="107261" marB="107261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25400" algn="ctr">
                      <a:solidFill>
                        <a:srgbClr val="5F85A5"/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200" b="1" u="none">
                          <a:solidFill>
                            <a:srgbClr val="5F85A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AUC</a:t>
                      </a:r>
                      <a:endParaRPr lang="en-US" sz="12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43015" marR="143015" marT="107261" marB="107261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25400" algn="ctr">
                      <a:solidFill>
                        <a:srgbClr val="5F85A5"/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200" b="1" u="none">
                          <a:solidFill>
                            <a:srgbClr val="5F85A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Precisión</a:t>
                      </a:r>
                      <a:endParaRPr lang="en-US" sz="12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43015" marR="143015" marT="107261" marB="107261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25400" algn="ctr">
                      <a:solidFill>
                        <a:srgbClr val="5F85A5"/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200" b="1" u="none">
                          <a:solidFill>
                            <a:srgbClr val="5F85A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Recall</a:t>
                      </a:r>
                      <a:endParaRPr lang="en-US" sz="12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43015" marR="143015" marT="107261" marB="107261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25400" algn="ctr">
                      <a:solidFill>
                        <a:srgbClr val="5F85A5"/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200" b="1" u="none">
                          <a:solidFill>
                            <a:srgbClr val="5F85A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F1-Score</a:t>
                      </a:r>
                      <a:endParaRPr lang="en-US" sz="12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43015" marR="143015" marT="107261" marB="107261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25400" algn="ctr">
                      <a:solidFill>
                        <a:srgbClr val="5F85A5"/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200" b="1" u="none">
                          <a:solidFill>
                            <a:srgbClr val="5F85A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Estado</a:t>
                      </a:r>
                      <a:endParaRPr lang="en-US" sz="12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43015" marR="143015" marT="107261" marB="107261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25400" algn="ctr">
                      <a:solidFill>
                        <a:srgbClr val="5F85A5"/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645354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 u="none">
                          <a:solidFill>
                            <a:srgbClr val="E0E2E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DoS</a:t>
                      </a:r>
                      <a:endParaRPr lang="en-US" sz="1100"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>
                        <a:defRPr/>
                      </a:pPr>
                      <a:r>
                        <a:rPr lang="en-US" sz="1100" u="none">
                          <a:solidFill>
                            <a:srgbClr val="E0E2E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Denegación de Servicio</a:t>
                      </a:r>
                      <a:endParaRPr lang="en-US"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43015" marR="143015" marT="107261" marB="107261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12700" algn="ctr">
                      <a:solidFill>
                        <a:srgbClr val="4A5C6A"/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u="none">
                          <a:solidFill>
                            <a:srgbClr val="E0E2E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0.9902</a:t>
                      </a:r>
                      <a:endParaRPr lang="en-US"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43015" marR="143015" marT="107261" marB="107261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12700" algn="ctr">
                      <a:solidFill>
                        <a:srgbClr val="4A5C6A"/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u="none">
                          <a:solidFill>
                            <a:srgbClr val="E0E2E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0.9612</a:t>
                      </a:r>
                      <a:endParaRPr lang="en-US"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43015" marR="143015" marT="107261" marB="107261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12700" algn="ctr">
                      <a:solidFill>
                        <a:srgbClr val="4A5C6A"/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u="none">
                          <a:solidFill>
                            <a:srgbClr val="E0E2E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0.9561</a:t>
                      </a:r>
                      <a:endParaRPr lang="en-US"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43015" marR="143015" marT="107261" marB="107261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12700" algn="ctr">
                      <a:solidFill>
                        <a:srgbClr val="4A5C6A"/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u="none">
                          <a:solidFill>
                            <a:srgbClr val="E0E2E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0.9586</a:t>
                      </a:r>
                      <a:endParaRPr lang="en-US"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43015" marR="143015" marT="107261" marB="107261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12700" algn="ctr">
                      <a:solidFill>
                        <a:srgbClr val="4A5C6A"/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u="none">
                          <a:solidFill>
                            <a:srgbClr val="E0E2E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Producción</a:t>
                      </a:r>
                      <a:endParaRPr lang="en-US"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43015" marR="143015" marT="107261" marB="107261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12700" algn="ctr">
                      <a:solidFill>
                        <a:srgbClr val="4A5C6A"/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645354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 u="none">
                          <a:solidFill>
                            <a:srgbClr val="E0E2E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Probe</a:t>
                      </a:r>
                      <a:endParaRPr lang="en-US" sz="1100"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>
                        <a:defRPr/>
                      </a:pPr>
                      <a:r>
                        <a:rPr lang="en-US" sz="1100" u="none">
                          <a:solidFill>
                            <a:srgbClr val="E0E2E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Escaneo de Puertos</a:t>
                      </a:r>
                      <a:endParaRPr lang="en-US"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43015" marR="143015" marT="107261" marB="107261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12700" algn="ctr">
                      <a:solidFill>
                        <a:srgbClr val="4A5C6A"/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u="none">
                          <a:solidFill>
                            <a:srgbClr val="E0E2E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0.9868</a:t>
                      </a:r>
                      <a:endParaRPr lang="en-US"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43015" marR="143015" marT="107261" marB="107261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12700" algn="ctr">
                      <a:solidFill>
                        <a:srgbClr val="4A5C6A"/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u="none">
                          <a:solidFill>
                            <a:srgbClr val="E0E2E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0.8247</a:t>
                      </a:r>
                      <a:endParaRPr lang="en-US"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43015" marR="143015" marT="107261" marB="107261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12700" algn="ctr">
                      <a:solidFill>
                        <a:srgbClr val="4A5C6A"/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u="none">
                          <a:solidFill>
                            <a:srgbClr val="E0E2E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0.7643</a:t>
                      </a:r>
                      <a:endParaRPr lang="en-US"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43015" marR="143015" marT="107261" marB="107261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12700" algn="ctr">
                      <a:solidFill>
                        <a:srgbClr val="4A5C6A"/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u="none">
                          <a:solidFill>
                            <a:srgbClr val="E0E2E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0.7931</a:t>
                      </a:r>
                      <a:endParaRPr lang="en-US"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43015" marR="143015" marT="107261" marB="107261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12700" algn="ctr">
                      <a:solidFill>
                        <a:srgbClr val="4A5C6A"/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u="none">
                          <a:solidFill>
                            <a:srgbClr val="E0E2E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Producción</a:t>
                      </a:r>
                      <a:endParaRPr lang="en-US"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43015" marR="143015" marT="107261" marB="107261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12700" algn="ctr">
                      <a:solidFill>
                        <a:srgbClr val="4A5C6A"/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645354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 u="none">
                          <a:solidFill>
                            <a:srgbClr val="E0E2E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R2L</a:t>
                      </a:r>
                      <a:endParaRPr lang="en-US" sz="1100"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>
                        <a:defRPr/>
                      </a:pPr>
                      <a:r>
                        <a:rPr lang="en-US" sz="1100" u="none">
                          <a:solidFill>
                            <a:srgbClr val="E0E2E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Acceso No Autorizado</a:t>
                      </a:r>
                      <a:endParaRPr lang="en-US"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43015" marR="143015" marT="107261" marB="107261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12700" algn="ctr">
                      <a:solidFill>
                        <a:srgbClr val="4A5C6A"/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u="none">
                          <a:solidFill>
                            <a:srgbClr val="E0E2E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0.9593</a:t>
                      </a:r>
                      <a:endParaRPr lang="en-US"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43015" marR="143015" marT="107261" marB="107261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12700" algn="ctr">
                      <a:solidFill>
                        <a:srgbClr val="4A5C6A"/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u="none">
                          <a:solidFill>
                            <a:srgbClr val="E0E2E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0.0891</a:t>
                      </a:r>
                      <a:endParaRPr lang="en-US"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43015" marR="143015" marT="107261" marB="107261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12700" algn="ctr">
                      <a:solidFill>
                        <a:srgbClr val="4A5C6A"/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u="none">
                          <a:solidFill>
                            <a:srgbClr val="E0E2E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0.9231</a:t>
                      </a:r>
                      <a:endParaRPr lang="en-US"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43015" marR="143015" marT="107261" marB="107261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12700" algn="ctr">
                      <a:solidFill>
                        <a:srgbClr val="4A5C6A"/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u="none">
                          <a:solidFill>
                            <a:srgbClr val="E0E2E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0.1515</a:t>
                      </a:r>
                      <a:endParaRPr lang="en-US"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43015" marR="143015" marT="107261" marB="107261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12700" algn="ctr">
                      <a:solidFill>
                        <a:srgbClr val="4A5C6A"/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u="none">
                          <a:solidFill>
                            <a:srgbClr val="E0E2E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Ajustar Threshold</a:t>
                      </a:r>
                      <a:endParaRPr lang="en-US"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43015" marR="143015" marT="107261" marB="107261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12700" algn="ctr">
                      <a:solidFill>
                        <a:srgbClr val="4A5C6A"/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645354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 u="none">
                          <a:solidFill>
                            <a:srgbClr val="E0E2E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U2R</a:t>
                      </a:r>
                      <a:endParaRPr lang="en-US" sz="1100"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>
                        <a:defRPr/>
                      </a:pPr>
                      <a:r>
                        <a:rPr lang="en-US" sz="1100" u="none">
                          <a:solidFill>
                            <a:srgbClr val="E0E2E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Escalada de Privilegios</a:t>
                      </a:r>
                      <a:endParaRPr lang="en-US"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43015" marR="143015" marT="107261" marB="107261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u="none">
                          <a:solidFill>
                            <a:srgbClr val="E0E2E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0.8619</a:t>
                      </a:r>
                      <a:endParaRPr lang="en-US"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43015" marR="143015" marT="107261" marB="107261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u="none">
                          <a:solidFill>
                            <a:srgbClr val="E0E2E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0.0014</a:t>
                      </a:r>
                      <a:endParaRPr lang="en-US"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43015" marR="143015" marT="107261" marB="107261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u="none">
                          <a:solidFill>
                            <a:srgbClr val="E0E2E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0.6667</a:t>
                      </a:r>
                      <a:endParaRPr lang="en-US"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43015" marR="143015" marT="107261" marB="107261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u="none">
                          <a:solidFill>
                            <a:srgbClr val="E0E2E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0.0028</a:t>
                      </a:r>
                      <a:endParaRPr lang="en-US"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43015" marR="143015" marT="107261" marB="107261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u="none">
                          <a:solidFill>
                            <a:srgbClr val="E0E2E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Más Datos</a:t>
                      </a:r>
                      <a:endParaRPr lang="en-US"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43015" marR="143015" marT="107261" marB="107261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59462158" name="Shape 4"/>
          <p:cNvSpPr/>
          <p:nvPr/>
        </p:nvSpPr>
        <p:spPr bwMode="auto">
          <a:xfrm>
            <a:off x="362006" y="5036798"/>
            <a:ext cx="3718381" cy="1456962"/>
          </a:xfrm>
          <a:custGeom>
            <a:avLst/>
            <a:gdLst/>
            <a:ahLst/>
            <a:cxnLst/>
            <a:rect l="l" t="t" r="r" b="b"/>
            <a:pathLst>
              <a:path w="3718381" h="1456962" fill="norm" stroke="1" extrusionOk="0">
                <a:moveTo>
                  <a:pt x="143015" y="0"/>
                </a:moveTo>
                <a:lnTo>
                  <a:pt x="3575366" y="0"/>
                </a:lnTo>
                <a:cubicBezTo>
                  <a:pt x="3654351" y="0"/>
                  <a:pt x="3718381" y="64030"/>
                  <a:pt x="3718381" y="143015"/>
                </a:cubicBezTo>
                <a:lnTo>
                  <a:pt x="3718381" y="1313946"/>
                </a:lnTo>
                <a:cubicBezTo>
                  <a:pt x="3718381" y="1392932"/>
                  <a:pt x="3654351" y="1456962"/>
                  <a:pt x="3575366" y="1456962"/>
                </a:cubicBezTo>
                <a:lnTo>
                  <a:pt x="143015" y="1456962"/>
                </a:lnTo>
                <a:cubicBezTo>
                  <a:pt x="64030" y="1456962"/>
                  <a:pt x="0" y="1392932"/>
                  <a:pt x="0" y="1313946"/>
                </a:cubicBezTo>
                <a:lnTo>
                  <a:pt x="0" y="143015"/>
                </a:lnTo>
                <a:cubicBezTo>
                  <a:pt x="0" y="64083"/>
                  <a:pt x="64083" y="0"/>
                  <a:pt x="143015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12700">
            <a:solidFill>
              <a:srgbClr val="4ECDC4">
                <a:alpha val="40000"/>
              </a:srgbClr>
            </a:solidFill>
            <a:prstDash val="solid"/>
          </a:ln>
        </p:spPr>
      </p:sp>
      <p:sp>
        <p:nvSpPr>
          <p:cNvPr id="103562075" name="Shape 5"/>
          <p:cNvSpPr/>
          <p:nvPr/>
        </p:nvSpPr>
        <p:spPr bwMode="auto">
          <a:xfrm>
            <a:off x="513959" y="5188751"/>
            <a:ext cx="348598" cy="348598"/>
          </a:xfrm>
          <a:custGeom>
            <a:avLst/>
            <a:gdLst/>
            <a:ahLst/>
            <a:cxnLst/>
            <a:rect l="l" t="t" r="r" b="b"/>
            <a:pathLst>
              <a:path w="348598" h="348598" fill="norm" stroke="1" extrusionOk="0">
                <a:moveTo>
                  <a:pt x="107260" y="0"/>
                </a:moveTo>
                <a:lnTo>
                  <a:pt x="241338" y="0"/>
                </a:lnTo>
                <a:cubicBezTo>
                  <a:pt x="300537" y="0"/>
                  <a:pt x="348598" y="48062"/>
                  <a:pt x="348598" y="107260"/>
                </a:cubicBezTo>
                <a:lnTo>
                  <a:pt x="348598" y="241338"/>
                </a:lnTo>
                <a:cubicBezTo>
                  <a:pt x="348598" y="300537"/>
                  <a:pt x="300537" y="348598"/>
                  <a:pt x="241338" y="348598"/>
                </a:cubicBezTo>
                <a:lnTo>
                  <a:pt x="107260" y="348598"/>
                </a:lnTo>
                <a:cubicBezTo>
                  <a:pt x="48062" y="348598"/>
                  <a:pt x="0" y="300537"/>
                  <a:pt x="0" y="241338"/>
                </a:cubicBezTo>
                <a:lnTo>
                  <a:pt x="0" y="107260"/>
                </a:lnTo>
                <a:cubicBezTo>
                  <a:pt x="0" y="48062"/>
                  <a:pt x="48062" y="0"/>
                  <a:pt x="107260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 w="12700">
            <a:solidFill>
              <a:srgbClr val="4ECDC4">
                <a:alpha val="40000"/>
              </a:srgbClr>
            </a:solidFill>
            <a:prstDash val="solid"/>
          </a:ln>
        </p:spPr>
      </p:sp>
      <p:sp>
        <p:nvSpPr>
          <p:cNvPr id="1163809660" name="Shape 6"/>
          <p:cNvSpPr/>
          <p:nvPr/>
        </p:nvSpPr>
        <p:spPr bwMode="auto">
          <a:xfrm>
            <a:off x="610047" y="5282604"/>
            <a:ext cx="160891" cy="160891"/>
          </a:xfrm>
          <a:custGeom>
            <a:avLst/>
            <a:gdLst/>
            <a:ahLst/>
            <a:cxnLst/>
            <a:rect l="l" t="t" r="r" b="b"/>
            <a:pathLst>
              <a:path w="160891" h="160891" fill="norm" stroke="1" extrusionOk="0">
                <a:moveTo>
                  <a:pt x="80446" y="160891"/>
                </a:moveTo>
                <a:cubicBezTo>
                  <a:pt x="124845" y="160891"/>
                  <a:pt x="160891" y="124845"/>
                  <a:pt x="160891" y="80446"/>
                </a:cubicBezTo>
                <a:cubicBezTo>
                  <a:pt x="160891" y="36047"/>
                  <a:pt x="124845" y="0"/>
                  <a:pt x="80446" y="0"/>
                </a:cubicBezTo>
                <a:cubicBezTo>
                  <a:pt x="36047" y="0"/>
                  <a:pt x="0" y="36047"/>
                  <a:pt x="0" y="80446"/>
                </a:cubicBezTo>
                <a:cubicBezTo>
                  <a:pt x="0" y="124845"/>
                  <a:pt x="36047" y="160891"/>
                  <a:pt x="80446" y="160891"/>
                </a:cubicBezTo>
                <a:close/>
                <a:moveTo>
                  <a:pt x="106968" y="66839"/>
                </a:moveTo>
                <a:lnTo>
                  <a:pt x="81828" y="107062"/>
                </a:lnTo>
                <a:cubicBezTo>
                  <a:pt x="80509" y="109167"/>
                  <a:pt x="78246" y="110487"/>
                  <a:pt x="75764" y="110613"/>
                </a:cubicBezTo>
                <a:cubicBezTo>
                  <a:pt x="73281" y="110739"/>
                  <a:pt x="70893" y="109607"/>
                  <a:pt x="69416" y="107596"/>
                </a:cubicBezTo>
                <a:lnTo>
                  <a:pt x="54332" y="87485"/>
                </a:lnTo>
                <a:cubicBezTo>
                  <a:pt x="51818" y="84154"/>
                  <a:pt x="52510" y="79440"/>
                  <a:pt x="55841" y="76926"/>
                </a:cubicBezTo>
                <a:cubicBezTo>
                  <a:pt x="59172" y="74412"/>
                  <a:pt x="63885" y="75104"/>
                  <a:pt x="66399" y="78435"/>
                </a:cubicBezTo>
                <a:lnTo>
                  <a:pt x="74884" y="89747"/>
                </a:lnTo>
                <a:lnTo>
                  <a:pt x="94178" y="58857"/>
                </a:lnTo>
                <a:cubicBezTo>
                  <a:pt x="96378" y="55338"/>
                  <a:pt x="101029" y="54238"/>
                  <a:pt x="104579" y="56469"/>
                </a:cubicBezTo>
                <a:cubicBezTo>
                  <a:pt x="108130" y="58700"/>
                  <a:pt x="109199" y="63320"/>
                  <a:pt x="106968" y="66871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039086909" name="Text 7"/>
          <p:cNvSpPr/>
          <p:nvPr/>
        </p:nvSpPr>
        <p:spPr bwMode="auto">
          <a:xfrm>
            <a:off x="974287" y="5237912"/>
            <a:ext cx="1769806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50" b="1">
                <a:solidFill>
                  <a:srgbClr val="4ECDC4"/>
                </a:solidFill>
                <a:latin typeface="MiSans"/>
                <a:ea typeface="MiSans"/>
                <a:cs typeface="MiSans"/>
              </a:rPr>
              <a:t>Listos para Producción</a:t>
            </a:r>
            <a:endParaRPr lang="en-US" sz="1600"/>
          </a:p>
        </p:txBody>
      </p:sp>
      <p:sp>
        <p:nvSpPr>
          <p:cNvPr id="94203214" name="Text 8"/>
          <p:cNvSpPr/>
          <p:nvPr/>
        </p:nvSpPr>
        <p:spPr bwMode="auto">
          <a:xfrm>
            <a:off x="509490" y="5649079"/>
            <a:ext cx="3494921" cy="697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150" b="1">
                <a:solidFill>
                  <a:srgbClr val="4ECDC4"/>
                </a:solidFill>
                <a:latin typeface="MiSans"/>
                <a:ea typeface="MiSans"/>
                <a:cs typeface="MiSans"/>
              </a:rPr>
              <a:t>DoS y Probe</a:t>
            </a:r>
            <a:r>
              <a:rPr lang="en-US" sz="1150">
                <a:solidFill>
                  <a:srgbClr val="E0E2E5">
                    <a:alpha val="80000"/>
                  </a:srgbClr>
                </a:solidFill>
                <a:latin typeface="MiSans"/>
                <a:ea typeface="MiSans"/>
                <a:cs typeface="MiSans"/>
              </a:rPr>
              <a:t> alcanzan métricas excepcionales con F1 &gt; 0.79. Modelos robustos y confiables para despliegue inmediato.</a:t>
            </a:r>
            <a:endParaRPr lang="en-US" sz="1600"/>
          </a:p>
        </p:txBody>
      </p:sp>
      <p:sp>
        <p:nvSpPr>
          <p:cNvPr id="45362348" name="Shape 9"/>
          <p:cNvSpPr/>
          <p:nvPr/>
        </p:nvSpPr>
        <p:spPr bwMode="auto">
          <a:xfrm>
            <a:off x="4233946" y="5036798"/>
            <a:ext cx="3718381" cy="1456962"/>
          </a:xfrm>
          <a:custGeom>
            <a:avLst/>
            <a:gdLst/>
            <a:ahLst/>
            <a:cxnLst/>
            <a:rect l="l" t="t" r="r" b="b"/>
            <a:pathLst>
              <a:path w="3718381" h="1456962" fill="norm" stroke="1" extrusionOk="0">
                <a:moveTo>
                  <a:pt x="143015" y="0"/>
                </a:moveTo>
                <a:lnTo>
                  <a:pt x="3575366" y="0"/>
                </a:lnTo>
                <a:cubicBezTo>
                  <a:pt x="3654351" y="0"/>
                  <a:pt x="3718381" y="64030"/>
                  <a:pt x="3718381" y="143015"/>
                </a:cubicBezTo>
                <a:lnTo>
                  <a:pt x="3718381" y="1313946"/>
                </a:lnTo>
                <a:cubicBezTo>
                  <a:pt x="3718381" y="1392932"/>
                  <a:pt x="3654351" y="1456962"/>
                  <a:pt x="3575366" y="1456962"/>
                </a:cubicBezTo>
                <a:lnTo>
                  <a:pt x="143015" y="1456962"/>
                </a:lnTo>
                <a:cubicBezTo>
                  <a:pt x="64030" y="1456962"/>
                  <a:pt x="0" y="1392932"/>
                  <a:pt x="0" y="1313946"/>
                </a:cubicBezTo>
                <a:lnTo>
                  <a:pt x="0" y="143015"/>
                </a:lnTo>
                <a:cubicBezTo>
                  <a:pt x="0" y="64083"/>
                  <a:pt x="64083" y="0"/>
                  <a:pt x="143015" y="0"/>
                </a:cubicBezTo>
                <a:close/>
              </a:path>
            </a:pathLst>
          </a:custGeom>
          <a:solidFill>
            <a:srgbClr val="F39C12">
              <a:alpha val="10196"/>
            </a:srgbClr>
          </a:solidFill>
          <a:ln w="12700">
            <a:solidFill>
              <a:srgbClr val="F39C12">
                <a:alpha val="40000"/>
              </a:srgbClr>
            </a:solidFill>
            <a:prstDash val="solid"/>
          </a:ln>
        </p:spPr>
      </p:sp>
      <p:sp>
        <p:nvSpPr>
          <p:cNvPr id="1180276152" name="Shape 10"/>
          <p:cNvSpPr/>
          <p:nvPr/>
        </p:nvSpPr>
        <p:spPr bwMode="auto">
          <a:xfrm>
            <a:off x="4385899" y="5188751"/>
            <a:ext cx="348598" cy="348598"/>
          </a:xfrm>
          <a:custGeom>
            <a:avLst/>
            <a:gdLst/>
            <a:ahLst/>
            <a:cxnLst/>
            <a:rect l="l" t="t" r="r" b="b"/>
            <a:pathLst>
              <a:path w="348598" h="348598" fill="norm" stroke="1" extrusionOk="0">
                <a:moveTo>
                  <a:pt x="107260" y="0"/>
                </a:moveTo>
                <a:lnTo>
                  <a:pt x="241338" y="0"/>
                </a:lnTo>
                <a:cubicBezTo>
                  <a:pt x="300537" y="0"/>
                  <a:pt x="348598" y="48062"/>
                  <a:pt x="348598" y="107260"/>
                </a:cubicBezTo>
                <a:lnTo>
                  <a:pt x="348598" y="241338"/>
                </a:lnTo>
                <a:cubicBezTo>
                  <a:pt x="348598" y="300537"/>
                  <a:pt x="300537" y="348598"/>
                  <a:pt x="241338" y="348598"/>
                </a:cubicBezTo>
                <a:lnTo>
                  <a:pt x="107260" y="348598"/>
                </a:lnTo>
                <a:cubicBezTo>
                  <a:pt x="48062" y="348598"/>
                  <a:pt x="0" y="300537"/>
                  <a:pt x="0" y="241338"/>
                </a:cubicBezTo>
                <a:lnTo>
                  <a:pt x="0" y="107260"/>
                </a:lnTo>
                <a:cubicBezTo>
                  <a:pt x="0" y="48062"/>
                  <a:pt x="48062" y="0"/>
                  <a:pt x="107260" y="0"/>
                </a:cubicBezTo>
                <a:close/>
              </a:path>
            </a:pathLst>
          </a:custGeom>
          <a:solidFill>
            <a:srgbClr val="F39C12">
              <a:alpha val="20000"/>
            </a:srgbClr>
          </a:solidFill>
          <a:ln w="12700">
            <a:solidFill>
              <a:srgbClr val="F39C12">
                <a:alpha val="40000"/>
              </a:srgbClr>
            </a:solidFill>
            <a:prstDash val="solid"/>
          </a:ln>
        </p:spPr>
      </p:sp>
      <p:sp>
        <p:nvSpPr>
          <p:cNvPr id="1497822018" name="Shape 11"/>
          <p:cNvSpPr/>
          <p:nvPr/>
        </p:nvSpPr>
        <p:spPr bwMode="auto">
          <a:xfrm>
            <a:off x="4481987" y="5282604"/>
            <a:ext cx="160891" cy="160891"/>
          </a:xfrm>
          <a:custGeom>
            <a:avLst/>
            <a:gdLst/>
            <a:ahLst/>
            <a:cxnLst/>
            <a:rect l="l" t="t" r="r" b="b"/>
            <a:pathLst>
              <a:path w="160891" h="160891" fill="norm" stroke="1" extrusionOk="0">
                <a:moveTo>
                  <a:pt x="80446" y="0"/>
                </a:moveTo>
                <a:cubicBezTo>
                  <a:pt x="85065" y="0"/>
                  <a:pt x="89307" y="2545"/>
                  <a:pt x="91507" y="6599"/>
                </a:cubicBezTo>
                <a:lnTo>
                  <a:pt x="159383" y="132296"/>
                </a:lnTo>
                <a:cubicBezTo>
                  <a:pt x="161489" y="136192"/>
                  <a:pt x="161394" y="140906"/>
                  <a:pt x="159132" y="144708"/>
                </a:cubicBezTo>
                <a:cubicBezTo>
                  <a:pt x="156869" y="148510"/>
                  <a:pt x="152753" y="150836"/>
                  <a:pt x="148322" y="150836"/>
                </a:cubicBezTo>
                <a:lnTo>
                  <a:pt x="12570" y="150836"/>
                </a:lnTo>
                <a:cubicBezTo>
                  <a:pt x="8139" y="150836"/>
                  <a:pt x="4054" y="148510"/>
                  <a:pt x="1760" y="144708"/>
                </a:cubicBezTo>
                <a:cubicBezTo>
                  <a:pt x="-534" y="140906"/>
                  <a:pt x="-597" y="136192"/>
                  <a:pt x="1508" y="132296"/>
                </a:cubicBezTo>
                <a:lnTo>
                  <a:pt x="69384" y="6599"/>
                </a:lnTo>
                <a:cubicBezTo>
                  <a:pt x="71584" y="2545"/>
                  <a:pt x="75826" y="0"/>
                  <a:pt x="80446" y="0"/>
                </a:cubicBezTo>
                <a:close/>
                <a:moveTo>
                  <a:pt x="80446" y="52793"/>
                </a:moveTo>
                <a:cubicBezTo>
                  <a:pt x="76266" y="52793"/>
                  <a:pt x="72904" y="56155"/>
                  <a:pt x="72904" y="60334"/>
                </a:cubicBezTo>
                <a:lnTo>
                  <a:pt x="72904" y="95529"/>
                </a:lnTo>
                <a:cubicBezTo>
                  <a:pt x="72904" y="99709"/>
                  <a:pt x="76266" y="103071"/>
                  <a:pt x="80446" y="103071"/>
                </a:cubicBezTo>
                <a:cubicBezTo>
                  <a:pt x="84625" y="103071"/>
                  <a:pt x="87988" y="99709"/>
                  <a:pt x="87988" y="95529"/>
                </a:cubicBezTo>
                <a:lnTo>
                  <a:pt x="87988" y="60334"/>
                </a:lnTo>
                <a:cubicBezTo>
                  <a:pt x="87988" y="56155"/>
                  <a:pt x="84625" y="52793"/>
                  <a:pt x="80446" y="52793"/>
                </a:cubicBezTo>
                <a:close/>
                <a:moveTo>
                  <a:pt x="88836" y="120669"/>
                </a:moveTo>
                <a:cubicBezTo>
                  <a:pt x="89027" y="117554"/>
                  <a:pt x="87474" y="114591"/>
                  <a:pt x="84804" y="112976"/>
                </a:cubicBezTo>
                <a:cubicBezTo>
                  <a:pt x="82134" y="111361"/>
                  <a:pt x="78789" y="111361"/>
                  <a:pt x="76119" y="112976"/>
                </a:cubicBezTo>
                <a:cubicBezTo>
                  <a:pt x="73449" y="114591"/>
                  <a:pt x="71896" y="117554"/>
                  <a:pt x="72087" y="120669"/>
                </a:cubicBezTo>
                <a:cubicBezTo>
                  <a:pt x="71896" y="123783"/>
                  <a:pt x="73449" y="126746"/>
                  <a:pt x="76119" y="128361"/>
                </a:cubicBezTo>
                <a:cubicBezTo>
                  <a:pt x="78789" y="129976"/>
                  <a:pt x="82134" y="129976"/>
                  <a:pt x="84804" y="128361"/>
                </a:cubicBezTo>
                <a:cubicBezTo>
                  <a:pt x="87474" y="126746"/>
                  <a:pt x="89027" y="123783"/>
                  <a:pt x="88836" y="120669"/>
                </a:cubicBezTo>
                <a:close/>
              </a:path>
            </a:pathLst>
          </a:custGeom>
          <a:solidFill>
            <a:srgbClr val="F39C12"/>
          </a:solidFill>
          <a:ln/>
        </p:spPr>
      </p:sp>
      <p:sp>
        <p:nvSpPr>
          <p:cNvPr id="527871901" name="Text 12"/>
          <p:cNvSpPr/>
          <p:nvPr/>
        </p:nvSpPr>
        <p:spPr bwMode="auto">
          <a:xfrm>
            <a:off x="4846227" y="5237912"/>
            <a:ext cx="1412270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50" b="1">
                <a:solidFill>
                  <a:srgbClr val="F39C12"/>
                </a:solidFill>
                <a:latin typeface="MiSans"/>
                <a:ea typeface="MiSans"/>
                <a:cs typeface="MiSans"/>
              </a:rPr>
              <a:t>Requieren Ajustes</a:t>
            </a:r>
            <a:endParaRPr lang="en-US" sz="1600"/>
          </a:p>
        </p:txBody>
      </p:sp>
      <p:sp>
        <p:nvSpPr>
          <p:cNvPr id="315472945" name="Text 13"/>
          <p:cNvSpPr/>
          <p:nvPr/>
        </p:nvSpPr>
        <p:spPr bwMode="auto">
          <a:xfrm>
            <a:off x="4381430" y="5649079"/>
            <a:ext cx="3494921" cy="697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150" b="1">
                <a:solidFill>
                  <a:srgbClr val="F39C12"/>
                </a:solidFill>
                <a:latin typeface="MiSans"/>
                <a:ea typeface="MiSans"/>
                <a:cs typeface="MiSans"/>
              </a:rPr>
              <a:t>R2L</a:t>
            </a:r>
            <a:r>
              <a:rPr lang="en-US" sz="1150">
                <a:solidFill>
                  <a:srgbClr val="E0E2E5">
                    <a:alpha val="80000"/>
                  </a:srgbClr>
                </a:solidFill>
                <a:latin typeface="MiSans"/>
                <a:ea typeface="MiSans"/>
                <a:cs typeface="MiSans"/>
              </a:rPr>
              <a:t> tiene excelente AUC pero baja precisión. Ajustando el threshold se puede mejorar significativamente el balance.</a:t>
            </a:r>
            <a:endParaRPr lang="en-US" sz="1600"/>
          </a:p>
        </p:txBody>
      </p:sp>
      <p:sp>
        <p:nvSpPr>
          <p:cNvPr id="843147623" name="Shape 14"/>
          <p:cNvSpPr/>
          <p:nvPr/>
        </p:nvSpPr>
        <p:spPr bwMode="auto">
          <a:xfrm>
            <a:off x="8105957" y="5036798"/>
            <a:ext cx="3718381" cy="1456962"/>
          </a:xfrm>
          <a:custGeom>
            <a:avLst/>
            <a:gdLst/>
            <a:ahLst/>
            <a:cxnLst/>
            <a:rect l="l" t="t" r="r" b="b"/>
            <a:pathLst>
              <a:path w="3718381" h="1456962" fill="norm" stroke="1" extrusionOk="0">
                <a:moveTo>
                  <a:pt x="143015" y="0"/>
                </a:moveTo>
                <a:lnTo>
                  <a:pt x="3575366" y="0"/>
                </a:lnTo>
                <a:cubicBezTo>
                  <a:pt x="3654351" y="0"/>
                  <a:pt x="3718381" y="64030"/>
                  <a:pt x="3718381" y="143015"/>
                </a:cubicBezTo>
                <a:lnTo>
                  <a:pt x="3718381" y="1313946"/>
                </a:lnTo>
                <a:cubicBezTo>
                  <a:pt x="3718381" y="1392932"/>
                  <a:pt x="3654351" y="1456962"/>
                  <a:pt x="3575366" y="1456962"/>
                </a:cubicBezTo>
                <a:lnTo>
                  <a:pt x="143015" y="1456962"/>
                </a:lnTo>
                <a:cubicBezTo>
                  <a:pt x="64030" y="1456962"/>
                  <a:pt x="0" y="1392932"/>
                  <a:pt x="0" y="1313946"/>
                </a:cubicBezTo>
                <a:lnTo>
                  <a:pt x="0" y="143015"/>
                </a:lnTo>
                <a:cubicBezTo>
                  <a:pt x="0" y="64083"/>
                  <a:pt x="64083" y="0"/>
                  <a:pt x="143015" y="0"/>
                </a:cubicBezTo>
                <a:close/>
              </a:path>
            </a:pathLst>
          </a:custGeom>
          <a:solidFill>
            <a:srgbClr val="E74C3C">
              <a:alpha val="10196"/>
            </a:srgbClr>
          </a:solidFill>
          <a:ln w="12700">
            <a:solidFill>
              <a:srgbClr val="E74C3C">
                <a:alpha val="40000"/>
              </a:srgbClr>
            </a:solidFill>
            <a:prstDash val="solid"/>
          </a:ln>
        </p:spPr>
      </p:sp>
      <p:sp>
        <p:nvSpPr>
          <p:cNvPr id="1301386651" name="Shape 15"/>
          <p:cNvSpPr/>
          <p:nvPr/>
        </p:nvSpPr>
        <p:spPr bwMode="auto">
          <a:xfrm>
            <a:off x="8257910" y="5188751"/>
            <a:ext cx="348598" cy="348598"/>
          </a:xfrm>
          <a:custGeom>
            <a:avLst/>
            <a:gdLst/>
            <a:ahLst/>
            <a:cxnLst/>
            <a:rect l="l" t="t" r="r" b="b"/>
            <a:pathLst>
              <a:path w="348598" h="348598" fill="norm" stroke="1" extrusionOk="0">
                <a:moveTo>
                  <a:pt x="107260" y="0"/>
                </a:moveTo>
                <a:lnTo>
                  <a:pt x="241338" y="0"/>
                </a:lnTo>
                <a:cubicBezTo>
                  <a:pt x="300537" y="0"/>
                  <a:pt x="348598" y="48062"/>
                  <a:pt x="348598" y="107260"/>
                </a:cubicBezTo>
                <a:lnTo>
                  <a:pt x="348598" y="241338"/>
                </a:lnTo>
                <a:cubicBezTo>
                  <a:pt x="348598" y="300537"/>
                  <a:pt x="300537" y="348598"/>
                  <a:pt x="241338" y="348598"/>
                </a:cubicBezTo>
                <a:lnTo>
                  <a:pt x="107260" y="348598"/>
                </a:lnTo>
                <a:cubicBezTo>
                  <a:pt x="48062" y="348598"/>
                  <a:pt x="0" y="300537"/>
                  <a:pt x="0" y="241338"/>
                </a:cubicBezTo>
                <a:lnTo>
                  <a:pt x="0" y="107260"/>
                </a:lnTo>
                <a:cubicBezTo>
                  <a:pt x="0" y="48062"/>
                  <a:pt x="48062" y="0"/>
                  <a:pt x="107260" y="0"/>
                </a:cubicBezTo>
                <a:close/>
              </a:path>
            </a:pathLst>
          </a:custGeom>
          <a:solidFill>
            <a:srgbClr val="E74C3C">
              <a:alpha val="20000"/>
            </a:srgbClr>
          </a:solidFill>
          <a:ln w="12700">
            <a:solidFill>
              <a:srgbClr val="E74C3C">
                <a:alpha val="40000"/>
              </a:srgbClr>
            </a:solidFill>
            <a:prstDash val="solid"/>
          </a:ln>
        </p:spPr>
      </p:sp>
      <p:sp>
        <p:nvSpPr>
          <p:cNvPr id="1871489105" name="Shape 16"/>
          <p:cNvSpPr/>
          <p:nvPr/>
        </p:nvSpPr>
        <p:spPr bwMode="auto">
          <a:xfrm>
            <a:off x="8353998" y="5282604"/>
            <a:ext cx="160891" cy="160891"/>
          </a:xfrm>
          <a:custGeom>
            <a:avLst/>
            <a:gdLst/>
            <a:ahLst/>
            <a:cxnLst/>
            <a:rect l="l" t="t" r="r" b="b"/>
            <a:pathLst>
              <a:path w="160891" h="160891" fill="norm" stroke="1" extrusionOk="0">
                <a:moveTo>
                  <a:pt x="80446" y="160891"/>
                </a:moveTo>
                <a:cubicBezTo>
                  <a:pt x="124845" y="160891"/>
                  <a:pt x="160891" y="124845"/>
                  <a:pt x="160891" y="80446"/>
                </a:cubicBezTo>
                <a:cubicBezTo>
                  <a:pt x="160891" y="36047"/>
                  <a:pt x="124845" y="0"/>
                  <a:pt x="80446" y="0"/>
                </a:cubicBezTo>
                <a:cubicBezTo>
                  <a:pt x="36047" y="0"/>
                  <a:pt x="0" y="36047"/>
                  <a:pt x="0" y="80446"/>
                </a:cubicBezTo>
                <a:cubicBezTo>
                  <a:pt x="0" y="124845"/>
                  <a:pt x="36047" y="160891"/>
                  <a:pt x="80446" y="160891"/>
                </a:cubicBezTo>
                <a:close/>
                <a:moveTo>
                  <a:pt x="52478" y="52478"/>
                </a:moveTo>
                <a:cubicBezTo>
                  <a:pt x="55432" y="49524"/>
                  <a:pt x="60209" y="49524"/>
                  <a:pt x="63131" y="52478"/>
                </a:cubicBezTo>
                <a:lnTo>
                  <a:pt x="80414" y="69762"/>
                </a:lnTo>
                <a:lnTo>
                  <a:pt x="97698" y="52478"/>
                </a:lnTo>
                <a:cubicBezTo>
                  <a:pt x="100651" y="49524"/>
                  <a:pt x="105428" y="49524"/>
                  <a:pt x="108350" y="52478"/>
                </a:cubicBezTo>
                <a:cubicBezTo>
                  <a:pt x="111273" y="55432"/>
                  <a:pt x="111304" y="60209"/>
                  <a:pt x="108350" y="63131"/>
                </a:cubicBezTo>
                <a:lnTo>
                  <a:pt x="91067" y="80414"/>
                </a:lnTo>
                <a:lnTo>
                  <a:pt x="108350" y="97698"/>
                </a:lnTo>
                <a:cubicBezTo>
                  <a:pt x="111304" y="100651"/>
                  <a:pt x="111304" y="105428"/>
                  <a:pt x="108350" y="108350"/>
                </a:cubicBezTo>
                <a:cubicBezTo>
                  <a:pt x="105396" y="111273"/>
                  <a:pt x="100620" y="111304"/>
                  <a:pt x="97698" y="108350"/>
                </a:cubicBezTo>
                <a:lnTo>
                  <a:pt x="80414" y="91067"/>
                </a:lnTo>
                <a:lnTo>
                  <a:pt x="63131" y="108350"/>
                </a:lnTo>
                <a:cubicBezTo>
                  <a:pt x="60177" y="111304"/>
                  <a:pt x="55401" y="111304"/>
                  <a:pt x="52478" y="108350"/>
                </a:cubicBezTo>
                <a:cubicBezTo>
                  <a:pt x="49556" y="105396"/>
                  <a:pt x="49524" y="100620"/>
                  <a:pt x="52478" y="97698"/>
                </a:cubicBezTo>
                <a:lnTo>
                  <a:pt x="69762" y="80414"/>
                </a:lnTo>
                <a:lnTo>
                  <a:pt x="52478" y="63131"/>
                </a:lnTo>
                <a:cubicBezTo>
                  <a:pt x="49524" y="60177"/>
                  <a:pt x="49524" y="55401"/>
                  <a:pt x="52478" y="52478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486642032" name="Text 17"/>
          <p:cNvSpPr/>
          <p:nvPr/>
        </p:nvSpPr>
        <p:spPr bwMode="auto">
          <a:xfrm>
            <a:off x="8718238" y="5237912"/>
            <a:ext cx="1439085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50" b="1">
                <a:solidFill>
                  <a:srgbClr val="E74C3C"/>
                </a:solidFill>
                <a:latin typeface="MiSans"/>
                <a:ea typeface="MiSans"/>
                <a:cs typeface="MiSans"/>
              </a:rPr>
              <a:t>Necesitan Mejoras</a:t>
            </a:r>
            <a:endParaRPr lang="en-US" sz="1600"/>
          </a:p>
        </p:txBody>
      </p:sp>
      <p:sp>
        <p:nvSpPr>
          <p:cNvPr id="1512937725" name="Text 18"/>
          <p:cNvSpPr/>
          <p:nvPr/>
        </p:nvSpPr>
        <p:spPr bwMode="auto">
          <a:xfrm>
            <a:off x="8253440" y="5649079"/>
            <a:ext cx="3494921" cy="697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150" b="1">
                <a:solidFill>
                  <a:srgbClr val="E74C3C"/>
                </a:solidFill>
                <a:latin typeface="MiSans"/>
                <a:ea typeface="MiSans"/>
                <a:cs typeface="MiSans"/>
              </a:rPr>
              <a:t>U2R</a:t>
            </a:r>
            <a:r>
              <a:rPr lang="en-US" sz="1150">
                <a:solidFill>
                  <a:srgbClr val="E0E2E5">
                    <a:alpha val="80000"/>
                  </a:srgbClr>
                </a:solidFill>
                <a:latin typeface="MiSans"/>
                <a:ea typeface="MiSans"/>
                <a:cs typeface="MiSans"/>
              </a:rPr>
              <a:t> sufre de desbalance extremo (0.04%). Se requieren técnicas de balanceo o más datos para mejorar detección.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1A1D2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2388612" name="Shape 0"/>
          <p:cNvSpPr/>
          <p:nvPr/>
        </p:nvSpPr>
        <p:spPr bwMode="auto">
          <a:xfrm>
            <a:off x="381000" y="419100"/>
            <a:ext cx="57150" cy="381000"/>
          </a:xfrm>
          <a:custGeom>
            <a:avLst/>
            <a:gdLst/>
            <a:ahLst/>
            <a:cxnLst/>
            <a:rect l="l" t="t" r="r" b="b"/>
            <a:pathLst>
              <a:path w="57150" h="381000" fill="norm" stroke="1" extrusionOk="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352425"/>
                </a:lnTo>
                <a:cubicBezTo>
                  <a:pt x="57150" y="368196"/>
                  <a:pt x="44346" y="381000"/>
                  <a:pt x="28575" y="381000"/>
                </a:cubicBezTo>
                <a:lnTo>
                  <a:pt x="28575" y="381000"/>
                </a:lnTo>
                <a:cubicBezTo>
                  <a:pt x="12804" y="381000"/>
                  <a:pt x="0" y="368196"/>
                  <a:pt x="0" y="35242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795096953" name="Text 1"/>
          <p:cNvSpPr/>
          <p:nvPr/>
        </p:nvSpPr>
        <p:spPr bwMode="auto">
          <a:xfrm flipH="0" flipV="0">
            <a:off x="552449" y="380999"/>
            <a:ext cx="12476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  <a:defRPr/>
            </a:pPr>
            <a:r>
              <a:rPr lang="en-US" sz="3600" b="1">
                <a:solidFill>
                  <a:srgbClr val="E0E2E5"/>
                </a:solidFill>
                <a:latin typeface="MiSans"/>
                <a:ea typeface="MiSans"/>
                <a:cs typeface="MiSans"/>
              </a:rPr>
              <a:t>Flujo Completo: De Hipótesis a Predicción</a:t>
            </a:r>
            <a:endParaRPr lang="en-US" sz="1600"/>
          </a:p>
        </p:txBody>
      </p:sp>
      <p:sp>
        <p:nvSpPr>
          <p:cNvPr id="1736619662" name="Text 2"/>
          <p:cNvSpPr/>
          <p:nvPr/>
        </p:nvSpPr>
        <p:spPr bwMode="auto">
          <a:xfrm>
            <a:off x="609599" y="1068028"/>
            <a:ext cx="11296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500">
                <a:solidFill>
                  <a:srgbClr val="5F85A5"/>
                </a:solidFill>
                <a:latin typeface="MiSans"/>
                <a:ea typeface="MiSans"/>
                <a:cs typeface="MiSans"/>
              </a:rPr>
              <a:t>Coherencia Metodológica del Estudio</a:t>
            </a:r>
            <a:endParaRPr lang="en-US" sz="1600"/>
          </a:p>
        </p:txBody>
      </p:sp>
      <p:sp>
        <p:nvSpPr>
          <p:cNvPr id="704485423" name="Shape 3"/>
          <p:cNvSpPr/>
          <p:nvPr/>
        </p:nvSpPr>
        <p:spPr bwMode="auto">
          <a:xfrm flipH="0" flipV="0">
            <a:off x="677540" y="1533524"/>
            <a:ext cx="3465834" cy="4724399"/>
          </a:xfrm>
          <a:custGeom>
            <a:avLst/>
            <a:gdLst/>
            <a:ahLst/>
            <a:cxnLst/>
            <a:rect l="l" t="t" r="r" b="b"/>
            <a:pathLst>
              <a:path w="3409950" h="4495800" fill="norm" stroke="1" extrusionOk="0">
                <a:moveTo>
                  <a:pt x="152391" y="0"/>
                </a:moveTo>
                <a:lnTo>
                  <a:pt x="3257559" y="0"/>
                </a:lnTo>
                <a:cubicBezTo>
                  <a:pt x="3341722" y="0"/>
                  <a:pt x="3409950" y="68228"/>
                  <a:pt x="3409950" y="152391"/>
                </a:cubicBezTo>
                <a:lnTo>
                  <a:pt x="3409950" y="4343409"/>
                </a:lnTo>
                <a:cubicBezTo>
                  <a:pt x="3409950" y="4427572"/>
                  <a:pt x="3341722" y="4495800"/>
                  <a:pt x="3257559" y="4495800"/>
                </a:cubicBezTo>
                <a:lnTo>
                  <a:pt x="152391" y="4495800"/>
                </a:lnTo>
                <a:cubicBezTo>
                  <a:pt x="68228" y="4495800"/>
                  <a:pt x="0" y="4427572"/>
                  <a:pt x="0" y="4343409"/>
                </a:cubicBezTo>
                <a:lnTo>
                  <a:pt x="0" y="152391"/>
                </a:lnTo>
                <a:cubicBezTo>
                  <a:pt x="0" y="68228"/>
                  <a:pt x="68228" y="0"/>
                  <a:pt x="152391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2077228019" name="Shape 4"/>
          <p:cNvSpPr/>
          <p:nvPr/>
        </p:nvSpPr>
        <p:spPr bwMode="auto">
          <a:xfrm>
            <a:off x="933450" y="18478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 fill="norm" stroke="1" extrusionOk="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92992076" name="Text 5"/>
          <p:cNvSpPr/>
          <p:nvPr/>
        </p:nvSpPr>
        <p:spPr bwMode="auto">
          <a:xfrm>
            <a:off x="876299" y="184785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1800" b="1">
                <a:solidFill>
                  <a:srgbClr val="1A1D21"/>
                </a:solidFill>
                <a:latin typeface="MiSans"/>
                <a:ea typeface="MiSans"/>
                <a:cs typeface="MiSans"/>
              </a:rPr>
              <a:t>P1</a:t>
            </a:r>
            <a:endParaRPr lang="en-US" sz="1600"/>
          </a:p>
        </p:txBody>
      </p:sp>
      <p:sp>
        <p:nvSpPr>
          <p:cNvPr id="1958697819" name="Text 6"/>
          <p:cNvSpPr/>
          <p:nvPr/>
        </p:nvSpPr>
        <p:spPr bwMode="auto">
          <a:xfrm>
            <a:off x="1581150" y="1866900"/>
            <a:ext cx="133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500" b="1">
                <a:solidFill>
                  <a:srgbClr val="4ECDC4"/>
                </a:solidFill>
                <a:latin typeface="MiSans"/>
                <a:ea typeface="MiSans"/>
                <a:cs typeface="MiSans"/>
              </a:rPr>
              <a:t>Kruskal-Wallis</a:t>
            </a:r>
            <a:endParaRPr lang="en-US" sz="1600"/>
          </a:p>
        </p:txBody>
      </p:sp>
      <p:sp>
        <p:nvSpPr>
          <p:cNvPr id="986135216" name="Text 7"/>
          <p:cNvSpPr/>
          <p:nvPr/>
        </p:nvSpPr>
        <p:spPr bwMode="auto">
          <a:xfrm>
            <a:off x="1581150" y="2133600"/>
            <a:ext cx="1314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>
                <a:solidFill>
                  <a:srgbClr val="E0E2E5">
                    <a:alpha val="70000"/>
                  </a:srgbClr>
                </a:solidFill>
                <a:latin typeface="MiSans"/>
                <a:ea typeface="MiSans"/>
                <a:cs typeface="MiSans"/>
              </a:rPr>
              <a:t>Identificación</a:t>
            </a:r>
            <a:endParaRPr lang="en-US" sz="1600"/>
          </a:p>
        </p:txBody>
      </p:sp>
      <p:sp>
        <p:nvSpPr>
          <p:cNvPr id="41147128" name="Shape 8"/>
          <p:cNvSpPr/>
          <p:nvPr/>
        </p:nvSpPr>
        <p:spPr bwMode="auto">
          <a:xfrm>
            <a:off x="938213" y="2538413"/>
            <a:ext cx="3000375" cy="1000125"/>
          </a:xfrm>
          <a:custGeom>
            <a:avLst/>
            <a:gdLst/>
            <a:ahLst/>
            <a:cxnLst/>
            <a:rect l="l" t="t" r="r" b="b"/>
            <a:pathLst>
              <a:path w="3000375" h="1000125" fill="norm" stroke="1" extrusionOk="0">
                <a:moveTo>
                  <a:pt x="114304" y="0"/>
                </a:moveTo>
                <a:lnTo>
                  <a:pt x="2886071" y="0"/>
                </a:lnTo>
                <a:cubicBezTo>
                  <a:pt x="2949199" y="0"/>
                  <a:pt x="3000375" y="51176"/>
                  <a:pt x="3000375" y="114304"/>
                </a:cubicBezTo>
                <a:lnTo>
                  <a:pt x="3000375" y="885821"/>
                </a:lnTo>
                <a:cubicBezTo>
                  <a:pt x="3000375" y="948949"/>
                  <a:pt x="2949199" y="1000125"/>
                  <a:pt x="2886071" y="1000125"/>
                </a:cubicBezTo>
                <a:lnTo>
                  <a:pt x="114304" y="1000125"/>
                </a:lnTo>
                <a:cubicBezTo>
                  <a:pt x="51176" y="1000125"/>
                  <a:pt x="0" y="948949"/>
                  <a:pt x="0" y="885821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4ECDC4">
                <a:alpha val="30193"/>
              </a:srgbClr>
            </a:solidFill>
            <a:prstDash val="solid"/>
          </a:ln>
        </p:spPr>
      </p:sp>
      <p:sp>
        <p:nvSpPr>
          <p:cNvPr id="992871919" name="Shape 9"/>
          <p:cNvSpPr/>
          <p:nvPr/>
        </p:nvSpPr>
        <p:spPr bwMode="auto">
          <a:xfrm>
            <a:off x="1076325" y="26955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 fill="norm" stroke="1" extrusionOk="0">
                <a:moveTo>
                  <a:pt x="123825" y="61912"/>
                </a:moveTo>
                <a:cubicBezTo>
                  <a:pt x="123825" y="75575"/>
                  <a:pt x="119390" y="88196"/>
                  <a:pt x="111919" y="98435"/>
                </a:cubicBezTo>
                <a:lnTo>
                  <a:pt x="149602" y="136148"/>
                </a:lnTo>
                <a:cubicBezTo>
                  <a:pt x="153323" y="139869"/>
                  <a:pt x="153323" y="145911"/>
                  <a:pt x="149602" y="149632"/>
                </a:cubicBezTo>
                <a:cubicBezTo>
                  <a:pt x="145881" y="153353"/>
                  <a:pt x="139839" y="153353"/>
                  <a:pt x="136118" y="149632"/>
                </a:cubicBezTo>
                <a:lnTo>
                  <a:pt x="98435" y="111919"/>
                </a:lnTo>
                <a:cubicBezTo>
                  <a:pt x="88196" y="119390"/>
                  <a:pt x="75575" y="123825"/>
                  <a:pt x="61912" y="123825"/>
                </a:cubicBezTo>
                <a:cubicBezTo>
                  <a:pt x="27712" y="123825"/>
                  <a:pt x="0" y="96113"/>
                  <a:pt x="0" y="61912"/>
                </a:cubicBezTo>
                <a:cubicBezTo>
                  <a:pt x="0" y="27712"/>
                  <a:pt x="27712" y="0"/>
                  <a:pt x="61912" y="0"/>
                </a:cubicBezTo>
                <a:cubicBezTo>
                  <a:pt x="96113" y="0"/>
                  <a:pt x="123825" y="27712"/>
                  <a:pt x="123825" y="61912"/>
                </a:cubicBezTo>
                <a:close/>
                <a:moveTo>
                  <a:pt x="61912" y="104775"/>
                </a:moveTo>
                <a:cubicBezTo>
                  <a:pt x="85569" y="104775"/>
                  <a:pt x="104775" y="85569"/>
                  <a:pt x="104775" y="61912"/>
                </a:cubicBezTo>
                <a:cubicBezTo>
                  <a:pt x="104775" y="38256"/>
                  <a:pt x="85569" y="19050"/>
                  <a:pt x="61912" y="19050"/>
                </a:cubicBezTo>
                <a:cubicBezTo>
                  <a:pt x="38256" y="19050"/>
                  <a:pt x="19050" y="38256"/>
                  <a:pt x="19050" y="61912"/>
                </a:cubicBezTo>
                <a:cubicBezTo>
                  <a:pt x="19050" y="85569"/>
                  <a:pt x="38256" y="104775"/>
                  <a:pt x="61912" y="104775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877753138" name="Text 10"/>
          <p:cNvSpPr/>
          <p:nvPr/>
        </p:nvSpPr>
        <p:spPr bwMode="auto">
          <a:xfrm>
            <a:off x="1323974" y="2657475"/>
            <a:ext cx="666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 b="1">
                <a:solidFill>
                  <a:srgbClr val="E0E2E5"/>
                </a:solidFill>
                <a:latin typeface="MiSans"/>
                <a:ea typeface="MiSans"/>
                <a:cs typeface="MiSans"/>
              </a:rPr>
              <a:t>Objetivo</a:t>
            </a:r>
            <a:endParaRPr lang="en-US" sz="1600"/>
          </a:p>
        </p:txBody>
      </p:sp>
      <p:sp>
        <p:nvSpPr>
          <p:cNvPr id="1649152787" name="Text 11"/>
          <p:cNvSpPr/>
          <p:nvPr/>
        </p:nvSpPr>
        <p:spPr bwMode="auto">
          <a:xfrm>
            <a:off x="1057275" y="2962275"/>
            <a:ext cx="2838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>
                <a:solidFill>
                  <a:srgbClr val="E0E2E5">
                    <a:alpha val="80000"/>
                  </a:srgbClr>
                </a:solidFill>
                <a:latin typeface="MiSans"/>
                <a:ea typeface="MiSans"/>
                <a:cs typeface="MiSans"/>
              </a:rPr>
              <a:t>Identificar variables discriminantes entre categorías</a:t>
            </a:r>
            <a:endParaRPr lang="en-US" sz="1600"/>
          </a:p>
        </p:txBody>
      </p:sp>
      <p:sp>
        <p:nvSpPr>
          <p:cNvPr id="670200627" name="Shape 12"/>
          <p:cNvSpPr/>
          <p:nvPr/>
        </p:nvSpPr>
        <p:spPr bwMode="auto">
          <a:xfrm>
            <a:off x="938213" y="3662362"/>
            <a:ext cx="3000375" cy="771525"/>
          </a:xfrm>
          <a:custGeom>
            <a:avLst/>
            <a:gdLst/>
            <a:ahLst/>
            <a:cxnLst/>
            <a:rect l="l" t="t" r="r" b="b"/>
            <a:pathLst>
              <a:path w="3000375" h="771525" fill="norm" stroke="1" extrusionOk="0">
                <a:moveTo>
                  <a:pt x="114301" y="0"/>
                </a:moveTo>
                <a:lnTo>
                  <a:pt x="2886074" y="0"/>
                </a:lnTo>
                <a:cubicBezTo>
                  <a:pt x="2949201" y="0"/>
                  <a:pt x="3000375" y="51174"/>
                  <a:pt x="3000375" y="114301"/>
                </a:cubicBezTo>
                <a:lnTo>
                  <a:pt x="3000375" y="657224"/>
                </a:lnTo>
                <a:cubicBezTo>
                  <a:pt x="3000375" y="720351"/>
                  <a:pt x="2949201" y="771525"/>
                  <a:pt x="2886074" y="771525"/>
                </a:cubicBezTo>
                <a:lnTo>
                  <a:pt x="114301" y="771525"/>
                </a:lnTo>
                <a:cubicBezTo>
                  <a:pt x="51174" y="771525"/>
                  <a:pt x="0" y="720351"/>
                  <a:pt x="0" y="6572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4ECDC4">
                <a:alpha val="30193"/>
              </a:srgbClr>
            </a:solidFill>
            <a:prstDash val="solid"/>
          </a:ln>
        </p:spPr>
      </p:sp>
      <p:sp>
        <p:nvSpPr>
          <p:cNvPr id="20169124" name="Shape 13"/>
          <p:cNvSpPr/>
          <p:nvPr/>
        </p:nvSpPr>
        <p:spPr bwMode="auto">
          <a:xfrm>
            <a:off x="1076325" y="38195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 fill="norm" stroke="1" extrusionOk="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328643267" name="Text 14"/>
          <p:cNvSpPr/>
          <p:nvPr/>
        </p:nvSpPr>
        <p:spPr bwMode="auto">
          <a:xfrm>
            <a:off x="1323974" y="3781425"/>
            <a:ext cx="771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 b="1">
                <a:solidFill>
                  <a:srgbClr val="E0E2E5"/>
                </a:solidFill>
                <a:latin typeface="MiSans"/>
                <a:ea typeface="MiSans"/>
                <a:cs typeface="MiSans"/>
              </a:rPr>
              <a:t>Resultado</a:t>
            </a:r>
            <a:endParaRPr lang="en-US" sz="1600"/>
          </a:p>
        </p:txBody>
      </p:sp>
      <p:sp>
        <p:nvSpPr>
          <p:cNvPr id="929292508" name="Text 15"/>
          <p:cNvSpPr/>
          <p:nvPr/>
        </p:nvSpPr>
        <p:spPr bwMode="auto">
          <a:xfrm>
            <a:off x="1057275" y="4086225"/>
            <a:ext cx="2838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 b="1">
                <a:solidFill>
                  <a:srgbClr val="4ECDC4"/>
                </a:solidFill>
                <a:latin typeface="MiSans"/>
                <a:ea typeface="MiSans"/>
                <a:cs typeface="MiSans"/>
              </a:rPr>
              <a:t>ε² &gt; 0.5</a:t>
            </a:r>
            <a:r>
              <a:rPr lang="en-US" sz="1200">
                <a:solidFill>
                  <a:srgbClr val="E0E2E5">
                    <a:alpha val="80000"/>
                  </a:srgbClr>
                </a:solidFill>
                <a:latin typeface="MiSans"/>
                <a:ea typeface="MiSans"/>
                <a:cs typeface="MiSans"/>
              </a:rPr>
              <a:t> en todas las variables clave</a:t>
            </a:r>
            <a:endParaRPr lang="en-US" sz="1600"/>
          </a:p>
        </p:txBody>
      </p:sp>
      <p:sp>
        <p:nvSpPr>
          <p:cNvPr id="2021016690" name="Shape 16"/>
          <p:cNvSpPr/>
          <p:nvPr/>
        </p:nvSpPr>
        <p:spPr bwMode="auto">
          <a:xfrm>
            <a:off x="938213" y="4557713"/>
            <a:ext cx="3000375" cy="771525"/>
          </a:xfrm>
          <a:custGeom>
            <a:avLst/>
            <a:gdLst/>
            <a:ahLst/>
            <a:cxnLst/>
            <a:rect l="l" t="t" r="r" b="b"/>
            <a:pathLst>
              <a:path w="3000375" h="771525" fill="norm" stroke="1" extrusionOk="0">
                <a:moveTo>
                  <a:pt x="114301" y="0"/>
                </a:moveTo>
                <a:lnTo>
                  <a:pt x="2886074" y="0"/>
                </a:lnTo>
                <a:cubicBezTo>
                  <a:pt x="2949201" y="0"/>
                  <a:pt x="3000375" y="51174"/>
                  <a:pt x="3000375" y="114301"/>
                </a:cubicBezTo>
                <a:lnTo>
                  <a:pt x="3000375" y="657224"/>
                </a:lnTo>
                <a:cubicBezTo>
                  <a:pt x="3000375" y="720351"/>
                  <a:pt x="2949201" y="771525"/>
                  <a:pt x="2886074" y="771525"/>
                </a:cubicBezTo>
                <a:lnTo>
                  <a:pt x="114301" y="771525"/>
                </a:lnTo>
                <a:cubicBezTo>
                  <a:pt x="51174" y="771525"/>
                  <a:pt x="0" y="720351"/>
                  <a:pt x="0" y="6572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4ECDC4">
                <a:alpha val="30193"/>
              </a:srgbClr>
            </a:solidFill>
            <a:prstDash val="solid"/>
          </a:ln>
        </p:spPr>
      </p:sp>
      <p:sp>
        <p:nvSpPr>
          <p:cNvPr id="278606137" name="Shape 17"/>
          <p:cNvSpPr/>
          <p:nvPr/>
        </p:nvSpPr>
        <p:spPr bwMode="auto">
          <a:xfrm>
            <a:off x="1076325" y="47148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 fill="norm" stroke="1" extrusionOk="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268498202" name="Text 18"/>
          <p:cNvSpPr/>
          <p:nvPr/>
        </p:nvSpPr>
        <p:spPr bwMode="auto">
          <a:xfrm>
            <a:off x="1323974" y="4676775"/>
            <a:ext cx="495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 b="1">
                <a:solidFill>
                  <a:srgbClr val="E0E2E5"/>
                </a:solidFill>
                <a:latin typeface="MiSans"/>
                <a:ea typeface="MiSans"/>
                <a:cs typeface="MiSans"/>
              </a:rPr>
              <a:t>Salida</a:t>
            </a:r>
            <a:endParaRPr lang="en-US" sz="1600"/>
          </a:p>
        </p:txBody>
      </p:sp>
      <p:sp>
        <p:nvSpPr>
          <p:cNvPr id="175486455" name="Text 19"/>
          <p:cNvSpPr/>
          <p:nvPr/>
        </p:nvSpPr>
        <p:spPr bwMode="auto">
          <a:xfrm>
            <a:off x="1057275" y="4981575"/>
            <a:ext cx="2838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>
                <a:solidFill>
                  <a:srgbClr val="E0E2E5">
                    <a:alpha val="80000"/>
                  </a:srgbClr>
                </a:solidFill>
                <a:latin typeface="MiSans"/>
                <a:ea typeface="MiSans"/>
                <a:cs typeface="MiSans"/>
              </a:rPr>
              <a:t>5 variables con alta separabilidad</a:t>
            </a:r>
            <a:endParaRPr lang="en-US" sz="1600"/>
          </a:p>
        </p:txBody>
      </p:sp>
      <p:sp>
        <p:nvSpPr>
          <p:cNvPr id="1198622220" name="Shape 20"/>
          <p:cNvSpPr/>
          <p:nvPr/>
        </p:nvSpPr>
        <p:spPr bwMode="auto">
          <a:xfrm>
            <a:off x="2095499" y="5610224"/>
            <a:ext cx="438149" cy="438149"/>
          </a:xfrm>
          <a:custGeom>
            <a:avLst/>
            <a:gdLst/>
            <a:ahLst/>
            <a:cxnLst/>
            <a:rect l="l" t="t" r="r" b="b"/>
            <a:pathLst>
              <a:path w="438150" h="438150" fill="norm" stroke="1" extrusionOk="0">
                <a:moveTo>
                  <a:pt x="219075" y="0"/>
                </a:moveTo>
                <a:lnTo>
                  <a:pt x="219075" y="0"/>
                </a:lnTo>
                <a:cubicBezTo>
                  <a:pt x="339986" y="0"/>
                  <a:pt x="438150" y="98164"/>
                  <a:pt x="438150" y="219075"/>
                </a:cubicBezTo>
                <a:lnTo>
                  <a:pt x="438150" y="219075"/>
                </a:lnTo>
                <a:cubicBezTo>
                  <a:pt x="438150" y="339986"/>
                  <a:pt x="339986" y="438150"/>
                  <a:pt x="219075" y="438150"/>
                </a:cubicBezTo>
                <a:lnTo>
                  <a:pt x="219075" y="438150"/>
                </a:lnTo>
                <a:cubicBezTo>
                  <a:pt x="98164" y="438150"/>
                  <a:pt x="0" y="339986"/>
                  <a:pt x="0" y="219075"/>
                </a:cubicBezTo>
                <a:lnTo>
                  <a:pt x="0" y="219075"/>
                </a:lnTo>
                <a:cubicBezTo>
                  <a:pt x="0" y="98164"/>
                  <a:pt x="98164" y="0"/>
                  <a:pt x="219075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034924411" name="Shape 21"/>
          <p:cNvSpPr/>
          <p:nvPr/>
        </p:nvSpPr>
        <p:spPr bwMode="auto">
          <a:xfrm>
            <a:off x="2219957" y="573404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 fill="norm" stroke="1" extrusionOk="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4ECDC4"/>
          </a:solidFill>
          <a:ln/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964912630" name="Shape 22"/>
          <p:cNvSpPr/>
          <p:nvPr/>
        </p:nvSpPr>
        <p:spPr bwMode="auto">
          <a:xfrm>
            <a:off x="4391025" y="1533525"/>
            <a:ext cx="3409950" cy="4724399"/>
          </a:xfrm>
          <a:custGeom>
            <a:avLst/>
            <a:gdLst/>
            <a:ahLst/>
            <a:cxnLst/>
            <a:rect l="l" t="t" r="r" b="b"/>
            <a:pathLst>
              <a:path w="3409950" h="4724400" fill="norm" stroke="1" extrusionOk="0">
                <a:moveTo>
                  <a:pt x="152391" y="0"/>
                </a:moveTo>
                <a:lnTo>
                  <a:pt x="3257559" y="0"/>
                </a:lnTo>
                <a:cubicBezTo>
                  <a:pt x="3341722" y="0"/>
                  <a:pt x="3409950" y="68228"/>
                  <a:pt x="3409950" y="152391"/>
                </a:cubicBezTo>
                <a:lnTo>
                  <a:pt x="3409950" y="4572009"/>
                </a:lnTo>
                <a:cubicBezTo>
                  <a:pt x="3409950" y="4656172"/>
                  <a:pt x="3341722" y="4724400"/>
                  <a:pt x="3257559" y="4724400"/>
                </a:cubicBezTo>
                <a:lnTo>
                  <a:pt x="152391" y="4724400"/>
                </a:lnTo>
                <a:cubicBezTo>
                  <a:pt x="68228" y="4724400"/>
                  <a:pt x="0" y="4656172"/>
                  <a:pt x="0" y="4572009"/>
                </a:cubicBezTo>
                <a:lnTo>
                  <a:pt x="0" y="152391"/>
                </a:lnTo>
                <a:cubicBezTo>
                  <a:pt x="0" y="68228"/>
                  <a:pt x="68228" y="0"/>
                  <a:pt x="152391" y="0"/>
                </a:cubicBezTo>
                <a:close/>
              </a:path>
            </a:pathLst>
          </a:custGeom>
          <a:solidFill>
            <a:srgbClr val="5F85A5">
              <a:alpha val="10196"/>
            </a:srgbClr>
          </a:solidFill>
          <a:ln w="25400">
            <a:solidFill>
              <a:srgbClr val="5F85A5"/>
            </a:solidFill>
            <a:prstDash val="solid"/>
          </a:ln>
        </p:spPr>
      </p:sp>
      <p:sp>
        <p:nvSpPr>
          <p:cNvPr id="1423950071" name="Shape 23"/>
          <p:cNvSpPr/>
          <p:nvPr/>
        </p:nvSpPr>
        <p:spPr bwMode="auto">
          <a:xfrm>
            <a:off x="4591050" y="17335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 fill="norm" stroke="1" extrusionOk="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5F85A5"/>
          </a:solidFill>
          <a:ln/>
        </p:spPr>
      </p:sp>
      <p:sp>
        <p:nvSpPr>
          <p:cNvPr id="198893907" name="Text 24"/>
          <p:cNvSpPr/>
          <p:nvPr/>
        </p:nvSpPr>
        <p:spPr bwMode="auto">
          <a:xfrm>
            <a:off x="4533900" y="173355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1800" b="1">
                <a:solidFill>
                  <a:srgbClr val="1A1D21"/>
                </a:solidFill>
                <a:latin typeface="MiSans"/>
                <a:ea typeface="MiSans"/>
                <a:cs typeface="MiSans"/>
              </a:rPr>
              <a:t>P2</a:t>
            </a:r>
            <a:endParaRPr lang="en-US" sz="1600"/>
          </a:p>
        </p:txBody>
      </p:sp>
      <p:sp>
        <p:nvSpPr>
          <p:cNvPr id="900939689" name="Text 25"/>
          <p:cNvSpPr/>
          <p:nvPr/>
        </p:nvSpPr>
        <p:spPr bwMode="auto">
          <a:xfrm>
            <a:off x="5238750" y="1752599"/>
            <a:ext cx="94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500" b="1">
                <a:solidFill>
                  <a:srgbClr val="5F85A5"/>
                </a:solidFill>
                <a:latin typeface="MiSans"/>
                <a:ea typeface="MiSans"/>
                <a:cs typeface="MiSans"/>
              </a:rPr>
              <a:t>PCA</a:t>
            </a:r>
            <a:endParaRPr lang="en-US" sz="1600"/>
          </a:p>
        </p:txBody>
      </p:sp>
      <p:sp>
        <p:nvSpPr>
          <p:cNvPr id="118592152" name="Text 26"/>
          <p:cNvSpPr/>
          <p:nvPr/>
        </p:nvSpPr>
        <p:spPr bwMode="auto">
          <a:xfrm>
            <a:off x="5238750" y="2019300"/>
            <a:ext cx="923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>
                <a:solidFill>
                  <a:srgbClr val="E0E2E5">
                    <a:alpha val="70000"/>
                  </a:srgbClr>
                </a:solidFill>
                <a:latin typeface="MiSans"/>
                <a:ea typeface="MiSans"/>
                <a:cs typeface="MiSans"/>
              </a:rPr>
              <a:t>Compresión</a:t>
            </a:r>
            <a:endParaRPr lang="en-US" sz="1600"/>
          </a:p>
        </p:txBody>
      </p:sp>
      <p:sp>
        <p:nvSpPr>
          <p:cNvPr id="1284108713" name="Shape 27"/>
          <p:cNvSpPr/>
          <p:nvPr/>
        </p:nvSpPr>
        <p:spPr bwMode="auto">
          <a:xfrm>
            <a:off x="4595813" y="2424113"/>
            <a:ext cx="3000375" cy="1000125"/>
          </a:xfrm>
          <a:custGeom>
            <a:avLst/>
            <a:gdLst/>
            <a:ahLst/>
            <a:cxnLst/>
            <a:rect l="l" t="t" r="r" b="b"/>
            <a:pathLst>
              <a:path w="3000375" h="1000125" fill="norm" stroke="1" extrusionOk="0">
                <a:moveTo>
                  <a:pt x="114304" y="0"/>
                </a:moveTo>
                <a:lnTo>
                  <a:pt x="2886071" y="0"/>
                </a:lnTo>
                <a:cubicBezTo>
                  <a:pt x="2949199" y="0"/>
                  <a:pt x="3000375" y="51176"/>
                  <a:pt x="3000375" y="114304"/>
                </a:cubicBezTo>
                <a:lnTo>
                  <a:pt x="3000375" y="885821"/>
                </a:lnTo>
                <a:cubicBezTo>
                  <a:pt x="3000375" y="948949"/>
                  <a:pt x="2949199" y="1000125"/>
                  <a:pt x="2886071" y="1000125"/>
                </a:cubicBezTo>
                <a:lnTo>
                  <a:pt x="114304" y="1000125"/>
                </a:lnTo>
                <a:cubicBezTo>
                  <a:pt x="51176" y="1000125"/>
                  <a:pt x="0" y="948949"/>
                  <a:pt x="0" y="885821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5F85A5">
                <a:alpha val="30193"/>
              </a:srgbClr>
            </a:solidFill>
            <a:prstDash val="solid"/>
          </a:ln>
        </p:spPr>
      </p:sp>
      <p:sp>
        <p:nvSpPr>
          <p:cNvPr id="1516236271" name="Shape 28"/>
          <p:cNvSpPr/>
          <p:nvPr/>
        </p:nvSpPr>
        <p:spPr bwMode="auto">
          <a:xfrm>
            <a:off x="4733925" y="25812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 fill="norm" stroke="1" extrusionOk="0">
                <a:moveTo>
                  <a:pt x="135731" y="66675"/>
                </a:moveTo>
                <a:lnTo>
                  <a:pt x="92869" y="66675"/>
                </a:lnTo>
                <a:cubicBezTo>
                  <a:pt x="88910" y="66675"/>
                  <a:pt x="85725" y="63490"/>
                  <a:pt x="85725" y="59531"/>
                </a:cubicBezTo>
                <a:lnTo>
                  <a:pt x="85725" y="16669"/>
                </a:lnTo>
                <a:cubicBezTo>
                  <a:pt x="85725" y="13781"/>
                  <a:pt x="87451" y="11162"/>
                  <a:pt x="90130" y="10061"/>
                </a:cubicBezTo>
                <a:cubicBezTo>
                  <a:pt x="92809" y="8959"/>
                  <a:pt x="95875" y="9585"/>
                  <a:pt x="97929" y="11609"/>
                </a:cubicBezTo>
                <a:lnTo>
                  <a:pt x="109835" y="23515"/>
                </a:lnTo>
                <a:lnTo>
                  <a:pt x="131683" y="1667"/>
                </a:lnTo>
                <a:cubicBezTo>
                  <a:pt x="132755" y="595"/>
                  <a:pt x="134213" y="0"/>
                  <a:pt x="135731" y="0"/>
                </a:cubicBezTo>
                <a:cubicBezTo>
                  <a:pt x="137249" y="0"/>
                  <a:pt x="138708" y="595"/>
                  <a:pt x="139809" y="1697"/>
                </a:cubicBezTo>
                <a:lnTo>
                  <a:pt x="150733" y="12621"/>
                </a:lnTo>
                <a:cubicBezTo>
                  <a:pt x="151805" y="13692"/>
                  <a:pt x="152400" y="15151"/>
                  <a:pt x="152400" y="16669"/>
                </a:cubicBezTo>
                <a:cubicBezTo>
                  <a:pt x="152400" y="18187"/>
                  <a:pt x="151805" y="19645"/>
                  <a:pt x="150703" y="20747"/>
                </a:cubicBezTo>
                <a:lnTo>
                  <a:pt x="128885" y="42565"/>
                </a:lnTo>
                <a:lnTo>
                  <a:pt x="140791" y="54471"/>
                </a:lnTo>
                <a:cubicBezTo>
                  <a:pt x="142845" y="56525"/>
                  <a:pt x="143441" y="59591"/>
                  <a:pt x="142339" y="62270"/>
                </a:cubicBezTo>
                <a:cubicBezTo>
                  <a:pt x="141238" y="64949"/>
                  <a:pt x="138619" y="66675"/>
                  <a:pt x="135731" y="66675"/>
                </a:cubicBezTo>
                <a:close/>
                <a:moveTo>
                  <a:pt x="135731" y="85725"/>
                </a:moveTo>
                <a:cubicBezTo>
                  <a:pt x="138619" y="85725"/>
                  <a:pt x="141238" y="87451"/>
                  <a:pt x="142339" y="90130"/>
                </a:cubicBezTo>
                <a:cubicBezTo>
                  <a:pt x="143441" y="92809"/>
                  <a:pt x="142845" y="95875"/>
                  <a:pt x="140791" y="97929"/>
                </a:cubicBezTo>
                <a:lnTo>
                  <a:pt x="128885" y="109835"/>
                </a:lnTo>
                <a:lnTo>
                  <a:pt x="150733" y="131683"/>
                </a:lnTo>
                <a:cubicBezTo>
                  <a:pt x="151805" y="132755"/>
                  <a:pt x="152430" y="134213"/>
                  <a:pt x="152430" y="135761"/>
                </a:cubicBezTo>
                <a:cubicBezTo>
                  <a:pt x="152430" y="137309"/>
                  <a:pt x="151834" y="138738"/>
                  <a:pt x="150733" y="139839"/>
                </a:cubicBezTo>
                <a:lnTo>
                  <a:pt x="139809" y="150763"/>
                </a:lnTo>
                <a:cubicBezTo>
                  <a:pt x="138708" y="151805"/>
                  <a:pt x="137249" y="152400"/>
                  <a:pt x="135731" y="152400"/>
                </a:cubicBezTo>
                <a:cubicBezTo>
                  <a:pt x="134213" y="152400"/>
                  <a:pt x="132755" y="151805"/>
                  <a:pt x="131653" y="150703"/>
                </a:cubicBezTo>
                <a:lnTo>
                  <a:pt x="109835" y="128885"/>
                </a:lnTo>
                <a:lnTo>
                  <a:pt x="97929" y="140791"/>
                </a:lnTo>
                <a:cubicBezTo>
                  <a:pt x="95875" y="142845"/>
                  <a:pt x="92809" y="143441"/>
                  <a:pt x="90130" y="142339"/>
                </a:cubicBezTo>
                <a:cubicBezTo>
                  <a:pt x="87451" y="141238"/>
                  <a:pt x="85725" y="138619"/>
                  <a:pt x="85725" y="135731"/>
                </a:cubicBezTo>
                <a:lnTo>
                  <a:pt x="85725" y="92869"/>
                </a:lnTo>
                <a:cubicBezTo>
                  <a:pt x="85725" y="88910"/>
                  <a:pt x="88910" y="85725"/>
                  <a:pt x="92869" y="85725"/>
                </a:cubicBezTo>
                <a:lnTo>
                  <a:pt x="135731" y="85725"/>
                </a:lnTo>
                <a:close/>
                <a:moveTo>
                  <a:pt x="59531" y="85725"/>
                </a:moveTo>
                <a:cubicBezTo>
                  <a:pt x="63490" y="85725"/>
                  <a:pt x="66675" y="88910"/>
                  <a:pt x="66675" y="92869"/>
                </a:cubicBezTo>
                <a:lnTo>
                  <a:pt x="66675" y="135731"/>
                </a:lnTo>
                <a:cubicBezTo>
                  <a:pt x="66675" y="138619"/>
                  <a:pt x="64949" y="141238"/>
                  <a:pt x="62270" y="142339"/>
                </a:cubicBezTo>
                <a:cubicBezTo>
                  <a:pt x="59591" y="143441"/>
                  <a:pt x="56525" y="142845"/>
                  <a:pt x="54471" y="140791"/>
                </a:cubicBezTo>
                <a:lnTo>
                  <a:pt x="42565" y="128885"/>
                </a:lnTo>
                <a:lnTo>
                  <a:pt x="20717" y="150733"/>
                </a:lnTo>
                <a:cubicBezTo>
                  <a:pt x="19645" y="151805"/>
                  <a:pt x="18187" y="152400"/>
                  <a:pt x="16669" y="152400"/>
                </a:cubicBezTo>
                <a:cubicBezTo>
                  <a:pt x="15151" y="152400"/>
                  <a:pt x="13692" y="151805"/>
                  <a:pt x="12591" y="150703"/>
                </a:cubicBezTo>
                <a:lnTo>
                  <a:pt x="1697" y="139809"/>
                </a:lnTo>
                <a:cubicBezTo>
                  <a:pt x="595" y="138708"/>
                  <a:pt x="0" y="137249"/>
                  <a:pt x="0" y="135731"/>
                </a:cubicBezTo>
                <a:cubicBezTo>
                  <a:pt x="0" y="134213"/>
                  <a:pt x="595" y="132755"/>
                  <a:pt x="1697" y="131653"/>
                </a:cubicBezTo>
                <a:lnTo>
                  <a:pt x="23515" y="109835"/>
                </a:lnTo>
                <a:lnTo>
                  <a:pt x="11609" y="97929"/>
                </a:lnTo>
                <a:cubicBezTo>
                  <a:pt x="9555" y="95875"/>
                  <a:pt x="8959" y="92809"/>
                  <a:pt x="10061" y="90130"/>
                </a:cubicBezTo>
                <a:cubicBezTo>
                  <a:pt x="11162" y="87451"/>
                  <a:pt x="13781" y="85725"/>
                  <a:pt x="16669" y="85725"/>
                </a:cubicBezTo>
                <a:lnTo>
                  <a:pt x="59531" y="85725"/>
                </a:lnTo>
                <a:close/>
                <a:moveTo>
                  <a:pt x="16669" y="66675"/>
                </a:moveTo>
                <a:cubicBezTo>
                  <a:pt x="13781" y="66675"/>
                  <a:pt x="11162" y="64949"/>
                  <a:pt x="10061" y="62270"/>
                </a:cubicBezTo>
                <a:cubicBezTo>
                  <a:pt x="8959" y="59591"/>
                  <a:pt x="9585" y="56525"/>
                  <a:pt x="11609" y="54471"/>
                </a:cubicBezTo>
                <a:lnTo>
                  <a:pt x="23515" y="42565"/>
                </a:lnTo>
                <a:lnTo>
                  <a:pt x="1697" y="20747"/>
                </a:lnTo>
                <a:cubicBezTo>
                  <a:pt x="595" y="19645"/>
                  <a:pt x="0" y="18187"/>
                  <a:pt x="0" y="16669"/>
                </a:cubicBezTo>
                <a:cubicBezTo>
                  <a:pt x="0" y="15151"/>
                  <a:pt x="595" y="13692"/>
                  <a:pt x="1697" y="12591"/>
                </a:cubicBezTo>
                <a:lnTo>
                  <a:pt x="12591" y="1697"/>
                </a:lnTo>
                <a:cubicBezTo>
                  <a:pt x="13692" y="595"/>
                  <a:pt x="15151" y="0"/>
                  <a:pt x="16669" y="0"/>
                </a:cubicBezTo>
                <a:cubicBezTo>
                  <a:pt x="18187" y="0"/>
                  <a:pt x="19645" y="595"/>
                  <a:pt x="20747" y="1697"/>
                </a:cubicBezTo>
                <a:lnTo>
                  <a:pt x="42565" y="23515"/>
                </a:lnTo>
                <a:lnTo>
                  <a:pt x="54471" y="11609"/>
                </a:lnTo>
                <a:cubicBezTo>
                  <a:pt x="56525" y="9555"/>
                  <a:pt x="59591" y="8959"/>
                  <a:pt x="62270" y="10061"/>
                </a:cubicBezTo>
                <a:cubicBezTo>
                  <a:pt x="64949" y="11162"/>
                  <a:pt x="66675" y="13781"/>
                  <a:pt x="66675" y="16669"/>
                </a:cubicBezTo>
                <a:lnTo>
                  <a:pt x="66675" y="59531"/>
                </a:lnTo>
                <a:cubicBezTo>
                  <a:pt x="66675" y="63490"/>
                  <a:pt x="63490" y="66675"/>
                  <a:pt x="59531" y="66675"/>
                </a:cubicBezTo>
                <a:lnTo>
                  <a:pt x="16669" y="66675"/>
                </a:lnTo>
                <a:close/>
              </a:path>
            </a:pathLst>
          </a:custGeom>
          <a:solidFill>
            <a:srgbClr val="5F85A5"/>
          </a:solidFill>
          <a:ln/>
        </p:spPr>
      </p:sp>
      <p:sp>
        <p:nvSpPr>
          <p:cNvPr id="1457053024" name="Text 29"/>
          <p:cNvSpPr/>
          <p:nvPr/>
        </p:nvSpPr>
        <p:spPr bwMode="auto">
          <a:xfrm>
            <a:off x="4981575" y="2543175"/>
            <a:ext cx="666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 b="1">
                <a:solidFill>
                  <a:srgbClr val="E0E2E5"/>
                </a:solidFill>
                <a:latin typeface="MiSans"/>
                <a:ea typeface="MiSans"/>
                <a:cs typeface="MiSans"/>
              </a:rPr>
              <a:t>Objetivo</a:t>
            </a:r>
            <a:endParaRPr lang="en-US" sz="1600"/>
          </a:p>
        </p:txBody>
      </p:sp>
      <p:sp>
        <p:nvSpPr>
          <p:cNvPr id="4001021" name="Text 30"/>
          <p:cNvSpPr/>
          <p:nvPr/>
        </p:nvSpPr>
        <p:spPr bwMode="auto">
          <a:xfrm>
            <a:off x="4714875" y="2847975"/>
            <a:ext cx="2838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>
                <a:solidFill>
                  <a:srgbClr val="E0E2E5">
                    <a:alpha val="80000"/>
                  </a:srgbClr>
                </a:solidFill>
                <a:latin typeface="MiSans"/>
                <a:ea typeface="MiSans"/>
                <a:cs typeface="MiSans"/>
              </a:rPr>
              <a:t>Capturar información en componentes principales</a:t>
            </a:r>
            <a:endParaRPr lang="en-US" sz="1600"/>
          </a:p>
        </p:txBody>
      </p:sp>
      <p:sp>
        <p:nvSpPr>
          <p:cNvPr id="1675565076" name="Shape 31"/>
          <p:cNvSpPr/>
          <p:nvPr/>
        </p:nvSpPr>
        <p:spPr bwMode="auto">
          <a:xfrm>
            <a:off x="4595813" y="3548063"/>
            <a:ext cx="3000375" cy="771525"/>
          </a:xfrm>
          <a:custGeom>
            <a:avLst/>
            <a:gdLst/>
            <a:ahLst/>
            <a:cxnLst/>
            <a:rect l="l" t="t" r="r" b="b"/>
            <a:pathLst>
              <a:path w="3000375" h="771525" fill="norm" stroke="1" extrusionOk="0">
                <a:moveTo>
                  <a:pt x="114301" y="0"/>
                </a:moveTo>
                <a:lnTo>
                  <a:pt x="2886074" y="0"/>
                </a:lnTo>
                <a:cubicBezTo>
                  <a:pt x="2949201" y="0"/>
                  <a:pt x="3000375" y="51174"/>
                  <a:pt x="3000375" y="114301"/>
                </a:cubicBezTo>
                <a:lnTo>
                  <a:pt x="3000375" y="657224"/>
                </a:lnTo>
                <a:cubicBezTo>
                  <a:pt x="3000375" y="720351"/>
                  <a:pt x="2949201" y="771525"/>
                  <a:pt x="2886074" y="771525"/>
                </a:cubicBezTo>
                <a:lnTo>
                  <a:pt x="114301" y="771525"/>
                </a:lnTo>
                <a:cubicBezTo>
                  <a:pt x="51174" y="771525"/>
                  <a:pt x="0" y="720351"/>
                  <a:pt x="0" y="6572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5F85A5">
                <a:alpha val="30193"/>
              </a:srgbClr>
            </a:solidFill>
            <a:prstDash val="solid"/>
          </a:ln>
        </p:spPr>
      </p:sp>
      <p:sp>
        <p:nvSpPr>
          <p:cNvPr id="832217946" name="Shape 32"/>
          <p:cNvSpPr/>
          <p:nvPr/>
        </p:nvSpPr>
        <p:spPr bwMode="auto">
          <a:xfrm>
            <a:off x="4724399" y="370522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 fill="norm" stroke="1" extrusionOk="0">
                <a:moveTo>
                  <a:pt x="152519" y="71438"/>
                </a:moveTo>
                <a:lnTo>
                  <a:pt x="100132" y="71438"/>
                </a:lnTo>
                <a:cubicBezTo>
                  <a:pt x="94863" y="71438"/>
                  <a:pt x="90607" y="67181"/>
                  <a:pt x="90607" y="61912"/>
                </a:cubicBezTo>
                <a:lnTo>
                  <a:pt x="90607" y="9525"/>
                </a:lnTo>
                <a:cubicBezTo>
                  <a:pt x="90607" y="4256"/>
                  <a:pt x="94893" y="-60"/>
                  <a:pt x="100102" y="625"/>
                </a:cubicBezTo>
                <a:cubicBezTo>
                  <a:pt x="131951" y="4852"/>
                  <a:pt x="157192" y="30093"/>
                  <a:pt x="161419" y="61942"/>
                </a:cubicBezTo>
                <a:cubicBezTo>
                  <a:pt x="162104" y="67151"/>
                  <a:pt x="157788" y="71438"/>
                  <a:pt x="152519" y="71438"/>
                </a:cubicBezTo>
                <a:close/>
                <a:moveTo>
                  <a:pt x="66258" y="11073"/>
                </a:moveTo>
                <a:cubicBezTo>
                  <a:pt x="71646" y="9942"/>
                  <a:pt x="76319" y="14347"/>
                  <a:pt x="76319" y="19854"/>
                </a:cubicBezTo>
                <a:lnTo>
                  <a:pt x="76319" y="78581"/>
                </a:lnTo>
                <a:cubicBezTo>
                  <a:pt x="76319" y="80248"/>
                  <a:pt x="76914" y="81855"/>
                  <a:pt x="77956" y="83135"/>
                </a:cubicBezTo>
                <a:lnTo>
                  <a:pt x="117277" y="130582"/>
                </a:lnTo>
                <a:cubicBezTo>
                  <a:pt x="120759" y="134779"/>
                  <a:pt x="120015" y="141119"/>
                  <a:pt x="115223" y="143708"/>
                </a:cubicBezTo>
                <a:cubicBezTo>
                  <a:pt x="105073" y="149245"/>
                  <a:pt x="93434" y="152400"/>
                  <a:pt x="81082" y="152400"/>
                </a:cubicBezTo>
                <a:cubicBezTo>
                  <a:pt x="41642" y="152400"/>
                  <a:pt x="9644" y="120402"/>
                  <a:pt x="9644" y="80962"/>
                </a:cubicBezTo>
                <a:cubicBezTo>
                  <a:pt x="9644" y="46583"/>
                  <a:pt x="33903" y="17889"/>
                  <a:pt x="66258" y="11073"/>
                </a:cubicBezTo>
                <a:close/>
                <a:moveTo>
                  <a:pt x="142220" y="85725"/>
                </a:moveTo>
                <a:lnTo>
                  <a:pt x="161270" y="85725"/>
                </a:lnTo>
                <a:cubicBezTo>
                  <a:pt x="166777" y="85725"/>
                  <a:pt x="171182" y="90398"/>
                  <a:pt x="170051" y="95786"/>
                </a:cubicBezTo>
                <a:cubicBezTo>
                  <a:pt x="167015" y="110192"/>
                  <a:pt x="159633" y="122992"/>
                  <a:pt x="149334" y="132755"/>
                </a:cubicBezTo>
                <a:cubicBezTo>
                  <a:pt x="145673" y="136237"/>
                  <a:pt x="139928" y="135493"/>
                  <a:pt x="136714" y="131594"/>
                </a:cubicBezTo>
                <a:lnTo>
                  <a:pt x="111591" y="101322"/>
                </a:lnTo>
                <a:cubicBezTo>
                  <a:pt x="106442" y="95101"/>
                  <a:pt x="110877" y="85725"/>
                  <a:pt x="118914" y="85725"/>
                </a:cubicBezTo>
                <a:lnTo>
                  <a:pt x="142190" y="85725"/>
                </a:lnTo>
                <a:close/>
              </a:path>
            </a:pathLst>
          </a:custGeom>
          <a:solidFill>
            <a:srgbClr val="5F85A5"/>
          </a:solidFill>
          <a:ln/>
        </p:spPr>
      </p:sp>
      <p:sp>
        <p:nvSpPr>
          <p:cNvPr id="1400760086" name="Text 33"/>
          <p:cNvSpPr/>
          <p:nvPr/>
        </p:nvSpPr>
        <p:spPr bwMode="auto">
          <a:xfrm>
            <a:off x="4981575" y="3667125"/>
            <a:ext cx="771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 b="1">
                <a:solidFill>
                  <a:srgbClr val="E0E2E5"/>
                </a:solidFill>
                <a:latin typeface="MiSans"/>
                <a:ea typeface="MiSans"/>
                <a:cs typeface="MiSans"/>
              </a:rPr>
              <a:t>Resultado</a:t>
            </a:r>
            <a:endParaRPr lang="en-US" sz="1600"/>
          </a:p>
        </p:txBody>
      </p:sp>
      <p:sp>
        <p:nvSpPr>
          <p:cNvPr id="1771766726" name="Text 34"/>
          <p:cNvSpPr/>
          <p:nvPr/>
        </p:nvSpPr>
        <p:spPr bwMode="auto">
          <a:xfrm>
            <a:off x="4714875" y="3971925"/>
            <a:ext cx="2838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 b="1">
                <a:solidFill>
                  <a:srgbClr val="5F85A5"/>
                </a:solidFill>
                <a:latin typeface="MiSans"/>
                <a:ea typeface="MiSans"/>
                <a:cs typeface="MiSans"/>
              </a:rPr>
              <a:t>8 PCs</a:t>
            </a:r>
            <a:r>
              <a:rPr lang="en-US" sz="1200">
                <a:solidFill>
                  <a:srgbClr val="E0E2E5">
                    <a:alpha val="80000"/>
                  </a:srgbClr>
                </a:solidFill>
                <a:latin typeface="MiSans"/>
                <a:ea typeface="MiSans"/>
                <a:cs typeface="MiSans"/>
              </a:rPr>
              <a:t> capturan 71.85% varianza</a:t>
            </a:r>
            <a:endParaRPr lang="en-US" sz="1600"/>
          </a:p>
        </p:txBody>
      </p:sp>
      <p:sp>
        <p:nvSpPr>
          <p:cNvPr id="57196158" name="Shape 35"/>
          <p:cNvSpPr/>
          <p:nvPr/>
        </p:nvSpPr>
        <p:spPr bwMode="auto">
          <a:xfrm>
            <a:off x="4595813" y="4443413"/>
            <a:ext cx="3000375" cy="1000125"/>
          </a:xfrm>
          <a:custGeom>
            <a:avLst/>
            <a:gdLst/>
            <a:ahLst/>
            <a:cxnLst/>
            <a:rect l="l" t="t" r="r" b="b"/>
            <a:pathLst>
              <a:path w="3000375" h="1000125" fill="norm" stroke="1" extrusionOk="0">
                <a:moveTo>
                  <a:pt x="114304" y="0"/>
                </a:moveTo>
                <a:lnTo>
                  <a:pt x="2886071" y="0"/>
                </a:lnTo>
                <a:cubicBezTo>
                  <a:pt x="2949199" y="0"/>
                  <a:pt x="3000375" y="51176"/>
                  <a:pt x="3000375" y="114304"/>
                </a:cubicBezTo>
                <a:lnTo>
                  <a:pt x="3000375" y="885821"/>
                </a:lnTo>
                <a:cubicBezTo>
                  <a:pt x="3000375" y="948949"/>
                  <a:pt x="2949199" y="1000125"/>
                  <a:pt x="2886071" y="1000125"/>
                </a:cubicBezTo>
                <a:lnTo>
                  <a:pt x="114304" y="1000125"/>
                </a:lnTo>
                <a:cubicBezTo>
                  <a:pt x="51176" y="1000125"/>
                  <a:pt x="0" y="948949"/>
                  <a:pt x="0" y="885821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5F85A5">
                <a:alpha val="30193"/>
              </a:srgbClr>
            </a:solidFill>
            <a:prstDash val="solid"/>
          </a:ln>
        </p:spPr>
      </p:sp>
      <p:sp>
        <p:nvSpPr>
          <p:cNvPr id="296136998" name="Shape 36"/>
          <p:cNvSpPr/>
          <p:nvPr/>
        </p:nvSpPr>
        <p:spPr bwMode="auto">
          <a:xfrm>
            <a:off x="4733925" y="46005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 fill="norm" stroke="1" extrusionOk="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5F85A5"/>
          </a:solidFill>
          <a:ln/>
        </p:spPr>
      </p:sp>
      <p:sp>
        <p:nvSpPr>
          <p:cNvPr id="963422400" name="Text 37"/>
          <p:cNvSpPr/>
          <p:nvPr/>
        </p:nvSpPr>
        <p:spPr bwMode="auto">
          <a:xfrm>
            <a:off x="4981575" y="4562475"/>
            <a:ext cx="495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 b="1">
                <a:solidFill>
                  <a:srgbClr val="E0E2E5"/>
                </a:solidFill>
                <a:latin typeface="MiSans"/>
                <a:ea typeface="MiSans"/>
                <a:cs typeface="MiSans"/>
              </a:rPr>
              <a:t>Salida</a:t>
            </a:r>
            <a:endParaRPr lang="en-US" sz="1600"/>
          </a:p>
        </p:txBody>
      </p:sp>
      <p:sp>
        <p:nvSpPr>
          <p:cNvPr id="1574696246" name="Text 38"/>
          <p:cNvSpPr/>
          <p:nvPr/>
        </p:nvSpPr>
        <p:spPr bwMode="auto">
          <a:xfrm>
            <a:off x="4714875" y="4867274"/>
            <a:ext cx="2838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>
                <a:solidFill>
                  <a:srgbClr val="E0E2E5">
                    <a:alpha val="80000"/>
                  </a:srgbClr>
                </a:solidFill>
                <a:latin typeface="MiSans"/>
                <a:ea typeface="MiSans"/>
                <a:cs typeface="MiSans"/>
              </a:rPr>
              <a:t>Features comprimidas sin pérdida crítica</a:t>
            </a:r>
            <a:endParaRPr lang="en-US" sz="1600"/>
          </a:p>
        </p:txBody>
      </p:sp>
      <p:sp>
        <p:nvSpPr>
          <p:cNvPr id="1123746885" name="Shape 39"/>
          <p:cNvSpPr/>
          <p:nvPr/>
        </p:nvSpPr>
        <p:spPr bwMode="auto">
          <a:xfrm>
            <a:off x="5876925" y="5610225"/>
            <a:ext cx="438149" cy="438149"/>
          </a:xfrm>
          <a:custGeom>
            <a:avLst/>
            <a:gdLst/>
            <a:ahLst/>
            <a:cxnLst/>
            <a:rect l="l" t="t" r="r" b="b"/>
            <a:pathLst>
              <a:path w="438150" h="438150" fill="norm" stroke="1" extrusionOk="0">
                <a:moveTo>
                  <a:pt x="219075" y="0"/>
                </a:moveTo>
                <a:lnTo>
                  <a:pt x="219075" y="0"/>
                </a:lnTo>
                <a:cubicBezTo>
                  <a:pt x="339986" y="0"/>
                  <a:pt x="438150" y="98164"/>
                  <a:pt x="438150" y="219075"/>
                </a:cubicBezTo>
                <a:lnTo>
                  <a:pt x="438150" y="219075"/>
                </a:lnTo>
                <a:cubicBezTo>
                  <a:pt x="438150" y="339986"/>
                  <a:pt x="339986" y="438150"/>
                  <a:pt x="219075" y="438150"/>
                </a:cubicBezTo>
                <a:lnTo>
                  <a:pt x="219075" y="438150"/>
                </a:lnTo>
                <a:cubicBezTo>
                  <a:pt x="98164" y="438150"/>
                  <a:pt x="0" y="339986"/>
                  <a:pt x="0" y="219075"/>
                </a:cubicBezTo>
                <a:lnTo>
                  <a:pt x="0" y="219075"/>
                </a:lnTo>
                <a:cubicBezTo>
                  <a:pt x="0" y="98164"/>
                  <a:pt x="98164" y="0"/>
                  <a:pt x="219075" y="0"/>
                </a:cubicBezTo>
                <a:close/>
              </a:path>
            </a:pathLst>
          </a:custGeom>
          <a:solidFill>
            <a:srgbClr val="5F85A5">
              <a:alpha val="20000"/>
            </a:srgbClr>
          </a:solidFill>
          <a:ln w="25400">
            <a:solidFill>
              <a:srgbClr val="5F85A5"/>
            </a:solidFill>
            <a:prstDash val="solid"/>
          </a:ln>
        </p:spPr>
      </p:sp>
      <p:sp>
        <p:nvSpPr>
          <p:cNvPr id="905303969" name="Shape 40"/>
          <p:cNvSpPr/>
          <p:nvPr/>
        </p:nvSpPr>
        <p:spPr bwMode="auto">
          <a:xfrm>
            <a:off x="6000750" y="57340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 fill="norm" stroke="1" extrusionOk="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5F85A5"/>
          </a:solidFill>
          <a:ln/>
        </p:spPr>
      </p:sp>
      <p:sp>
        <p:nvSpPr>
          <p:cNvPr id="705252144" name="Shape 41"/>
          <p:cNvSpPr/>
          <p:nvPr/>
        </p:nvSpPr>
        <p:spPr bwMode="auto">
          <a:xfrm>
            <a:off x="8048625" y="1533525"/>
            <a:ext cx="3409950" cy="4724399"/>
          </a:xfrm>
          <a:custGeom>
            <a:avLst/>
            <a:gdLst/>
            <a:ahLst/>
            <a:cxnLst/>
            <a:rect l="l" t="t" r="r" b="b"/>
            <a:pathLst>
              <a:path w="3409950" h="4724400" fill="norm" stroke="1" extrusionOk="0">
                <a:moveTo>
                  <a:pt x="152391" y="0"/>
                </a:moveTo>
                <a:lnTo>
                  <a:pt x="3257559" y="0"/>
                </a:lnTo>
                <a:cubicBezTo>
                  <a:pt x="3341722" y="0"/>
                  <a:pt x="3409950" y="68228"/>
                  <a:pt x="3409950" y="152391"/>
                </a:cubicBezTo>
                <a:lnTo>
                  <a:pt x="3409950" y="4572009"/>
                </a:lnTo>
                <a:cubicBezTo>
                  <a:pt x="3409950" y="4656172"/>
                  <a:pt x="3341722" y="4724400"/>
                  <a:pt x="3257559" y="4724400"/>
                </a:cubicBezTo>
                <a:lnTo>
                  <a:pt x="152391" y="4724400"/>
                </a:lnTo>
                <a:cubicBezTo>
                  <a:pt x="68228" y="4724400"/>
                  <a:pt x="0" y="4656172"/>
                  <a:pt x="0" y="4572009"/>
                </a:cubicBezTo>
                <a:lnTo>
                  <a:pt x="0" y="152391"/>
                </a:lnTo>
                <a:cubicBezTo>
                  <a:pt x="0" y="68228"/>
                  <a:pt x="68228" y="0"/>
                  <a:pt x="152391" y="0"/>
                </a:cubicBezTo>
                <a:close/>
              </a:path>
            </a:pathLst>
          </a:custGeom>
          <a:solidFill>
            <a:srgbClr val="F39C12">
              <a:alpha val="10196"/>
            </a:srgbClr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1465212268" name="Shape 42"/>
          <p:cNvSpPr/>
          <p:nvPr/>
        </p:nvSpPr>
        <p:spPr bwMode="auto">
          <a:xfrm>
            <a:off x="8248650" y="17335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 fill="norm" stroke="1" extrusionOk="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39C12"/>
          </a:solidFill>
          <a:ln/>
        </p:spPr>
      </p:sp>
      <p:sp>
        <p:nvSpPr>
          <p:cNvPr id="980511740" name="Text 43"/>
          <p:cNvSpPr/>
          <p:nvPr/>
        </p:nvSpPr>
        <p:spPr bwMode="auto">
          <a:xfrm>
            <a:off x="8191500" y="173355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1800" b="1">
                <a:solidFill>
                  <a:srgbClr val="1A1D21"/>
                </a:solidFill>
                <a:latin typeface="MiSans"/>
                <a:ea typeface="MiSans"/>
                <a:cs typeface="MiSans"/>
              </a:rPr>
              <a:t>P3</a:t>
            </a:r>
            <a:endParaRPr lang="en-US" sz="1600"/>
          </a:p>
        </p:txBody>
      </p:sp>
      <p:sp>
        <p:nvSpPr>
          <p:cNvPr id="1841824857" name="Text 44"/>
          <p:cNvSpPr/>
          <p:nvPr/>
        </p:nvSpPr>
        <p:spPr bwMode="auto">
          <a:xfrm>
            <a:off x="8896350" y="1752599"/>
            <a:ext cx="971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500" b="1">
                <a:solidFill>
                  <a:srgbClr val="F39C12"/>
                </a:solidFill>
                <a:latin typeface="MiSans"/>
                <a:ea typeface="MiSans"/>
                <a:cs typeface="MiSans"/>
              </a:rPr>
              <a:t>Regresión</a:t>
            </a:r>
            <a:endParaRPr lang="en-US" sz="1600"/>
          </a:p>
        </p:txBody>
      </p:sp>
      <p:sp>
        <p:nvSpPr>
          <p:cNvPr id="223529754" name="Text 45"/>
          <p:cNvSpPr/>
          <p:nvPr/>
        </p:nvSpPr>
        <p:spPr bwMode="auto">
          <a:xfrm>
            <a:off x="8896350" y="2019300"/>
            <a:ext cx="95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>
                <a:solidFill>
                  <a:srgbClr val="E0E2E5">
                    <a:alpha val="70000"/>
                  </a:srgbClr>
                </a:solidFill>
                <a:latin typeface="MiSans"/>
                <a:ea typeface="MiSans"/>
                <a:cs typeface="MiSans"/>
              </a:rPr>
              <a:t>Predicción</a:t>
            </a:r>
            <a:endParaRPr lang="en-US" sz="1600"/>
          </a:p>
        </p:txBody>
      </p:sp>
      <p:sp>
        <p:nvSpPr>
          <p:cNvPr id="1920009859" name="Shape 46"/>
          <p:cNvSpPr/>
          <p:nvPr/>
        </p:nvSpPr>
        <p:spPr bwMode="auto">
          <a:xfrm>
            <a:off x="8253412" y="2424113"/>
            <a:ext cx="3000375" cy="1000125"/>
          </a:xfrm>
          <a:custGeom>
            <a:avLst/>
            <a:gdLst/>
            <a:ahLst/>
            <a:cxnLst/>
            <a:rect l="l" t="t" r="r" b="b"/>
            <a:pathLst>
              <a:path w="3000375" h="1000125" fill="norm" stroke="1" extrusionOk="0">
                <a:moveTo>
                  <a:pt x="114304" y="0"/>
                </a:moveTo>
                <a:lnTo>
                  <a:pt x="2886071" y="0"/>
                </a:lnTo>
                <a:cubicBezTo>
                  <a:pt x="2949199" y="0"/>
                  <a:pt x="3000375" y="51176"/>
                  <a:pt x="3000375" y="114304"/>
                </a:cubicBezTo>
                <a:lnTo>
                  <a:pt x="3000375" y="885821"/>
                </a:lnTo>
                <a:cubicBezTo>
                  <a:pt x="3000375" y="948949"/>
                  <a:pt x="2949199" y="1000125"/>
                  <a:pt x="2886071" y="1000125"/>
                </a:cubicBezTo>
                <a:lnTo>
                  <a:pt x="114304" y="1000125"/>
                </a:lnTo>
                <a:cubicBezTo>
                  <a:pt x="51176" y="1000125"/>
                  <a:pt x="0" y="948949"/>
                  <a:pt x="0" y="885821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F39C12">
                <a:alpha val="30193"/>
              </a:srgbClr>
            </a:solidFill>
            <a:prstDash val="solid"/>
          </a:ln>
        </p:spPr>
      </p:sp>
      <p:sp>
        <p:nvSpPr>
          <p:cNvPr id="168150548" name="Shape 47"/>
          <p:cNvSpPr/>
          <p:nvPr/>
        </p:nvSpPr>
        <p:spPr bwMode="auto">
          <a:xfrm>
            <a:off x="8391525" y="25812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 fill="norm" stroke="1" extrusionOk="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F39C12"/>
          </a:solidFill>
          <a:ln/>
        </p:spPr>
      </p:sp>
      <p:sp>
        <p:nvSpPr>
          <p:cNvPr id="384246552" name="Text 48"/>
          <p:cNvSpPr/>
          <p:nvPr/>
        </p:nvSpPr>
        <p:spPr bwMode="auto">
          <a:xfrm>
            <a:off x="8639175" y="2543175"/>
            <a:ext cx="666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 b="1">
                <a:solidFill>
                  <a:srgbClr val="E0E2E5"/>
                </a:solidFill>
                <a:latin typeface="MiSans"/>
                <a:ea typeface="MiSans"/>
                <a:cs typeface="MiSans"/>
              </a:rPr>
              <a:t>Objetivo</a:t>
            </a:r>
            <a:endParaRPr lang="en-US" sz="1600"/>
          </a:p>
        </p:txBody>
      </p:sp>
      <p:sp>
        <p:nvSpPr>
          <p:cNvPr id="1235448745" name="Text 49"/>
          <p:cNvSpPr/>
          <p:nvPr/>
        </p:nvSpPr>
        <p:spPr bwMode="auto">
          <a:xfrm>
            <a:off x="8372475" y="2847975"/>
            <a:ext cx="2838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>
                <a:solidFill>
                  <a:srgbClr val="E0E2E5">
                    <a:alpha val="80000"/>
                  </a:srgbClr>
                </a:solidFill>
                <a:latin typeface="MiSans"/>
                <a:ea typeface="MiSans"/>
                <a:cs typeface="MiSans"/>
              </a:rPr>
              <a:t>Explotar componentes para clasificación</a:t>
            </a:r>
            <a:endParaRPr lang="en-US" sz="1600"/>
          </a:p>
        </p:txBody>
      </p:sp>
      <p:sp>
        <p:nvSpPr>
          <p:cNvPr id="1162619097" name="Shape 50"/>
          <p:cNvSpPr/>
          <p:nvPr/>
        </p:nvSpPr>
        <p:spPr bwMode="auto">
          <a:xfrm>
            <a:off x="8253412" y="3548063"/>
            <a:ext cx="3000375" cy="771525"/>
          </a:xfrm>
          <a:custGeom>
            <a:avLst/>
            <a:gdLst/>
            <a:ahLst/>
            <a:cxnLst/>
            <a:rect l="l" t="t" r="r" b="b"/>
            <a:pathLst>
              <a:path w="3000375" h="771525" fill="norm" stroke="1" extrusionOk="0">
                <a:moveTo>
                  <a:pt x="114301" y="0"/>
                </a:moveTo>
                <a:lnTo>
                  <a:pt x="2886074" y="0"/>
                </a:lnTo>
                <a:cubicBezTo>
                  <a:pt x="2949201" y="0"/>
                  <a:pt x="3000375" y="51174"/>
                  <a:pt x="3000375" y="114301"/>
                </a:cubicBezTo>
                <a:lnTo>
                  <a:pt x="3000375" y="657224"/>
                </a:lnTo>
                <a:cubicBezTo>
                  <a:pt x="3000375" y="720351"/>
                  <a:pt x="2949201" y="771525"/>
                  <a:pt x="2886074" y="771525"/>
                </a:cubicBezTo>
                <a:lnTo>
                  <a:pt x="114301" y="771525"/>
                </a:lnTo>
                <a:cubicBezTo>
                  <a:pt x="51174" y="771525"/>
                  <a:pt x="0" y="720351"/>
                  <a:pt x="0" y="6572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F39C12">
                <a:alpha val="30193"/>
              </a:srgbClr>
            </a:solidFill>
            <a:prstDash val="solid"/>
          </a:ln>
        </p:spPr>
      </p:sp>
      <p:sp>
        <p:nvSpPr>
          <p:cNvPr id="130092429" name="Shape 51"/>
          <p:cNvSpPr/>
          <p:nvPr/>
        </p:nvSpPr>
        <p:spPr bwMode="auto">
          <a:xfrm>
            <a:off x="8391525" y="37052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 fill="norm" stroke="1" extrusionOk="0">
                <a:moveTo>
                  <a:pt x="42952" y="0"/>
                </a:moveTo>
                <a:lnTo>
                  <a:pt x="109627" y="0"/>
                </a:lnTo>
                <a:cubicBezTo>
                  <a:pt x="117515" y="0"/>
                  <a:pt x="123944" y="6489"/>
                  <a:pt x="123646" y="14347"/>
                </a:cubicBezTo>
                <a:cubicBezTo>
                  <a:pt x="123587" y="15925"/>
                  <a:pt x="123527" y="17502"/>
                  <a:pt x="123438" y="19050"/>
                </a:cubicBezTo>
                <a:lnTo>
                  <a:pt x="138202" y="19050"/>
                </a:lnTo>
                <a:cubicBezTo>
                  <a:pt x="145971" y="19050"/>
                  <a:pt x="152817" y="25479"/>
                  <a:pt x="152221" y="33873"/>
                </a:cubicBezTo>
                <a:cubicBezTo>
                  <a:pt x="149989" y="64740"/>
                  <a:pt x="134213" y="81707"/>
                  <a:pt x="117098" y="90577"/>
                </a:cubicBezTo>
                <a:cubicBezTo>
                  <a:pt x="112395" y="93018"/>
                  <a:pt x="107603" y="94833"/>
                  <a:pt x="103049" y="96173"/>
                </a:cubicBezTo>
                <a:cubicBezTo>
                  <a:pt x="97036" y="104686"/>
                  <a:pt x="90785" y="109180"/>
                  <a:pt x="85814" y="111591"/>
                </a:cubicBezTo>
                <a:lnTo>
                  <a:pt x="85814" y="133350"/>
                </a:lnTo>
                <a:lnTo>
                  <a:pt x="104864" y="133350"/>
                </a:lnTo>
                <a:cubicBezTo>
                  <a:pt x="110133" y="133350"/>
                  <a:pt x="114389" y="137606"/>
                  <a:pt x="114389" y="142875"/>
                </a:cubicBezTo>
                <a:cubicBezTo>
                  <a:pt x="114389" y="148144"/>
                  <a:pt x="110133" y="152400"/>
                  <a:pt x="104864" y="152400"/>
                </a:cubicBezTo>
                <a:lnTo>
                  <a:pt x="47714" y="152400"/>
                </a:lnTo>
                <a:cubicBezTo>
                  <a:pt x="42446" y="152400"/>
                  <a:pt x="38189" y="148144"/>
                  <a:pt x="38189" y="142875"/>
                </a:cubicBezTo>
                <a:cubicBezTo>
                  <a:pt x="38189" y="137606"/>
                  <a:pt x="42446" y="133350"/>
                  <a:pt x="47714" y="133350"/>
                </a:cubicBezTo>
                <a:lnTo>
                  <a:pt x="66764" y="133350"/>
                </a:lnTo>
                <a:lnTo>
                  <a:pt x="66764" y="111591"/>
                </a:lnTo>
                <a:cubicBezTo>
                  <a:pt x="62002" y="109299"/>
                  <a:pt x="56078" y="105043"/>
                  <a:pt x="50304" y="97215"/>
                </a:cubicBezTo>
                <a:cubicBezTo>
                  <a:pt x="44827" y="95786"/>
                  <a:pt x="38874" y="93613"/>
                  <a:pt x="33070" y="90339"/>
                </a:cubicBezTo>
                <a:cubicBezTo>
                  <a:pt x="16966" y="81320"/>
                  <a:pt x="2441" y="64324"/>
                  <a:pt x="357" y="33814"/>
                </a:cubicBezTo>
                <a:cubicBezTo>
                  <a:pt x="-208" y="25450"/>
                  <a:pt x="6608" y="19020"/>
                  <a:pt x="14377" y="19020"/>
                </a:cubicBezTo>
                <a:lnTo>
                  <a:pt x="29141" y="19020"/>
                </a:lnTo>
                <a:cubicBezTo>
                  <a:pt x="29051" y="17472"/>
                  <a:pt x="28992" y="15925"/>
                  <a:pt x="28932" y="14317"/>
                </a:cubicBezTo>
                <a:cubicBezTo>
                  <a:pt x="28635" y="6429"/>
                  <a:pt x="35064" y="-30"/>
                  <a:pt x="42952" y="-30"/>
                </a:cubicBezTo>
                <a:close/>
                <a:moveTo>
                  <a:pt x="30212" y="33338"/>
                </a:moveTo>
                <a:lnTo>
                  <a:pt x="14615" y="33338"/>
                </a:lnTo>
                <a:cubicBezTo>
                  <a:pt x="16460" y="58549"/>
                  <a:pt x="28039" y="71170"/>
                  <a:pt x="39975" y="77867"/>
                </a:cubicBezTo>
                <a:cubicBezTo>
                  <a:pt x="35689" y="66764"/>
                  <a:pt x="32147" y="52268"/>
                  <a:pt x="30212" y="33338"/>
                </a:cubicBezTo>
                <a:close/>
                <a:moveTo>
                  <a:pt x="113109" y="76438"/>
                </a:moveTo>
                <a:cubicBezTo>
                  <a:pt x="125164" y="69354"/>
                  <a:pt x="136059" y="56763"/>
                  <a:pt x="137904" y="33338"/>
                </a:cubicBezTo>
                <a:lnTo>
                  <a:pt x="122337" y="33338"/>
                </a:lnTo>
                <a:cubicBezTo>
                  <a:pt x="120491" y="51465"/>
                  <a:pt x="117157" y="65544"/>
                  <a:pt x="113109" y="76438"/>
                </a:cubicBezTo>
                <a:close/>
              </a:path>
            </a:pathLst>
          </a:custGeom>
          <a:solidFill>
            <a:srgbClr val="F39C12"/>
          </a:solidFill>
          <a:ln/>
        </p:spPr>
      </p:sp>
      <p:sp>
        <p:nvSpPr>
          <p:cNvPr id="1385772235" name="Text 52"/>
          <p:cNvSpPr/>
          <p:nvPr/>
        </p:nvSpPr>
        <p:spPr bwMode="auto">
          <a:xfrm>
            <a:off x="8639175" y="3667125"/>
            <a:ext cx="771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 b="1">
                <a:solidFill>
                  <a:srgbClr val="E0E2E5"/>
                </a:solidFill>
                <a:latin typeface="MiSans"/>
                <a:ea typeface="MiSans"/>
                <a:cs typeface="MiSans"/>
              </a:rPr>
              <a:t>Resultado</a:t>
            </a:r>
            <a:endParaRPr lang="en-US" sz="1600"/>
          </a:p>
        </p:txBody>
      </p:sp>
      <p:sp>
        <p:nvSpPr>
          <p:cNvPr id="1781201056" name="Text 53"/>
          <p:cNvSpPr/>
          <p:nvPr/>
        </p:nvSpPr>
        <p:spPr bwMode="auto">
          <a:xfrm>
            <a:off x="8372475" y="3971925"/>
            <a:ext cx="2838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 b="1">
                <a:solidFill>
                  <a:srgbClr val="F39C12"/>
                </a:solidFill>
                <a:latin typeface="MiSans"/>
                <a:ea typeface="MiSans"/>
                <a:cs typeface="MiSans"/>
              </a:rPr>
              <a:t>AUC = 0.9496</a:t>
            </a:r>
            <a:r>
              <a:rPr lang="en-US" sz="1200">
                <a:solidFill>
                  <a:srgbClr val="E0E2E5">
                    <a:alpha val="80000"/>
                  </a:srgbClr>
                </a:solidFill>
                <a:latin typeface="MiSans"/>
                <a:ea typeface="MiSans"/>
                <a:cs typeface="MiSans"/>
              </a:rPr>
              <a:t> promedio</a:t>
            </a:r>
            <a:endParaRPr lang="en-US" sz="1600"/>
          </a:p>
        </p:txBody>
      </p:sp>
      <p:sp>
        <p:nvSpPr>
          <p:cNvPr id="1547199342" name="Shape 54"/>
          <p:cNvSpPr/>
          <p:nvPr/>
        </p:nvSpPr>
        <p:spPr bwMode="auto">
          <a:xfrm>
            <a:off x="8253412" y="4443413"/>
            <a:ext cx="3000375" cy="1000125"/>
          </a:xfrm>
          <a:custGeom>
            <a:avLst/>
            <a:gdLst/>
            <a:ahLst/>
            <a:cxnLst/>
            <a:rect l="l" t="t" r="r" b="b"/>
            <a:pathLst>
              <a:path w="3000375" h="1000125" fill="norm" stroke="1" extrusionOk="0">
                <a:moveTo>
                  <a:pt x="114304" y="0"/>
                </a:moveTo>
                <a:lnTo>
                  <a:pt x="2886071" y="0"/>
                </a:lnTo>
                <a:cubicBezTo>
                  <a:pt x="2949199" y="0"/>
                  <a:pt x="3000375" y="51176"/>
                  <a:pt x="3000375" y="114304"/>
                </a:cubicBezTo>
                <a:lnTo>
                  <a:pt x="3000375" y="885821"/>
                </a:lnTo>
                <a:cubicBezTo>
                  <a:pt x="3000375" y="948949"/>
                  <a:pt x="2949199" y="1000125"/>
                  <a:pt x="2886071" y="1000125"/>
                </a:cubicBezTo>
                <a:lnTo>
                  <a:pt x="114304" y="1000125"/>
                </a:lnTo>
                <a:cubicBezTo>
                  <a:pt x="51176" y="1000125"/>
                  <a:pt x="0" y="948949"/>
                  <a:pt x="0" y="885821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F39C12">
                <a:alpha val="30193"/>
              </a:srgbClr>
            </a:solidFill>
            <a:prstDash val="solid"/>
          </a:ln>
        </p:spPr>
      </p:sp>
      <p:sp>
        <p:nvSpPr>
          <p:cNvPr id="119267861" name="Shape 55"/>
          <p:cNvSpPr/>
          <p:nvPr/>
        </p:nvSpPr>
        <p:spPr bwMode="auto">
          <a:xfrm>
            <a:off x="8391525" y="46005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 fill="norm" stroke="1" extrusionOk="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39C12"/>
          </a:solidFill>
          <a:ln/>
        </p:spPr>
      </p:sp>
      <p:sp>
        <p:nvSpPr>
          <p:cNvPr id="1957460816" name="Text 56"/>
          <p:cNvSpPr/>
          <p:nvPr/>
        </p:nvSpPr>
        <p:spPr bwMode="auto">
          <a:xfrm>
            <a:off x="8639175" y="4562475"/>
            <a:ext cx="495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 b="1">
                <a:solidFill>
                  <a:srgbClr val="E0E2E5"/>
                </a:solidFill>
                <a:latin typeface="MiSans"/>
                <a:ea typeface="MiSans"/>
                <a:cs typeface="MiSans"/>
              </a:rPr>
              <a:t>Salida</a:t>
            </a:r>
            <a:endParaRPr lang="en-US" sz="1600"/>
          </a:p>
        </p:txBody>
      </p:sp>
      <p:sp>
        <p:nvSpPr>
          <p:cNvPr id="211352962" name="Text 57"/>
          <p:cNvSpPr/>
          <p:nvPr/>
        </p:nvSpPr>
        <p:spPr bwMode="auto">
          <a:xfrm>
            <a:off x="8372475" y="4867274"/>
            <a:ext cx="2838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>
                <a:solidFill>
                  <a:srgbClr val="E0E2E5">
                    <a:alpha val="80000"/>
                  </a:srgbClr>
                </a:solidFill>
                <a:latin typeface="MiSans"/>
                <a:ea typeface="MiSans"/>
                <a:cs typeface="MiSans"/>
              </a:rPr>
              <a:t>Modelo predictivo viable y parsimonioso</a:t>
            </a:r>
            <a:endParaRPr lang="en-US" sz="1600"/>
          </a:p>
        </p:txBody>
      </p:sp>
      <p:sp>
        <p:nvSpPr>
          <p:cNvPr id="184324637" name="Shape 58"/>
          <p:cNvSpPr/>
          <p:nvPr/>
        </p:nvSpPr>
        <p:spPr bwMode="auto">
          <a:xfrm>
            <a:off x="9534525" y="5610225"/>
            <a:ext cx="438149" cy="438149"/>
          </a:xfrm>
          <a:custGeom>
            <a:avLst/>
            <a:gdLst/>
            <a:ahLst/>
            <a:cxnLst/>
            <a:rect l="l" t="t" r="r" b="b"/>
            <a:pathLst>
              <a:path w="438150" h="438150" fill="norm" stroke="1" extrusionOk="0">
                <a:moveTo>
                  <a:pt x="219075" y="0"/>
                </a:moveTo>
                <a:lnTo>
                  <a:pt x="219075" y="0"/>
                </a:lnTo>
                <a:cubicBezTo>
                  <a:pt x="339986" y="0"/>
                  <a:pt x="438150" y="98164"/>
                  <a:pt x="438150" y="219075"/>
                </a:cubicBezTo>
                <a:lnTo>
                  <a:pt x="438150" y="219075"/>
                </a:lnTo>
                <a:cubicBezTo>
                  <a:pt x="438150" y="339986"/>
                  <a:pt x="339986" y="438150"/>
                  <a:pt x="219075" y="438150"/>
                </a:cubicBezTo>
                <a:lnTo>
                  <a:pt x="219075" y="438150"/>
                </a:lnTo>
                <a:cubicBezTo>
                  <a:pt x="98164" y="438150"/>
                  <a:pt x="0" y="339986"/>
                  <a:pt x="0" y="219075"/>
                </a:cubicBezTo>
                <a:lnTo>
                  <a:pt x="0" y="219075"/>
                </a:lnTo>
                <a:cubicBezTo>
                  <a:pt x="0" y="98164"/>
                  <a:pt x="98164" y="0"/>
                  <a:pt x="219075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385008898" name="Shape 59"/>
          <p:cNvSpPr/>
          <p:nvPr/>
        </p:nvSpPr>
        <p:spPr bwMode="auto">
          <a:xfrm>
            <a:off x="9670256" y="5734050"/>
            <a:ext cx="166687" cy="190500"/>
          </a:xfrm>
          <a:custGeom>
            <a:avLst/>
            <a:gdLst/>
            <a:ahLst/>
            <a:cxnLst/>
            <a:rect l="l" t="t" r="r" b="b"/>
            <a:pathLst>
              <a:path w="166688" h="190500" fill="norm" stroke="1" extrusionOk="0">
                <a:moveTo>
                  <a:pt x="161776" y="26082"/>
                </a:moveTo>
                <a:cubicBezTo>
                  <a:pt x="167097" y="29952"/>
                  <a:pt x="168287" y="37393"/>
                  <a:pt x="164418" y="42714"/>
                </a:cubicBezTo>
                <a:lnTo>
                  <a:pt x="69168" y="173682"/>
                </a:lnTo>
                <a:cubicBezTo>
                  <a:pt x="67121" y="176510"/>
                  <a:pt x="63959" y="178259"/>
                  <a:pt x="60461" y="178557"/>
                </a:cubicBezTo>
                <a:cubicBezTo>
                  <a:pt x="56964" y="178854"/>
                  <a:pt x="53578" y="177552"/>
                  <a:pt x="51122" y="175096"/>
                </a:cubicBezTo>
                <a:lnTo>
                  <a:pt x="3497" y="127471"/>
                </a:lnTo>
                <a:cubicBezTo>
                  <a:pt x="-1153" y="122820"/>
                  <a:pt x="-1153" y="115267"/>
                  <a:pt x="3497" y="110617"/>
                </a:cubicBezTo>
                <a:cubicBezTo>
                  <a:pt x="8148" y="105966"/>
                  <a:pt x="15701" y="105966"/>
                  <a:pt x="20352" y="110617"/>
                </a:cubicBezTo>
                <a:lnTo>
                  <a:pt x="58117" y="148382"/>
                </a:lnTo>
                <a:lnTo>
                  <a:pt x="145182" y="28687"/>
                </a:lnTo>
                <a:cubicBezTo>
                  <a:pt x="149051" y="23366"/>
                  <a:pt x="156493" y="22175"/>
                  <a:pt x="161813" y="26045"/>
                </a:cubicBezTo>
                <a:close/>
              </a:path>
            </a:pathLst>
          </a:custGeom>
          <a:solidFill>
            <a:srgbClr val="4ECDC4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bg>
      <p:bgPr shadeToTitle="0">
        <a:solidFill>
          <a:srgbClr val="1A1D2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8743268" name="Shape 0"/>
          <p:cNvSpPr/>
          <p:nvPr/>
        </p:nvSpPr>
        <p:spPr bwMode="auto">
          <a:xfrm>
            <a:off x="317500" y="234950"/>
            <a:ext cx="47625" cy="317500"/>
          </a:xfrm>
          <a:custGeom>
            <a:avLst/>
            <a:gdLst/>
            <a:ahLst/>
            <a:cxnLst/>
            <a:rect l="l" t="t" r="r" b="b"/>
            <a:pathLst>
              <a:path w="47625" h="317500" fill="norm" stroke="1" extrusionOk="0">
                <a:moveTo>
                  <a:pt x="23813" y="0"/>
                </a:moveTo>
                <a:lnTo>
                  <a:pt x="23813" y="0"/>
                </a:lnTo>
                <a:cubicBezTo>
                  <a:pt x="36955" y="0"/>
                  <a:pt x="47625" y="10670"/>
                  <a:pt x="47625" y="23813"/>
                </a:cubicBezTo>
                <a:lnTo>
                  <a:pt x="47625" y="293688"/>
                </a:lnTo>
                <a:cubicBezTo>
                  <a:pt x="47625" y="306830"/>
                  <a:pt x="36955" y="317500"/>
                  <a:pt x="23813" y="317500"/>
                </a:cubicBezTo>
                <a:lnTo>
                  <a:pt x="23813" y="317500"/>
                </a:lnTo>
                <a:cubicBezTo>
                  <a:pt x="10670" y="317500"/>
                  <a:pt x="0" y="306830"/>
                  <a:pt x="0" y="293688"/>
                </a:cubicBezTo>
                <a:lnTo>
                  <a:pt x="0" y="23813"/>
                </a:lnTo>
                <a:cubicBezTo>
                  <a:pt x="0" y="10670"/>
                  <a:pt x="10670" y="0"/>
                  <a:pt x="23812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603320666" name="Text 1"/>
          <p:cNvSpPr/>
          <p:nvPr/>
        </p:nvSpPr>
        <p:spPr bwMode="auto">
          <a:xfrm flipH="0" flipV="0">
            <a:off x="460374" y="215899"/>
            <a:ext cx="13029826" cy="380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  <a:defRPr/>
            </a:pPr>
            <a:r>
              <a:rPr lang="en-US" sz="3000" b="1">
                <a:solidFill>
                  <a:srgbClr val="E0E2E5"/>
                </a:solidFill>
                <a:latin typeface="MiSans"/>
                <a:ea typeface="MiSans"/>
                <a:cs typeface="MiSans"/>
              </a:rPr>
              <a:t>Conclusiones: Validación del Enfoque Estadístico</a:t>
            </a:r>
            <a:endParaRPr lang="en-US" sz="1600"/>
          </a:p>
        </p:txBody>
      </p:sp>
      <p:sp>
        <p:nvSpPr>
          <p:cNvPr id="1138600876" name="Shape 2"/>
          <p:cNvSpPr/>
          <p:nvPr/>
        </p:nvSpPr>
        <p:spPr bwMode="auto">
          <a:xfrm flipH="0" flipV="0">
            <a:off x="317499" y="829468"/>
            <a:ext cx="11541124" cy="1278730"/>
          </a:xfrm>
          <a:custGeom>
            <a:avLst/>
            <a:gdLst/>
            <a:ahLst/>
            <a:cxnLst/>
            <a:rect l="l" t="t" r="r" b="b"/>
            <a:pathLst>
              <a:path w="11541125" h="1468438" fill="norm" stroke="1" extrusionOk="0">
                <a:moveTo>
                  <a:pt x="0" y="0"/>
                </a:moveTo>
                <a:lnTo>
                  <a:pt x="11414120" y="0"/>
                </a:lnTo>
                <a:cubicBezTo>
                  <a:pt x="11484263" y="0"/>
                  <a:pt x="11541125" y="56862"/>
                  <a:pt x="11541125" y="127005"/>
                </a:cubicBezTo>
                <a:lnTo>
                  <a:pt x="11541125" y="1341432"/>
                </a:lnTo>
                <a:cubicBezTo>
                  <a:pt x="11541125" y="1411575"/>
                  <a:pt x="11484263" y="1468438"/>
                  <a:pt x="11414120" y="1468438"/>
                </a:cubicBezTo>
                <a:lnTo>
                  <a:pt x="0" y="1468438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</p:sp>
      <p:sp>
        <p:nvSpPr>
          <p:cNvPr id="1716066008" name="Shape 3"/>
          <p:cNvSpPr/>
          <p:nvPr/>
        </p:nvSpPr>
        <p:spPr bwMode="auto">
          <a:xfrm>
            <a:off x="333375" y="635000"/>
            <a:ext cx="31750" cy="1468438"/>
          </a:xfrm>
          <a:custGeom>
            <a:avLst/>
            <a:gdLst/>
            <a:ahLst/>
            <a:cxnLst/>
            <a:rect l="l" t="t" r="r" b="b"/>
            <a:pathLst>
              <a:path w="31750" h="1468438" fill="norm" stroke="1" extrusionOk="0">
                <a:moveTo>
                  <a:pt x="0" y="0"/>
                </a:moveTo>
                <a:lnTo>
                  <a:pt x="31750" y="0"/>
                </a:lnTo>
                <a:lnTo>
                  <a:pt x="31750" y="1468438"/>
                </a:lnTo>
                <a:lnTo>
                  <a:pt x="0" y="1468438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104821293" name="Shape 4"/>
          <p:cNvSpPr/>
          <p:nvPr/>
        </p:nvSpPr>
        <p:spPr bwMode="auto">
          <a:xfrm>
            <a:off x="539750" y="825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 fill="norm" stroke="1" extrusionOk="0">
                <a:moveTo>
                  <a:pt x="127000" y="0"/>
                </a:moveTo>
                <a:lnTo>
                  <a:pt x="381000" y="0"/>
                </a:lnTo>
                <a:cubicBezTo>
                  <a:pt x="451093" y="0"/>
                  <a:pt x="508000" y="56907"/>
                  <a:pt x="508000" y="127000"/>
                </a:cubicBezTo>
                <a:lnTo>
                  <a:pt x="508000" y="381000"/>
                </a:lnTo>
                <a:cubicBezTo>
                  <a:pt x="508000" y="451093"/>
                  <a:pt x="451093" y="508000"/>
                  <a:pt x="381000" y="508000"/>
                </a:cubicBezTo>
                <a:lnTo>
                  <a:pt x="127000" y="508000"/>
                </a:lnTo>
                <a:cubicBezTo>
                  <a:pt x="56907" y="508000"/>
                  <a:pt x="0" y="451093"/>
                  <a:pt x="0" y="381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45204614" name="Shape 5"/>
          <p:cNvSpPr/>
          <p:nvPr/>
        </p:nvSpPr>
        <p:spPr bwMode="auto">
          <a:xfrm>
            <a:off x="676672" y="960438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 fill="norm" stroke="1" extrusionOk="0">
                <a:moveTo>
                  <a:pt x="22324" y="119062"/>
                </a:moveTo>
                <a:cubicBezTo>
                  <a:pt x="22324" y="65624"/>
                  <a:pt x="65624" y="22324"/>
                  <a:pt x="119062" y="22324"/>
                </a:cubicBezTo>
                <a:cubicBezTo>
                  <a:pt x="148410" y="22324"/>
                  <a:pt x="174687" y="35393"/>
                  <a:pt x="192453" y="56043"/>
                </a:cubicBezTo>
                <a:cubicBezTo>
                  <a:pt x="196453" y="60740"/>
                  <a:pt x="203522" y="61252"/>
                  <a:pt x="208173" y="57252"/>
                </a:cubicBezTo>
                <a:cubicBezTo>
                  <a:pt x="212824" y="53253"/>
                  <a:pt x="213382" y="46183"/>
                  <a:pt x="209383" y="41532"/>
                </a:cubicBezTo>
                <a:cubicBezTo>
                  <a:pt x="187570" y="16092"/>
                  <a:pt x="155200" y="0"/>
                  <a:pt x="119062" y="0"/>
                </a:cubicBezTo>
                <a:cubicBezTo>
                  <a:pt x="53299" y="0"/>
                  <a:pt x="0" y="53299"/>
                  <a:pt x="0" y="119062"/>
                </a:cubicBezTo>
                <a:lnTo>
                  <a:pt x="0" y="137666"/>
                </a:lnTo>
                <a:cubicBezTo>
                  <a:pt x="0" y="143852"/>
                  <a:pt x="4976" y="148828"/>
                  <a:pt x="11162" y="148828"/>
                </a:cubicBezTo>
                <a:cubicBezTo>
                  <a:pt x="17348" y="148828"/>
                  <a:pt x="22324" y="143852"/>
                  <a:pt x="22324" y="137666"/>
                </a:cubicBezTo>
                <a:lnTo>
                  <a:pt x="22324" y="119062"/>
                </a:lnTo>
                <a:close/>
                <a:moveTo>
                  <a:pt x="235567" y="94459"/>
                </a:moveTo>
                <a:cubicBezTo>
                  <a:pt x="234311" y="88413"/>
                  <a:pt x="228358" y="84553"/>
                  <a:pt x="222359" y="85855"/>
                </a:cubicBezTo>
                <a:cubicBezTo>
                  <a:pt x="216359" y="87157"/>
                  <a:pt x="212452" y="93064"/>
                  <a:pt x="213754" y="99064"/>
                </a:cubicBezTo>
                <a:cubicBezTo>
                  <a:pt x="215103" y="105528"/>
                  <a:pt x="215847" y="112226"/>
                  <a:pt x="215847" y="119109"/>
                </a:cubicBezTo>
                <a:lnTo>
                  <a:pt x="215847" y="137713"/>
                </a:lnTo>
                <a:cubicBezTo>
                  <a:pt x="215847" y="143898"/>
                  <a:pt x="220824" y="148875"/>
                  <a:pt x="227009" y="148875"/>
                </a:cubicBezTo>
                <a:cubicBezTo>
                  <a:pt x="233195" y="148875"/>
                  <a:pt x="238172" y="143898"/>
                  <a:pt x="238172" y="137713"/>
                </a:cubicBezTo>
                <a:lnTo>
                  <a:pt x="238172" y="119109"/>
                </a:lnTo>
                <a:cubicBezTo>
                  <a:pt x="238172" y="110691"/>
                  <a:pt x="237288" y="102459"/>
                  <a:pt x="235614" y="94506"/>
                </a:cubicBezTo>
                <a:close/>
                <a:moveTo>
                  <a:pt x="119062" y="37207"/>
                </a:moveTo>
                <a:cubicBezTo>
                  <a:pt x="110226" y="37207"/>
                  <a:pt x="101668" y="38602"/>
                  <a:pt x="93715" y="41207"/>
                </a:cubicBezTo>
                <a:cubicBezTo>
                  <a:pt x="86646" y="43532"/>
                  <a:pt x="85018" y="52229"/>
                  <a:pt x="89855" y="57903"/>
                </a:cubicBezTo>
                <a:cubicBezTo>
                  <a:pt x="93157" y="61764"/>
                  <a:pt x="98599" y="62926"/>
                  <a:pt x="103529" y="61578"/>
                </a:cubicBezTo>
                <a:cubicBezTo>
                  <a:pt x="108458" y="60229"/>
                  <a:pt x="113667" y="59531"/>
                  <a:pt x="119062" y="59531"/>
                </a:cubicBezTo>
                <a:cubicBezTo>
                  <a:pt x="151944" y="59531"/>
                  <a:pt x="178594" y="86181"/>
                  <a:pt x="178594" y="119062"/>
                </a:cubicBezTo>
                <a:lnTo>
                  <a:pt x="178594" y="130643"/>
                </a:lnTo>
                <a:cubicBezTo>
                  <a:pt x="178594" y="142363"/>
                  <a:pt x="177896" y="154037"/>
                  <a:pt x="176547" y="165664"/>
                </a:cubicBezTo>
                <a:cubicBezTo>
                  <a:pt x="175757" y="172455"/>
                  <a:pt x="180919" y="178594"/>
                  <a:pt x="187802" y="178594"/>
                </a:cubicBezTo>
                <a:cubicBezTo>
                  <a:pt x="193291" y="178594"/>
                  <a:pt x="197988" y="174594"/>
                  <a:pt x="198639" y="169152"/>
                </a:cubicBezTo>
                <a:cubicBezTo>
                  <a:pt x="200174" y="156409"/>
                  <a:pt x="200964" y="143573"/>
                  <a:pt x="200964" y="130690"/>
                </a:cubicBezTo>
                <a:lnTo>
                  <a:pt x="200964" y="119109"/>
                </a:lnTo>
                <a:cubicBezTo>
                  <a:pt x="200964" y="73902"/>
                  <a:pt x="164316" y="37254"/>
                  <a:pt x="119109" y="37254"/>
                </a:cubicBezTo>
                <a:close/>
                <a:moveTo>
                  <a:pt x="70089" y="69159"/>
                </a:moveTo>
                <a:cubicBezTo>
                  <a:pt x="65856" y="64229"/>
                  <a:pt x="58322" y="63857"/>
                  <a:pt x="54322" y="68973"/>
                </a:cubicBezTo>
                <a:cubicBezTo>
                  <a:pt x="43579" y="82832"/>
                  <a:pt x="37207" y="100180"/>
                  <a:pt x="37207" y="119062"/>
                </a:cubicBezTo>
                <a:lnTo>
                  <a:pt x="37207" y="130643"/>
                </a:lnTo>
                <a:cubicBezTo>
                  <a:pt x="37207" y="141898"/>
                  <a:pt x="35998" y="153153"/>
                  <a:pt x="33579" y="164083"/>
                </a:cubicBezTo>
                <a:cubicBezTo>
                  <a:pt x="31998" y="171338"/>
                  <a:pt x="37254" y="178547"/>
                  <a:pt x="44695" y="178547"/>
                </a:cubicBezTo>
                <a:cubicBezTo>
                  <a:pt x="49578" y="178547"/>
                  <a:pt x="53950" y="175292"/>
                  <a:pt x="55020" y="170501"/>
                </a:cubicBezTo>
                <a:cubicBezTo>
                  <a:pt x="57996" y="157432"/>
                  <a:pt x="59531" y="144084"/>
                  <a:pt x="59531" y="130597"/>
                </a:cubicBezTo>
                <a:lnTo>
                  <a:pt x="59531" y="119016"/>
                </a:lnTo>
                <a:cubicBezTo>
                  <a:pt x="59531" y="106366"/>
                  <a:pt x="63484" y="94645"/>
                  <a:pt x="70182" y="85018"/>
                </a:cubicBezTo>
                <a:cubicBezTo>
                  <a:pt x="73530" y="80181"/>
                  <a:pt x="73902" y="73577"/>
                  <a:pt x="70089" y="69112"/>
                </a:cubicBezTo>
                <a:close/>
                <a:moveTo>
                  <a:pt x="119062" y="74414"/>
                </a:moveTo>
                <a:cubicBezTo>
                  <a:pt x="94413" y="74414"/>
                  <a:pt x="74414" y="94413"/>
                  <a:pt x="74414" y="119062"/>
                </a:cubicBezTo>
                <a:lnTo>
                  <a:pt x="74414" y="130643"/>
                </a:lnTo>
                <a:cubicBezTo>
                  <a:pt x="74414" y="147340"/>
                  <a:pt x="72275" y="163897"/>
                  <a:pt x="67996" y="179989"/>
                </a:cubicBezTo>
                <a:cubicBezTo>
                  <a:pt x="66229" y="186640"/>
                  <a:pt x="71112" y="193477"/>
                  <a:pt x="77995" y="193477"/>
                </a:cubicBezTo>
                <a:cubicBezTo>
                  <a:pt x="82414" y="193477"/>
                  <a:pt x="86320" y="190593"/>
                  <a:pt x="87483" y="186314"/>
                </a:cubicBezTo>
                <a:cubicBezTo>
                  <a:pt x="92366" y="168176"/>
                  <a:pt x="94878" y="149479"/>
                  <a:pt x="94878" y="130643"/>
                </a:cubicBezTo>
                <a:lnTo>
                  <a:pt x="94878" y="119063"/>
                </a:lnTo>
                <a:cubicBezTo>
                  <a:pt x="94878" y="105714"/>
                  <a:pt x="105714" y="94878"/>
                  <a:pt x="119062" y="94878"/>
                </a:cubicBezTo>
                <a:cubicBezTo>
                  <a:pt x="132411" y="94878"/>
                  <a:pt x="143247" y="105714"/>
                  <a:pt x="143247" y="119063"/>
                </a:cubicBezTo>
                <a:lnTo>
                  <a:pt x="143247" y="130643"/>
                </a:lnTo>
                <a:cubicBezTo>
                  <a:pt x="143247" y="147526"/>
                  <a:pt x="141619" y="164316"/>
                  <a:pt x="138410" y="180826"/>
                </a:cubicBezTo>
                <a:cubicBezTo>
                  <a:pt x="137154" y="187291"/>
                  <a:pt x="141991" y="193477"/>
                  <a:pt x="148549" y="193477"/>
                </a:cubicBezTo>
                <a:cubicBezTo>
                  <a:pt x="153293" y="193477"/>
                  <a:pt x="157386" y="190221"/>
                  <a:pt x="158316" y="185570"/>
                </a:cubicBezTo>
                <a:cubicBezTo>
                  <a:pt x="161897" y="167525"/>
                  <a:pt x="163711" y="149154"/>
                  <a:pt x="163711" y="130643"/>
                </a:cubicBezTo>
                <a:lnTo>
                  <a:pt x="163711" y="119063"/>
                </a:lnTo>
                <a:cubicBezTo>
                  <a:pt x="163711" y="94413"/>
                  <a:pt x="143712" y="74414"/>
                  <a:pt x="119063" y="74414"/>
                </a:cubicBezTo>
                <a:close/>
                <a:moveTo>
                  <a:pt x="130225" y="119062"/>
                </a:moveTo>
                <a:cubicBezTo>
                  <a:pt x="130225" y="112877"/>
                  <a:pt x="125248" y="107900"/>
                  <a:pt x="119062" y="107900"/>
                </a:cubicBezTo>
                <a:cubicBezTo>
                  <a:pt x="112877" y="107900"/>
                  <a:pt x="107900" y="112877"/>
                  <a:pt x="107900" y="119062"/>
                </a:cubicBezTo>
                <a:lnTo>
                  <a:pt x="107900" y="130643"/>
                </a:lnTo>
                <a:cubicBezTo>
                  <a:pt x="107900" y="158502"/>
                  <a:pt x="102784" y="186128"/>
                  <a:pt x="92785" y="212127"/>
                </a:cubicBezTo>
                <a:lnTo>
                  <a:pt x="90041" y="219242"/>
                </a:lnTo>
                <a:cubicBezTo>
                  <a:pt x="87809" y="225010"/>
                  <a:pt x="90692" y="231474"/>
                  <a:pt x="96459" y="233660"/>
                </a:cubicBezTo>
                <a:cubicBezTo>
                  <a:pt x="102226" y="235846"/>
                  <a:pt x="108691" y="233009"/>
                  <a:pt x="110877" y="227242"/>
                </a:cubicBezTo>
                <a:lnTo>
                  <a:pt x="113621" y="220126"/>
                </a:lnTo>
                <a:cubicBezTo>
                  <a:pt x="124597" y="191570"/>
                  <a:pt x="130225" y="161246"/>
                  <a:pt x="130225" y="130643"/>
                </a:cubicBezTo>
                <a:lnTo>
                  <a:pt x="130225" y="119062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901817916" name="Shape 6"/>
          <p:cNvSpPr/>
          <p:nvPr/>
        </p:nvSpPr>
        <p:spPr bwMode="auto">
          <a:xfrm>
            <a:off x="1238249" y="896936"/>
            <a:ext cx="1000125" cy="230188"/>
          </a:xfrm>
          <a:custGeom>
            <a:avLst/>
            <a:gdLst/>
            <a:ahLst/>
            <a:cxnLst/>
            <a:rect l="l" t="t" r="r" b="b"/>
            <a:pathLst>
              <a:path w="1000125" h="230188" fill="norm" stroke="1" extrusionOk="0">
                <a:moveTo>
                  <a:pt x="115094" y="0"/>
                </a:moveTo>
                <a:lnTo>
                  <a:pt x="885031" y="0"/>
                </a:lnTo>
                <a:cubicBezTo>
                  <a:pt x="948553" y="0"/>
                  <a:pt x="1000125" y="51572"/>
                  <a:pt x="1000125" y="115094"/>
                </a:cubicBezTo>
                <a:lnTo>
                  <a:pt x="1000125" y="115094"/>
                </a:lnTo>
                <a:cubicBezTo>
                  <a:pt x="1000125" y="178616"/>
                  <a:pt x="948553" y="230188"/>
                  <a:pt x="885031" y="230188"/>
                </a:cubicBezTo>
                <a:lnTo>
                  <a:pt x="115094" y="230188"/>
                </a:lnTo>
                <a:cubicBezTo>
                  <a:pt x="51572" y="230188"/>
                  <a:pt x="0" y="178616"/>
                  <a:pt x="0" y="115094"/>
                </a:cubicBezTo>
                <a:lnTo>
                  <a:pt x="0" y="115094"/>
                </a:lnTo>
                <a:cubicBezTo>
                  <a:pt x="0" y="51572"/>
                  <a:pt x="51572" y="0"/>
                  <a:pt x="115094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 w="12700">
            <a:solidFill>
              <a:srgbClr val="4ECDC4">
                <a:alpha val="40000"/>
              </a:srgbClr>
            </a:solidFill>
            <a:prstDash val="solid"/>
          </a:ln>
        </p:spPr>
      </p:sp>
      <p:sp>
        <p:nvSpPr>
          <p:cNvPr id="1433783079" name="Text 7"/>
          <p:cNvSpPr/>
          <p:nvPr/>
        </p:nvSpPr>
        <p:spPr bwMode="auto">
          <a:xfrm flipH="0" flipV="0">
            <a:off x="1178718" y="904874"/>
            <a:ext cx="1484604" cy="222249"/>
          </a:xfrm>
          <a:prstGeom prst="rect">
            <a:avLst/>
          </a:prstGeom>
          <a:noFill/>
          <a:ln/>
        </p:spPr>
        <p:txBody>
          <a:bodyPr wrap="square" lIns="95249" tIns="31749" rIns="95249" bIns="31749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00" b="1">
                <a:solidFill>
                  <a:srgbClr val="4ECDC4"/>
                </a:solidFill>
                <a:latin typeface="MiSans"/>
                <a:ea typeface="MiSans"/>
                <a:cs typeface="MiSans"/>
              </a:rPr>
              <a:t>CONCLUSIÓN 1</a:t>
            </a:r>
            <a:endParaRPr lang="en-US" sz="1600"/>
          </a:p>
        </p:txBody>
      </p:sp>
      <p:sp>
        <p:nvSpPr>
          <p:cNvPr id="431648905" name="Text 8"/>
          <p:cNvSpPr/>
          <p:nvPr/>
        </p:nvSpPr>
        <p:spPr bwMode="auto">
          <a:xfrm>
            <a:off x="1174750" y="1127125"/>
            <a:ext cx="1060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500" b="1">
                <a:solidFill>
                  <a:srgbClr val="E0E2E5"/>
                </a:solidFill>
                <a:latin typeface="MiSans"/>
                <a:ea typeface="MiSans"/>
                <a:cs typeface="MiSans"/>
              </a:rPr>
              <a:t>Huellas Digitales Estadísticas Robustas</a:t>
            </a:r>
            <a:endParaRPr lang="en-US" sz="1600"/>
          </a:p>
        </p:txBody>
      </p:sp>
      <p:sp>
        <p:nvSpPr>
          <p:cNvPr id="399265252" name="Text 9"/>
          <p:cNvSpPr/>
          <p:nvPr/>
        </p:nvSpPr>
        <p:spPr bwMode="auto">
          <a:xfrm>
            <a:off x="1174750" y="1444625"/>
            <a:ext cx="10580688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150">
                <a:solidFill>
                  <a:srgbClr val="E0E2E5">
                    <a:alpha val="80000"/>
                  </a:srgbClr>
                </a:solidFill>
                <a:latin typeface="MiSans"/>
                <a:ea typeface="MiSans"/>
                <a:cs typeface="MiSans"/>
              </a:rPr>
              <a:t>Los ataques de red presentan </a:t>
            </a:r>
            <a:r>
              <a:rPr lang="en-US" sz="1150" b="1">
                <a:solidFill>
                  <a:srgbClr val="4ECDC4"/>
                </a:solidFill>
                <a:latin typeface="MiSans"/>
                <a:ea typeface="MiSans"/>
                <a:cs typeface="MiSans"/>
              </a:rPr>
              <a:t>firmas estadísticas distinguibles</a:t>
            </a:r>
            <a:r>
              <a:rPr lang="en-US" sz="1150">
                <a:solidFill>
                  <a:srgbClr val="E0E2E5">
                    <a:alpha val="80000"/>
                  </a:srgbClr>
                </a:solidFill>
                <a:latin typeface="MiSans"/>
                <a:ea typeface="MiSans"/>
                <a:cs typeface="MiSans"/>
              </a:rPr>
              <a:t> con diferencias altamente significativas ( </a:t>
            </a:r>
            <a:r>
              <a:rPr lang="en-US" sz="1150" b="1">
                <a:solidFill>
                  <a:srgbClr val="4ECDC4"/>
                </a:solidFill>
                <a:latin typeface="MiSans"/>
                <a:ea typeface="MiSans"/>
                <a:cs typeface="MiSans"/>
              </a:rPr>
              <a:t>p &lt; 1×10⁻¹⁰</a:t>
            </a:r>
            <a:r>
              <a:rPr lang="en-US" sz="1150">
                <a:solidFill>
                  <a:srgbClr val="E0E2E5">
                    <a:alpha val="80000"/>
                  </a:srgbClr>
                </a:solidFill>
                <a:latin typeface="MiSans"/>
                <a:ea typeface="MiSans"/>
                <a:cs typeface="MiSans"/>
              </a:rPr>
              <a:t> ) y tamaños de efecto grandes ( </a:t>
            </a:r>
            <a:r>
              <a:rPr lang="en-US" sz="1150" b="1">
                <a:solidFill>
                  <a:srgbClr val="4ECDC4"/>
                </a:solidFill>
                <a:latin typeface="MiSans"/>
                <a:ea typeface="MiSans"/>
                <a:cs typeface="MiSans"/>
              </a:rPr>
              <a:t>ε² &gt; 0.49</a:t>
            </a:r>
            <a:r>
              <a:rPr lang="en-US" sz="1150">
                <a:solidFill>
                  <a:srgbClr val="E0E2E5">
                    <a:alpha val="80000"/>
                  </a:srgbClr>
                </a:solidFill>
                <a:latin typeface="MiSans"/>
                <a:ea typeface="MiSans"/>
                <a:cs typeface="MiSans"/>
              </a:rPr>
              <a:t> ). Cada tipo de ataque tiene un perfil característico identificable.</a:t>
            </a:r>
            <a:endParaRPr lang="en-US" sz="1600"/>
          </a:p>
        </p:txBody>
      </p:sp>
      <p:sp>
        <p:nvSpPr>
          <p:cNvPr id="309372583" name="Shape 10"/>
          <p:cNvSpPr/>
          <p:nvPr/>
        </p:nvSpPr>
        <p:spPr bwMode="auto">
          <a:xfrm>
            <a:off x="333375" y="2289969"/>
            <a:ext cx="11541125" cy="1468438"/>
          </a:xfrm>
          <a:custGeom>
            <a:avLst/>
            <a:gdLst/>
            <a:ahLst/>
            <a:cxnLst/>
            <a:rect l="l" t="t" r="r" b="b"/>
            <a:pathLst>
              <a:path w="11541125" h="1468438" fill="norm" stroke="1" extrusionOk="0">
                <a:moveTo>
                  <a:pt x="0" y="0"/>
                </a:moveTo>
                <a:lnTo>
                  <a:pt x="11414120" y="0"/>
                </a:lnTo>
                <a:cubicBezTo>
                  <a:pt x="11484263" y="0"/>
                  <a:pt x="11541125" y="56862"/>
                  <a:pt x="11541125" y="127005"/>
                </a:cubicBezTo>
                <a:lnTo>
                  <a:pt x="11541125" y="1341432"/>
                </a:lnTo>
                <a:cubicBezTo>
                  <a:pt x="11541125" y="1411575"/>
                  <a:pt x="11484263" y="1468438"/>
                  <a:pt x="11414120" y="1468438"/>
                </a:cubicBezTo>
                <a:lnTo>
                  <a:pt x="0" y="1468438"/>
                </a:lnTo>
                <a:lnTo>
                  <a:pt x="0" y="0"/>
                </a:lnTo>
                <a:close/>
              </a:path>
            </a:pathLst>
          </a:custGeom>
          <a:solidFill>
            <a:srgbClr val="5F85A5">
              <a:alpha val="10196"/>
            </a:srgbClr>
          </a:solidFill>
          <a:ln/>
        </p:spPr>
      </p:sp>
      <p:sp>
        <p:nvSpPr>
          <p:cNvPr id="106719767" name="Shape 11"/>
          <p:cNvSpPr/>
          <p:nvPr/>
        </p:nvSpPr>
        <p:spPr bwMode="auto">
          <a:xfrm>
            <a:off x="333375" y="2289969"/>
            <a:ext cx="31750" cy="1468438"/>
          </a:xfrm>
          <a:custGeom>
            <a:avLst/>
            <a:gdLst/>
            <a:ahLst/>
            <a:cxnLst/>
            <a:rect l="l" t="t" r="r" b="b"/>
            <a:pathLst>
              <a:path w="31750" h="1468438" fill="norm" stroke="1" extrusionOk="0">
                <a:moveTo>
                  <a:pt x="0" y="0"/>
                </a:moveTo>
                <a:lnTo>
                  <a:pt x="31750" y="0"/>
                </a:lnTo>
                <a:lnTo>
                  <a:pt x="31750" y="1468438"/>
                </a:lnTo>
                <a:lnTo>
                  <a:pt x="0" y="1468438"/>
                </a:lnTo>
                <a:lnTo>
                  <a:pt x="0" y="0"/>
                </a:lnTo>
                <a:close/>
              </a:path>
            </a:pathLst>
          </a:custGeom>
          <a:solidFill>
            <a:srgbClr val="5F85A5"/>
          </a:solidFill>
          <a:ln/>
        </p:spPr>
      </p:sp>
      <p:sp>
        <p:nvSpPr>
          <p:cNvPr id="779430715" name="Shape 12"/>
          <p:cNvSpPr/>
          <p:nvPr/>
        </p:nvSpPr>
        <p:spPr bwMode="auto">
          <a:xfrm>
            <a:off x="539750" y="2480469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 fill="norm" stroke="1" extrusionOk="0">
                <a:moveTo>
                  <a:pt x="127000" y="0"/>
                </a:moveTo>
                <a:lnTo>
                  <a:pt x="381000" y="0"/>
                </a:lnTo>
                <a:cubicBezTo>
                  <a:pt x="451093" y="0"/>
                  <a:pt x="508000" y="56907"/>
                  <a:pt x="508000" y="127000"/>
                </a:cubicBezTo>
                <a:lnTo>
                  <a:pt x="508000" y="381000"/>
                </a:lnTo>
                <a:cubicBezTo>
                  <a:pt x="508000" y="451093"/>
                  <a:pt x="451093" y="508000"/>
                  <a:pt x="381000" y="508000"/>
                </a:cubicBezTo>
                <a:lnTo>
                  <a:pt x="127000" y="508000"/>
                </a:lnTo>
                <a:cubicBezTo>
                  <a:pt x="56907" y="508000"/>
                  <a:pt x="0" y="451093"/>
                  <a:pt x="0" y="381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5F85A5"/>
          </a:solidFill>
          <a:ln/>
        </p:spPr>
      </p:sp>
      <p:sp>
        <p:nvSpPr>
          <p:cNvPr id="1683626196" name="Shape 13"/>
          <p:cNvSpPr/>
          <p:nvPr/>
        </p:nvSpPr>
        <p:spPr bwMode="auto">
          <a:xfrm>
            <a:off x="676672" y="2615406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 fill="norm" stroke="1" extrusionOk="0">
                <a:moveTo>
                  <a:pt x="212080" y="104180"/>
                </a:moveTo>
                <a:lnTo>
                  <a:pt x="145107" y="104180"/>
                </a:lnTo>
                <a:cubicBezTo>
                  <a:pt x="138922" y="104180"/>
                  <a:pt x="133945" y="99203"/>
                  <a:pt x="133945" y="93018"/>
                </a:cubicBezTo>
                <a:lnTo>
                  <a:pt x="133945" y="26045"/>
                </a:lnTo>
                <a:cubicBezTo>
                  <a:pt x="133945" y="21534"/>
                  <a:pt x="136643" y="17441"/>
                  <a:pt x="140829" y="15720"/>
                </a:cubicBezTo>
                <a:cubicBezTo>
                  <a:pt x="145014" y="13999"/>
                  <a:pt x="149805" y="14976"/>
                  <a:pt x="153014" y="18138"/>
                </a:cubicBezTo>
                <a:lnTo>
                  <a:pt x="171617" y="36742"/>
                </a:lnTo>
                <a:lnTo>
                  <a:pt x="205755" y="2604"/>
                </a:lnTo>
                <a:cubicBezTo>
                  <a:pt x="207429" y="930"/>
                  <a:pt x="209708" y="0"/>
                  <a:pt x="212080" y="0"/>
                </a:cubicBezTo>
                <a:cubicBezTo>
                  <a:pt x="214452" y="0"/>
                  <a:pt x="216731" y="930"/>
                  <a:pt x="218452" y="2651"/>
                </a:cubicBezTo>
                <a:lnTo>
                  <a:pt x="235521" y="19720"/>
                </a:lnTo>
                <a:cubicBezTo>
                  <a:pt x="237195" y="21394"/>
                  <a:pt x="238125" y="23673"/>
                  <a:pt x="238125" y="26045"/>
                </a:cubicBezTo>
                <a:cubicBezTo>
                  <a:pt x="238125" y="28417"/>
                  <a:pt x="237195" y="30696"/>
                  <a:pt x="235474" y="32417"/>
                </a:cubicBezTo>
                <a:lnTo>
                  <a:pt x="201383" y="66508"/>
                </a:lnTo>
                <a:lnTo>
                  <a:pt x="219987" y="85111"/>
                </a:lnTo>
                <a:cubicBezTo>
                  <a:pt x="223196" y="88320"/>
                  <a:pt x="224126" y="93111"/>
                  <a:pt x="222405" y="97296"/>
                </a:cubicBezTo>
                <a:cubicBezTo>
                  <a:pt x="220684" y="101482"/>
                  <a:pt x="216591" y="104180"/>
                  <a:pt x="212080" y="104180"/>
                </a:cubicBezTo>
                <a:close/>
                <a:moveTo>
                  <a:pt x="212080" y="133945"/>
                </a:moveTo>
                <a:cubicBezTo>
                  <a:pt x="216591" y="133945"/>
                  <a:pt x="220684" y="136643"/>
                  <a:pt x="222405" y="140829"/>
                </a:cubicBezTo>
                <a:cubicBezTo>
                  <a:pt x="224126" y="145014"/>
                  <a:pt x="223196" y="149805"/>
                  <a:pt x="219987" y="153014"/>
                </a:cubicBezTo>
                <a:lnTo>
                  <a:pt x="201383" y="171617"/>
                </a:lnTo>
                <a:lnTo>
                  <a:pt x="235521" y="205755"/>
                </a:lnTo>
                <a:cubicBezTo>
                  <a:pt x="237195" y="207429"/>
                  <a:pt x="238172" y="209708"/>
                  <a:pt x="238172" y="212127"/>
                </a:cubicBezTo>
                <a:cubicBezTo>
                  <a:pt x="238172" y="214545"/>
                  <a:pt x="237241" y="216777"/>
                  <a:pt x="235521" y="218498"/>
                </a:cubicBezTo>
                <a:lnTo>
                  <a:pt x="218452" y="235567"/>
                </a:lnTo>
                <a:cubicBezTo>
                  <a:pt x="216731" y="237195"/>
                  <a:pt x="214452" y="238125"/>
                  <a:pt x="212080" y="238125"/>
                </a:cubicBezTo>
                <a:cubicBezTo>
                  <a:pt x="209708" y="238125"/>
                  <a:pt x="207429" y="237195"/>
                  <a:pt x="205708" y="235474"/>
                </a:cubicBezTo>
                <a:lnTo>
                  <a:pt x="171617" y="201383"/>
                </a:lnTo>
                <a:lnTo>
                  <a:pt x="153014" y="219987"/>
                </a:lnTo>
                <a:cubicBezTo>
                  <a:pt x="149805" y="223196"/>
                  <a:pt x="145014" y="224126"/>
                  <a:pt x="140829" y="222405"/>
                </a:cubicBezTo>
                <a:cubicBezTo>
                  <a:pt x="136643" y="220684"/>
                  <a:pt x="133945" y="216591"/>
                  <a:pt x="133945" y="212080"/>
                </a:cubicBezTo>
                <a:lnTo>
                  <a:pt x="133945" y="145107"/>
                </a:lnTo>
                <a:cubicBezTo>
                  <a:pt x="133945" y="138922"/>
                  <a:pt x="138922" y="133945"/>
                  <a:pt x="145107" y="133945"/>
                </a:cubicBezTo>
                <a:lnTo>
                  <a:pt x="212080" y="133945"/>
                </a:lnTo>
                <a:close/>
                <a:moveTo>
                  <a:pt x="93018" y="133945"/>
                </a:moveTo>
                <a:cubicBezTo>
                  <a:pt x="99203" y="133945"/>
                  <a:pt x="104180" y="138922"/>
                  <a:pt x="104180" y="145107"/>
                </a:cubicBezTo>
                <a:lnTo>
                  <a:pt x="104180" y="212080"/>
                </a:lnTo>
                <a:cubicBezTo>
                  <a:pt x="104180" y="216591"/>
                  <a:pt x="101482" y="220684"/>
                  <a:pt x="97296" y="222405"/>
                </a:cubicBezTo>
                <a:cubicBezTo>
                  <a:pt x="93111" y="224126"/>
                  <a:pt x="88320" y="223196"/>
                  <a:pt x="85111" y="219987"/>
                </a:cubicBezTo>
                <a:lnTo>
                  <a:pt x="66508" y="201383"/>
                </a:lnTo>
                <a:lnTo>
                  <a:pt x="32370" y="235521"/>
                </a:lnTo>
                <a:cubicBezTo>
                  <a:pt x="30696" y="237195"/>
                  <a:pt x="28417" y="238125"/>
                  <a:pt x="26045" y="238125"/>
                </a:cubicBezTo>
                <a:cubicBezTo>
                  <a:pt x="23673" y="238125"/>
                  <a:pt x="21394" y="237195"/>
                  <a:pt x="19673" y="235474"/>
                </a:cubicBezTo>
                <a:lnTo>
                  <a:pt x="2651" y="218452"/>
                </a:lnTo>
                <a:cubicBezTo>
                  <a:pt x="930" y="216731"/>
                  <a:pt x="0" y="214452"/>
                  <a:pt x="0" y="212080"/>
                </a:cubicBezTo>
                <a:cubicBezTo>
                  <a:pt x="0" y="209708"/>
                  <a:pt x="930" y="207429"/>
                  <a:pt x="2651" y="205708"/>
                </a:cubicBezTo>
                <a:lnTo>
                  <a:pt x="36742" y="171617"/>
                </a:lnTo>
                <a:lnTo>
                  <a:pt x="18138" y="153014"/>
                </a:lnTo>
                <a:cubicBezTo>
                  <a:pt x="14929" y="149805"/>
                  <a:pt x="13999" y="145014"/>
                  <a:pt x="15720" y="140829"/>
                </a:cubicBezTo>
                <a:cubicBezTo>
                  <a:pt x="17441" y="136643"/>
                  <a:pt x="21534" y="133945"/>
                  <a:pt x="26045" y="133945"/>
                </a:cubicBezTo>
                <a:lnTo>
                  <a:pt x="93018" y="133945"/>
                </a:lnTo>
                <a:close/>
                <a:moveTo>
                  <a:pt x="26045" y="104180"/>
                </a:moveTo>
                <a:cubicBezTo>
                  <a:pt x="21534" y="104180"/>
                  <a:pt x="17441" y="101482"/>
                  <a:pt x="15720" y="97296"/>
                </a:cubicBezTo>
                <a:cubicBezTo>
                  <a:pt x="13999" y="93111"/>
                  <a:pt x="14976" y="88320"/>
                  <a:pt x="18138" y="85111"/>
                </a:cubicBezTo>
                <a:lnTo>
                  <a:pt x="36742" y="66508"/>
                </a:lnTo>
                <a:lnTo>
                  <a:pt x="2651" y="32417"/>
                </a:lnTo>
                <a:cubicBezTo>
                  <a:pt x="930" y="30696"/>
                  <a:pt x="0" y="28417"/>
                  <a:pt x="0" y="26045"/>
                </a:cubicBezTo>
                <a:cubicBezTo>
                  <a:pt x="0" y="23673"/>
                  <a:pt x="930" y="21394"/>
                  <a:pt x="2651" y="19673"/>
                </a:cubicBezTo>
                <a:lnTo>
                  <a:pt x="19673" y="2651"/>
                </a:lnTo>
                <a:cubicBezTo>
                  <a:pt x="21394" y="930"/>
                  <a:pt x="23673" y="0"/>
                  <a:pt x="26045" y="0"/>
                </a:cubicBezTo>
                <a:cubicBezTo>
                  <a:pt x="28417" y="0"/>
                  <a:pt x="30696" y="930"/>
                  <a:pt x="32417" y="2651"/>
                </a:cubicBezTo>
                <a:lnTo>
                  <a:pt x="66508" y="36742"/>
                </a:lnTo>
                <a:lnTo>
                  <a:pt x="85111" y="18138"/>
                </a:lnTo>
                <a:cubicBezTo>
                  <a:pt x="88320" y="14929"/>
                  <a:pt x="93111" y="13999"/>
                  <a:pt x="97296" y="15720"/>
                </a:cubicBezTo>
                <a:cubicBezTo>
                  <a:pt x="101482" y="17441"/>
                  <a:pt x="104180" y="21534"/>
                  <a:pt x="104180" y="26045"/>
                </a:cubicBezTo>
                <a:lnTo>
                  <a:pt x="104180" y="93018"/>
                </a:lnTo>
                <a:cubicBezTo>
                  <a:pt x="104180" y="99203"/>
                  <a:pt x="99203" y="104180"/>
                  <a:pt x="93018" y="104180"/>
                </a:cubicBezTo>
                <a:lnTo>
                  <a:pt x="26045" y="10418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871533207" name="Shape 14"/>
          <p:cNvSpPr/>
          <p:nvPr/>
        </p:nvSpPr>
        <p:spPr bwMode="auto">
          <a:xfrm>
            <a:off x="1178719" y="2484438"/>
            <a:ext cx="1016000" cy="230188"/>
          </a:xfrm>
          <a:custGeom>
            <a:avLst/>
            <a:gdLst/>
            <a:ahLst/>
            <a:cxnLst/>
            <a:rect l="l" t="t" r="r" b="b"/>
            <a:pathLst>
              <a:path w="1016000" h="230188" fill="norm" stroke="1" extrusionOk="0">
                <a:moveTo>
                  <a:pt x="115094" y="0"/>
                </a:moveTo>
                <a:lnTo>
                  <a:pt x="900906" y="0"/>
                </a:lnTo>
                <a:cubicBezTo>
                  <a:pt x="964428" y="0"/>
                  <a:pt x="1016000" y="51572"/>
                  <a:pt x="1016000" y="115094"/>
                </a:cubicBezTo>
                <a:lnTo>
                  <a:pt x="1016000" y="115094"/>
                </a:lnTo>
                <a:cubicBezTo>
                  <a:pt x="1016000" y="178616"/>
                  <a:pt x="964428" y="230188"/>
                  <a:pt x="900906" y="230188"/>
                </a:cubicBezTo>
                <a:lnTo>
                  <a:pt x="115094" y="230188"/>
                </a:lnTo>
                <a:cubicBezTo>
                  <a:pt x="51572" y="230188"/>
                  <a:pt x="0" y="178616"/>
                  <a:pt x="0" y="115094"/>
                </a:cubicBezTo>
                <a:lnTo>
                  <a:pt x="0" y="115094"/>
                </a:lnTo>
                <a:cubicBezTo>
                  <a:pt x="0" y="51572"/>
                  <a:pt x="51572" y="0"/>
                  <a:pt x="115094" y="0"/>
                </a:cubicBezTo>
                <a:close/>
              </a:path>
            </a:pathLst>
          </a:custGeom>
          <a:solidFill>
            <a:srgbClr val="5F85A5">
              <a:alpha val="20000"/>
            </a:srgbClr>
          </a:solidFill>
          <a:ln w="12700">
            <a:solidFill>
              <a:srgbClr val="5F85A5">
                <a:alpha val="40000"/>
              </a:srgbClr>
            </a:solidFill>
            <a:prstDash val="solid"/>
          </a:ln>
        </p:spPr>
      </p:sp>
      <p:sp>
        <p:nvSpPr>
          <p:cNvPr id="995450515" name="Text 15"/>
          <p:cNvSpPr/>
          <p:nvPr/>
        </p:nvSpPr>
        <p:spPr bwMode="auto">
          <a:xfrm>
            <a:off x="1174750" y="2480469"/>
            <a:ext cx="1063625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00" b="1">
                <a:solidFill>
                  <a:srgbClr val="5F85A5"/>
                </a:solidFill>
                <a:latin typeface="MiSans"/>
                <a:ea typeface="MiSans"/>
                <a:cs typeface="MiSans"/>
              </a:rPr>
              <a:t>CONCLUSIÓN 2</a:t>
            </a:r>
            <a:endParaRPr lang="en-US" sz="1600"/>
          </a:p>
        </p:txBody>
      </p:sp>
      <p:sp>
        <p:nvSpPr>
          <p:cNvPr id="1023251417" name="Text 16"/>
          <p:cNvSpPr/>
          <p:nvPr/>
        </p:nvSpPr>
        <p:spPr bwMode="auto">
          <a:xfrm>
            <a:off x="1174750" y="2782094"/>
            <a:ext cx="1060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500" b="1">
                <a:solidFill>
                  <a:srgbClr val="E0E2E5"/>
                </a:solidFill>
                <a:latin typeface="MiSans"/>
                <a:ea typeface="MiSans"/>
                <a:cs typeface="MiSans"/>
              </a:rPr>
              <a:t>Compresión Dimensional Efectiva</a:t>
            </a:r>
            <a:endParaRPr lang="en-US" sz="1600"/>
          </a:p>
        </p:txBody>
      </p:sp>
      <p:sp>
        <p:nvSpPr>
          <p:cNvPr id="1281084365" name="Text 17"/>
          <p:cNvSpPr/>
          <p:nvPr/>
        </p:nvSpPr>
        <p:spPr bwMode="auto">
          <a:xfrm>
            <a:off x="1174750" y="3099594"/>
            <a:ext cx="10580688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150" b="1">
                <a:solidFill>
                  <a:srgbClr val="5F85A5"/>
                </a:solidFill>
                <a:latin typeface="MiSans"/>
                <a:ea typeface="MiSans"/>
                <a:cs typeface="MiSans"/>
              </a:rPr>
              <a:t>8 componentes principales</a:t>
            </a:r>
            <a:r>
              <a:rPr lang="en-US" sz="1150">
                <a:solidFill>
                  <a:srgbClr val="E0E2E5">
                    <a:alpha val="80000"/>
                  </a:srgbClr>
                </a:solidFill>
                <a:latin typeface="MiSans"/>
                <a:ea typeface="MiSans"/>
                <a:cs typeface="MiSans"/>
              </a:rPr>
              <a:t> capturan el </a:t>
            </a:r>
            <a:r>
              <a:rPr lang="en-US" sz="1150" b="1">
                <a:solidFill>
                  <a:srgbClr val="5F85A5"/>
                </a:solidFill>
                <a:latin typeface="MiSans"/>
                <a:ea typeface="MiSans"/>
                <a:cs typeface="MiSans"/>
              </a:rPr>
              <a:t>71.85% de la varianza</a:t>
            </a:r>
            <a:r>
              <a:rPr lang="en-US" sz="1150">
                <a:solidFill>
                  <a:srgbClr val="E0E2E5">
                    <a:alpha val="80000"/>
                  </a:srgbClr>
                </a:solidFill>
                <a:latin typeface="MiSans"/>
                <a:ea typeface="MiSans"/>
                <a:cs typeface="MiSans"/>
              </a:rPr>
              <a:t> , logrando una reducción del </a:t>
            </a:r>
            <a:r>
              <a:rPr lang="en-US" sz="1150" b="1">
                <a:solidFill>
                  <a:srgbClr val="5F85A5"/>
                </a:solidFill>
                <a:latin typeface="MiSans"/>
                <a:ea typeface="MiSans"/>
                <a:cs typeface="MiSans"/>
              </a:rPr>
              <a:t>75% en dimensionalidad</a:t>
            </a:r>
            <a:r>
              <a:rPr lang="en-US" sz="1150">
                <a:solidFill>
                  <a:srgbClr val="E0E2E5">
                    <a:alpha val="80000"/>
                  </a:srgbClr>
                </a:solidFill>
                <a:latin typeface="MiSans"/>
                <a:ea typeface="MiSans"/>
                <a:cs typeface="MiSans"/>
              </a:rPr>
              <a:t> sin pérdida de información crítica para la clasificación. La parsimonia es viable.</a:t>
            </a:r>
            <a:endParaRPr lang="en-US" sz="1600"/>
          </a:p>
        </p:txBody>
      </p:sp>
      <p:sp>
        <p:nvSpPr>
          <p:cNvPr id="722623224" name="Shape 18"/>
          <p:cNvSpPr/>
          <p:nvPr/>
        </p:nvSpPr>
        <p:spPr bwMode="auto">
          <a:xfrm>
            <a:off x="333375" y="3944937"/>
            <a:ext cx="11541125" cy="1468438"/>
          </a:xfrm>
          <a:custGeom>
            <a:avLst/>
            <a:gdLst/>
            <a:ahLst/>
            <a:cxnLst/>
            <a:rect l="l" t="t" r="r" b="b"/>
            <a:pathLst>
              <a:path w="11541125" h="1468438" fill="norm" stroke="1" extrusionOk="0">
                <a:moveTo>
                  <a:pt x="0" y="0"/>
                </a:moveTo>
                <a:lnTo>
                  <a:pt x="11414120" y="0"/>
                </a:lnTo>
                <a:cubicBezTo>
                  <a:pt x="11484263" y="0"/>
                  <a:pt x="11541125" y="56862"/>
                  <a:pt x="11541125" y="127005"/>
                </a:cubicBezTo>
                <a:lnTo>
                  <a:pt x="11541125" y="1341432"/>
                </a:lnTo>
                <a:cubicBezTo>
                  <a:pt x="11541125" y="1411575"/>
                  <a:pt x="11484263" y="1468438"/>
                  <a:pt x="11414120" y="1468438"/>
                </a:cubicBezTo>
                <a:lnTo>
                  <a:pt x="0" y="1468438"/>
                </a:lnTo>
                <a:lnTo>
                  <a:pt x="0" y="0"/>
                </a:lnTo>
                <a:close/>
              </a:path>
            </a:pathLst>
          </a:custGeom>
          <a:solidFill>
            <a:srgbClr val="F39C12">
              <a:alpha val="10196"/>
            </a:srgbClr>
          </a:solidFill>
          <a:ln/>
        </p:spPr>
      </p:sp>
      <p:sp>
        <p:nvSpPr>
          <p:cNvPr id="476976670" name="Shape 19"/>
          <p:cNvSpPr/>
          <p:nvPr/>
        </p:nvSpPr>
        <p:spPr bwMode="auto">
          <a:xfrm>
            <a:off x="333375" y="3944937"/>
            <a:ext cx="31750" cy="1468438"/>
          </a:xfrm>
          <a:custGeom>
            <a:avLst/>
            <a:gdLst/>
            <a:ahLst/>
            <a:cxnLst/>
            <a:rect l="l" t="t" r="r" b="b"/>
            <a:pathLst>
              <a:path w="31750" h="1468438" fill="norm" stroke="1" extrusionOk="0">
                <a:moveTo>
                  <a:pt x="0" y="0"/>
                </a:moveTo>
                <a:lnTo>
                  <a:pt x="31750" y="0"/>
                </a:lnTo>
                <a:lnTo>
                  <a:pt x="31750" y="1468438"/>
                </a:lnTo>
                <a:lnTo>
                  <a:pt x="0" y="1468438"/>
                </a:lnTo>
                <a:lnTo>
                  <a:pt x="0" y="0"/>
                </a:lnTo>
                <a:close/>
              </a:path>
            </a:pathLst>
          </a:custGeom>
          <a:solidFill>
            <a:srgbClr val="F39C12"/>
          </a:solidFill>
          <a:ln/>
        </p:spPr>
      </p:sp>
      <p:sp>
        <p:nvSpPr>
          <p:cNvPr id="288572333" name="Shape 20"/>
          <p:cNvSpPr/>
          <p:nvPr/>
        </p:nvSpPr>
        <p:spPr bwMode="auto">
          <a:xfrm>
            <a:off x="539750" y="413543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 fill="norm" stroke="1" extrusionOk="0">
                <a:moveTo>
                  <a:pt x="127000" y="0"/>
                </a:moveTo>
                <a:lnTo>
                  <a:pt x="381000" y="0"/>
                </a:lnTo>
                <a:cubicBezTo>
                  <a:pt x="451093" y="0"/>
                  <a:pt x="508000" y="56907"/>
                  <a:pt x="508000" y="127000"/>
                </a:cubicBezTo>
                <a:lnTo>
                  <a:pt x="508000" y="381000"/>
                </a:lnTo>
                <a:cubicBezTo>
                  <a:pt x="508000" y="451093"/>
                  <a:pt x="451093" y="508000"/>
                  <a:pt x="381000" y="508000"/>
                </a:cubicBezTo>
                <a:lnTo>
                  <a:pt x="127000" y="508000"/>
                </a:lnTo>
                <a:cubicBezTo>
                  <a:pt x="56907" y="508000"/>
                  <a:pt x="0" y="451093"/>
                  <a:pt x="0" y="381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F39C12"/>
          </a:solidFill>
          <a:ln/>
        </p:spPr>
      </p:sp>
      <p:sp>
        <p:nvSpPr>
          <p:cNvPr id="340199164" name="Shape 21"/>
          <p:cNvSpPr/>
          <p:nvPr/>
        </p:nvSpPr>
        <p:spPr bwMode="auto">
          <a:xfrm>
            <a:off x="676672" y="4270375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 fill="norm" stroke="1" extrusionOk="0">
                <a:moveTo>
                  <a:pt x="55811" y="26045"/>
                </a:moveTo>
                <a:cubicBezTo>
                  <a:pt x="55811" y="11674"/>
                  <a:pt x="67484" y="0"/>
                  <a:pt x="81855" y="0"/>
                </a:cubicBezTo>
                <a:lnTo>
                  <a:pt x="93018" y="0"/>
                </a:lnTo>
                <a:cubicBezTo>
                  <a:pt x="101250" y="0"/>
                  <a:pt x="107900" y="6651"/>
                  <a:pt x="107900" y="14883"/>
                </a:cubicBezTo>
                <a:lnTo>
                  <a:pt x="107900" y="223242"/>
                </a:lnTo>
                <a:cubicBezTo>
                  <a:pt x="107900" y="231474"/>
                  <a:pt x="101250" y="238125"/>
                  <a:pt x="93018" y="238125"/>
                </a:cubicBezTo>
                <a:lnTo>
                  <a:pt x="78135" y="238125"/>
                </a:lnTo>
                <a:cubicBezTo>
                  <a:pt x="64275" y="238125"/>
                  <a:pt x="52601" y="228637"/>
                  <a:pt x="49299" y="215801"/>
                </a:cubicBezTo>
                <a:cubicBezTo>
                  <a:pt x="48974" y="215801"/>
                  <a:pt x="48695" y="215801"/>
                  <a:pt x="48369" y="215801"/>
                </a:cubicBezTo>
                <a:cubicBezTo>
                  <a:pt x="27812" y="215801"/>
                  <a:pt x="11162" y="199151"/>
                  <a:pt x="11162" y="178594"/>
                </a:cubicBezTo>
                <a:cubicBezTo>
                  <a:pt x="11162" y="170222"/>
                  <a:pt x="13953" y="162502"/>
                  <a:pt x="18604" y="156270"/>
                </a:cubicBezTo>
                <a:cubicBezTo>
                  <a:pt x="9581" y="149479"/>
                  <a:pt x="3721" y="138689"/>
                  <a:pt x="3721" y="126504"/>
                </a:cubicBezTo>
                <a:cubicBezTo>
                  <a:pt x="3721" y="112133"/>
                  <a:pt x="11906" y="99622"/>
                  <a:pt x="23813" y="93436"/>
                </a:cubicBezTo>
                <a:cubicBezTo>
                  <a:pt x="20510" y="87855"/>
                  <a:pt x="18604" y="81344"/>
                  <a:pt x="18604" y="74414"/>
                </a:cubicBezTo>
                <a:cubicBezTo>
                  <a:pt x="18604" y="53857"/>
                  <a:pt x="35254" y="37207"/>
                  <a:pt x="55811" y="37207"/>
                </a:cubicBezTo>
                <a:lnTo>
                  <a:pt x="55811" y="26045"/>
                </a:lnTo>
                <a:close/>
                <a:moveTo>
                  <a:pt x="182314" y="26045"/>
                </a:moveTo>
                <a:lnTo>
                  <a:pt x="182314" y="37207"/>
                </a:lnTo>
                <a:cubicBezTo>
                  <a:pt x="202871" y="37207"/>
                  <a:pt x="219521" y="53857"/>
                  <a:pt x="219521" y="74414"/>
                </a:cubicBezTo>
                <a:cubicBezTo>
                  <a:pt x="219521" y="81390"/>
                  <a:pt x="217615" y="87902"/>
                  <a:pt x="214313" y="93436"/>
                </a:cubicBezTo>
                <a:cubicBezTo>
                  <a:pt x="226265" y="99622"/>
                  <a:pt x="234404" y="112086"/>
                  <a:pt x="234404" y="126504"/>
                </a:cubicBezTo>
                <a:cubicBezTo>
                  <a:pt x="234404" y="138689"/>
                  <a:pt x="228544" y="149479"/>
                  <a:pt x="219521" y="156270"/>
                </a:cubicBezTo>
                <a:cubicBezTo>
                  <a:pt x="224172" y="162502"/>
                  <a:pt x="226963" y="170222"/>
                  <a:pt x="226963" y="178594"/>
                </a:cubicBezTo>
                <a:cubicBezTo>
                  <a:pt x="226963" y="199151"/>
                  <a:pt x="210313" y="215801"/>
                  <a:pt x="189756" y="215801"/>
                </a:cubicBezTo>
                <a:cubicBezTo>
                  <a:pt x="189430" y="215801"/>
                  <a:pt x="189151" y="215801"/>
                  <a:pt x="188826" y="215801"/>
                </a:cubicBezTo>
                <a:cubicBezTo>
                  <a:pt x="185524" y="228637"/>
                  <a:pt x="173850" y="238125"/>
                  <a:pt x="159990" y="238125"/>
                </a:cubicBezTo>
                <a:lnTo>
                  <a:pt x="145107" y="238125"/>
                </a:lnTo>
                <a:cubicBezTo>
                  <a:pt x="136875" y="238125"/>
                  <a:pt x="130225" y="231474"/>
                  <a:pt x="130225" y="223242"/>
                </a:cubicBezTo>
                <a:lnTo>
                  <a:pt x="130225" y="14883"/>
                </a:lnTo>
                <a:cubicBezTo>
                  <a:pt x="130225" y="6651"/>
                  <a:pt x="136875" y="0"/>
                  <a:pt x="145107" y="0"/>
                </a:cubicBezTo>
                <a:lnTo>
                  <a:pt x="156270" y="0"/>
                </a:lnTo>
                <a:cubicBezTo>
                  <a:pt x="170641" y="0"/>
                  <a:pt x="182314" y="11674"/>
                  <a:pt x="182314" y="26045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274853768" name="Shape 22"/>
          <p:cNvSpPr/>
          <p:nvPr/>
        </p:nvSpPr>
        <p:spPr bwMode="auto">
          <a:xfrm>
            <a:off x="1178719" y="4139406"/>
            <a:ext cx="1016000" cy="230188"/>
          </a:xfrm>
          <a:custGeom>
            <a:avLst/>
            <a:gdLst/>
            <a:ahLst/>
            <a:cxnLst/>
            <a:rect l="l" t="t" r="r" b="b"/>
            <a:pathLst>
              <a:path w="1016000" h="230188" fill="norm" stroke="1" extrusionOk="0">
                <a:moveTo>
                  <a:pt x="115094" y="0"/>
                </a:moveTo>
                <a:lnTo>
                  <a:pt x="900906" y="0"/>
                </a:lnTo>
                <a:cubicBezTo>
                  <a:pt x="964428" y="0"/>
                  <a:pt x="1016000" y="51572"/>
                  <a:pt x="1016000" y="115094"/>
                </a:cubicBezTo>
                <a:lnTo>
                  <a:pt x="1016000" y="115094"/>
                </a:lnTo>
                <a:cubicBezTo>
                  <a:pt x="1016000" y="178616"/>
                  <a:pt x="964428" y="230188"/>
                  <a:pt x="900906" y="230188"/>
                </a:cubicBezTo>
                <a:lnTo>
                  <a:pt x="115094" y="230188"/>
                </a:lnTo>
                <a:cubicBezTo>
                  <a:pt x="51572" y="230188"/>
                  <a:pt x="0" y="178616"/>
                  <a:pt x="0" y="115094"/>
                </a:cubicBezTo>
                <a:lnTo>
                  <a:pt x="0" y="115094"/>
                </a:lnTo>
                <a:cubicBezTo>
                  <a:pt x="0" y="51572"/>
                  <a:pt x="51572" y="0"/>
                  <a:pt x="115094" y="0"/>
                </a:cubicBezTo>
                <a:close/>
              </a:path>
            </a:pathLst>
          </a:custGeom>
          <a:solidFill>
            <a:srgbClr val="F39C12">
              <a:alpha val="20000"/>
            </a:srgbClr>
          </a:solidFill>
          <a:ln w="12700">
            <a:solidFill>
              <a:srgbClr val="F39C12">
                <a:alpha val="40000"/>
              </a:srgbClr>
            </a:solidFill>
            <a:prstDash val="solid"/>
          </a:ln>
        </p:spPr>
      </p:sp>
      <p:sp>
        <p:nvSpPr>
          <p:cNvPr id="324247739" name="Text 23"/>
          <p:cNvSpPr/>
          <p:nvPr/>
        </p:nvSpPr>
        <p:spPr bwMode="auto">
          <a:xfrm>
            <a:off x="1174750" y="4135438"/>
            <a:ext cx="1063625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00" b="1">
                <a:solidFill>
                  <a:srgbClr val="F39C12"/>
                </a:solidFill>
                <a:latin typeface="MiSans"/>
                <a:ea typeface="MiSans"/>
                <a:cs typeface="MiSans"/>
              </a:rPr>
              <a:t>CONCLUSIÓN 3</a:t>
            </a:r>
            <a:endParaRPr lang="en-US" sz="1600"/>
          </a:p>
        </p:txBody>
      </p:sp>
      <p:sp>
        <p:nvSpPr>
          <p:cNvPr id="1938183022" name="Text 24"/>
          <p:cNvSpPr/>
          <p:nvPr/>
        </p:nvSpPr>
        <p:spPr bwMode="auto">
          <a:xfrm>
            <a:off x="1174750" y="4437063"/>
            <a:ext cx="1060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500" b="1">
                <a:solidFill>
                  <a:srgbClr val="E0E2E5"/>
                </a:solidFill>
                <a:latin typeface="MiSans"/>
                <a:ea typeface="MiSans"/>
                <a:cs typeface="MiSans"/>
              </a:rPr>
              <a:t>Modelos Predictivos Viables</a:t>
            </a:r>
            <a:endParaRPr lang="en-US" sz="1600"/>
          </a:p>
        </p:txBody>
      </p:sp>
      <p:sp>
        <p:nvSpPr>
          <p:cNvPr id="1262881842" name="Text 25"/>
          <p:cNvSpPr/>
          <p:nvPr/>
        </p:nvSpPr>
        <p:spPr bwMode="auto">
          <a:xfrm>
            <a:off x="1174750" y="4754563"/>
            <a:ext cx="10580688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150">
                <a:solidFill>
                  <a:srgbClr val="E0E2E5">
                    <a:alpha val="80000"/>
                  </a:srgbClr>
                </a:solidFill>
                <a:latin typeface="MiSans"/>
                <a:ea typeface="MiSans"/>
                <a:cs typeface="MiSans"/>
              </a:rPr>
              <a:t>La </a:t>
            </a:r>
            <a:r>
              <a:rPr lang="en-US" sz="1150" b="1">
                <a:solidFill>
                  <a:srgbClr val="F39C12"/>
                </a:solidFill>
                <a:latin typeface="MiSans"/>
                <a:ea typeface="MiSans"/>
                <a:cs typeface="MiSans"/>
              </a:rPr>
              <a:t>Regresión Logística con PCA</a:t>
            </a:r>
            <a:r>
              <a:rPr lang="en-US" sz="1150">
                <a:solidFill>
                  <a:srgbClr val="E0E2E5">
                    <a:alpha val="80000"/>
                  </a:srgbClr>
                </a:solidFill>
                <a:latin typeface="MiSans"/>
                <a:ea typeface="MiSans"/>
                <a:cs typeface="MiSans"/>
              </a:rPr>
              <a:t> alcanza </a:t>
            </a:r>
            <a:r>
              <a:rPr lang="en-US" sz="1150" b="1">
                <a:solidFill>
                  <a:srgbClr val="F39C12"/>
                </a:solidFill>
                <a:latin typeface="MiSans"/>
                <a:ea typeface="MiSans"/>
                <a:cs typeface="MiSans"/>
              </a:rPr>
              <a:t>AUC = 0.9496</a:t>
            </a:r>
            <a:r>
              <a:rPr lang="en-US" sz="1150">
                <a:solidFill>
                  <a:srgbClr val="E0E2E5">
                    <a:alpha val="80000"/>
                  </a:srgbClr>
                </a:solidFill>
                <a:latin typeface="MiSans"/>
                <a:ea typeface="MiSans"/>
                <a:cs typeface="MiSans"/>
              </a:rPr>
              <a:t> . DoS y Probe están listos para producción. R2L y U2R son mejorables con técnicas de balanceo y más datos.</a:t>
            </a:r>
            <a:endParaRPr lang="en-US" sz="1600"/>
          </a:p>
        </p:txBody>
      </p:sp>
      <p:sp>
        <p:nvSpPr>
          <p:cNvPr id="632722752" name="Shape 26"/>
          <p:cNvSpPr/>
          <p:nvPr/>
        </p:nvSpPr>
        <p:spPr bwMode="auto">
          <a:xfrm>
            <a:off x="325438" y="5607844"/>
            <a:ext cx="11541125" cy="1150938"/>
          </a:xfrm>
          <a:custGeom>
            <a:avLst/>
            <a:gdLst/>
            <a:ahLst/>
            <a:cxnLst/>
            <a:rect l="l" t="t" r="r" b="b"/>
            <a:pathLst>
              <a:path w="11541125" h="1150938" fill="norm" stroke="1" extrusionOk="0">
                <a:moveTo>
                  <a:pt x="126994" y="0"/>
                </a:moveTo>
                <a:lnTo>
                  <a:pt x="11414131" y="0"/>
                </a:lnTo>
                <a:cubicBezTo>
                  <a:pt x="11484268" y="0"/>
                  <a:pt x="11541125" y="56857"/>
                  <a:pt x="11541125" y="126994"/>
                </a:cubicBezTo>
                <a:lnTo>
                  <a:pt x="11541125" y="1023943"/>
                </a:lnTo>
                <a:cubicBezTo>
                  <a:pt x="11541125" y="1094080"/>
                  <a:pt x="11484268" y="1150938"/>
                  <a:pt x="11414131" y="1150938"/>
                </a:cubicBezTo>
                <a:lnTo>
                  <a:pt x="126994" y="1150938"/>
                </a:lnTo>
                <a:cubicBezTo>
                  <a:pt x="56857" y="1150938"/>
                  <a:pt x="0" y="1094080"/>
                  <a:pt x="0" y="1023943"/>
                </a:cubicBezTo>
                <a:lnTo>
                  <a:pt x="0" y="126994"/>
                </a:lnTo>
                <a:cubicBezTo>
                  <a:pt x="0" y="56904"/>
                  <a:pt x="56904" y="0"/>
                  <a:pt x="126994" y="0"/>
                </a:cubicBezTo>
                <a:close/>
              </a:path>
            </a:pathLst>
          </a:custGeom>
          <a:gradFill>
            <a:gsLst>
              <a:gs pos="0">
                <a:srgbClr val="4ECDC4">
                  <a:alpha val="20000"/>
                </a:srgbClr>
              </a:gs>
              <a:gs pos="50000">
                <a:srgbClr val="5F85A5">
                  <a:alpha val="20000"/>
                </a:srgbClr>
              </a:gs>
              <a:gs pos="100000">
                <a:srgbClr val="F39C12">
                  <a:alpha val="20000"/>
                </a:srgbClr>
              </a:gs>
            </a:gsLst>
            <a:lin ang="0" scaled="1"/>
          </a:gradFill>
          <a:ln w="25400">
            <a:solidFill>
              <a:srgbClr val="4ECDC4"/>
            </a:solidFill>
            <a:prstDash val="solid"/>
          </a:ln>
        </p:spPr>
      </p:sp>
      <p:sp>
        <p:nvSpPr>
          <p:cNvPr id="341647178" name="Shape 27"/>
          <p:cNvSpPr/>
          <p:nvPr/>
        </p:nvSpPr>
        <p:spPr bwMode="auto">
          <a:xfrm>
            <a:off x="523875" y="5959078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 fill="norm" stroke="1" extrusionOk="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775043970" name="Shape 28"/>
          <p:cNvSpPr/>
          <p:nvPr/>
        </p:nvSpPr>
        <p:spPr bwMode="auto">
          <a:xfrm>
            <a:off x="674688" y="6086078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 fill="norm" stroke="1" extrusionOk="0">
                <a:moveTo>
                  <a:pt x="92980" y="24854"/>
                </a:moveTo>
                <a:cubicBezTo>
                  <a:pt x="96850" y="19534"/>
                  <a:pt x="95659" y="12092"/>
                  <a:pt x="90339" y="8223"/>
                </a:cubicBezTo>
                <a:cubicBezTo>
                  <a:pt x="85018" y="4353"/>
                  <a:pt x="77577" y="5544"/>
                  <a:pt x="73707" y="10864"/>
                </a:cubicBezTo>
                <a:lnTo>
                  <a:pt x="34268" y="65075"/>
                </a:lnTo>
                <a:lnTo>
                  <a:pt x="20315" y="51122"/>
                </a:lnTo>
                <a:cubicBezTo>
                  <a:pt x="15664" y="46472"/>
                  <a:pt x="8111" y="46472"/>
                  <a:pt x="3460" y="51122"/>
                </a:cubicBezTo>
                <a:cubicBezTo>
                  <a:pt x="-1191" y="55773"/>
                  <a:pt x="-1191" y="63326"/>
                  <a:pt x="3460" y="67977"/>
                </a:cubicBezTo>
                <a:lnTo>
                  <a:pt x="27273" y="91790"/>
                </a:lnTo>
                <a:cubicBezTo>
                  <a:pt x="29728" y="94245"/>
                  <a:pt x="33151" y="95510"/>
                  <a:pt x="36612" y="95250"/>
                </a:cubicBezTo>
                <a:cubicBezTo>
                  <a:pt x="40072" y="94990"/>
                  <a:pt x="43272" y="93204"/>
                  <a:pt x="45318" y="90376"/>
                </a:cubicBezTo>
                <a:lnTo>
                  <a:pt x="92943" y="24892"/>
                </a:lnTo>
                <a:close/>
                <a:moveTo>
                  <a:pt x="140605" y="75456"/>
                </a:moveTo>
                <a:cubicBezTo>
                  <a:pt x="144475" y="70135"/>
                  <a:pt x="143284" y="62694"/>
                  <a:pt x="137964" y="58824"/>
                </a:cubicBezTo>
                <a:cubicBezTo>
                  <a:pt x="132643" y="54955"/>
                  <a:pt x="125202" y="56145"/>
                  <a:pt x="121332" y="61466"/>
                </a:cubicBezTo>
                <a:lnTo>
                  <a:pt x="58080" y="148419"/>
                </a:lnTo>
                <a:lnTo>
                  <a:pt x="32221" y="122560"/>
                </a:lnTo>
                <a:cubicBezTo>
                  <a:pt x="27570" y="117909"/>
                  <a:pt x="20017" y="117909"/>
                  <a:pt x="15367" y="122560"/>
                </a:cubicBezTo>
                <a:cubicBezTo>
                  <a:pt x="10716" y="127211"/>
                  <a:pt x="10716" y="134764"/>
                  <a:pt x="15367" y="139415"/>
                </a:cubicBezTo>
                <a:lnTo>
                  <a:pt x="51085" y="175133"/>
                </a:lnTo>
                <a:cubicBezTo>
                  <a:pt x="53541" y="177589"/>
                  <a:pt x="56964" y="178854"/>
                  <a:pt x="60424" y="178594"/>
                </a:cubicBezTo>
                <a:cubicBezTo>
                  <a:pt x="63884" y="178333"/>
                  <a:pt x="67084" y="176547"/>
                  <a:pt x="69131" y="173720"/>
                </a:cubicBezTo>
                <a:lnTo>
                  <a:pt x="140568" y="75493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241687185" name="Text 29"/>
          <p:cNvSpPr/>
          <p:nvPr/>
        </p:nvSpPr>
        <p:spPr bwMode="auto">
          <a:xfrm>
            <a:off x="1095375" y="5806281"/>
            <a:ext cx="10652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250" b="1">
                <a:solidFill>
                  <a:srgbClr val="4ECDC4"/>
                </a:solidFill>
                <a:latin typeface="MiSans"/>
                <a:ea typeface="MiSans"/>
                <a:cs typeface="MiSans"/>
              </a:rPr>
              <a:t>Conclusión Final</a:t>
            </a:r>
            <a:endParaRPr lang="en-US" sz="1600"/>
          </a:p>
        </p:txBody>
      </p:sp>
      <p:sp>
        <p:nvSpPr>
          <p:cNvPr id="636553588" name="Text 30"/>
          <p:cNvSpPr/>
          <p:nvPr/>
        </p:nvSpPr>
        <p:spPr bwMode="auto">
          <a:xfrm>
            <a:off x="1095375" y="6092031"/>
            <a:ext cx="10644188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150" b="1">
                <a:solidFill>
                  <a:srgbClr val="E0E2E5"/>
                </a:solidFill>
                <a:latin typeface="MiSans"/>
                <a:ea typeface="MiSans"/>
                <a:cs typeface="MiSans"/>
              </a:rPr>
              <a:t>El análisis estadístico del tráfico de red es un enfoque complementario viable a los IDS tradicionales</a:t>
            </a:r>
            <a:r>
              <a:rPr lang="en-US" sz="1150">
                <a:solidFill>
                  <a:srgbClr val="E0E2E5"/>
                </a:solidFill>
                <a:latin typeface="MiSans"/>
                <a:ea typeface="MiSans"/>
                <a:cs typeface="MiSans"/>
              </a:rPr>
              <a:t> , capaz de detectar anomalías sin requerir conocimiento previo de ataques específicos.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3">
    <p:bg>
      <p:bgPr shadeToTitle="0">
        <a:solidFill>
          <a:srgbClr val="1A1D2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42322073" name="Image 0" descr="https://kimi-web-img.moonshot.cn/img/www.shutterstock.com/12531f60163f5a49b925890cff3139268257011b.jpg"/>
          <p:cNvPicPr>
            <a:picLocks noChangeAspect="1"/>
          </p:cNvPicPr>
          <p:nvPr/>
        </p:nvPicPr>
        <p:blipFill rotWithShape="1">
          <a:blip r:embed="rId3">
            <a:alphaModFix amt="30000"/>
          </a:blip>
          <a:stretch/>
        </p:blipFill>
        <p:spPr bwMode="auto"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998351584" name="Shape 0"/>
          <p:cNvSpPr/>
          <p:nvPr/>
        </p:nvSpPr>
        <p:spPr bwMode="auto"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fill="norm" stroke="1" extrusionOk="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5F85A5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1616879191" name="Shape 1"/>
          <p:cNvSpPr/>
          <p:nvPr/>
        </p:nvSpPr>
        <p:spPr bwMode="auto">
          <a:xfrm>
            <a:off x="809767" y="598724"/>
            <a:ext cx="855260" cy="855260"/>
          </a:xfrm>
          <a:custGeom>
            <a:avLst/>
            <a:gdLst/>
            <a:ahLst/>
            <a:cxnLst/>
            <a:rect l="l" t="t" r="r" b="b"/>
            <a:pathLst>
              <a:path w="855260" h="855260" fill="norm" stroke="1" extrusionOk="0">
                <a:moveTo>
                  <a:pt x="218365" y="0"/>
                </a:moveTo>
                <a:lnTo>
                  <a:pt x="636895" y="0"/>
                </a:lnTo>
                <a:cubicBezTo>
                  <a:pt x="757494" y="0"/>
                  <a:pt x="855260" y="97765"/>
                  <a:pt x="855260" y="218365"/>
                </a:cubicBezTo>
                <a:lnTo>
                  <a:pt x="855260" y="636895"/>
                </a:lnTo>
                <a:cubicBezTo>
                  <a:pt x="855260" y="757494"/>
                  <a:pt x="757494" y="855260"/>
                  <a:pt x="636895" y="855260"/>
                </a:cubicBezTo>
                <a:lnTo>
                  <a:pt x="218365" y="855260"/>
                </a:lnTo>
                <a:cubicBezTo>
                  <a:pt x="97765" y="855260"/>
                  <a:pt x="0" y="757494"/>
                  <a:pt x="0" y="636895"/>
                </a:cubicBezTo>
                <a:lnTo>
                  <a:pt x="0" y="218365"/>
                </a:lnTo>
                <a:cubicBezTo>
                  <a:pt x="0" y="97765"/>
                  <a:pt x="97765" y="0"/>
                  <a:pt x="218365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 w="25400">
            <a:solidFill>
              <a:srgbClr val="4ECDC4">
                <a:alpha val="50196"/>
              </a:srgbClr>
            </a:solidFill>
            <a:prstDash val="solid"/>
          </a:ln>
        </p:spPr>
      </p:sp>
      <p:sp>
        <p:nvSpPr>
          <p:cNvPr id="116109124" name="Shape 2"/>
          <p:cNvSpPr/>
          <p:nvPr/>
        </p:nvSpPr>
        <p:spPr bwMode="auto">
          <a:xfrm>
            <a:off x="930322" y="753399"/>
            <a:ext cx="614149" cy="545910"/>
          </a:xfrm>
          <a:custGeom>
            <a:avLst/>
            <a:gdLst/>
            <a:ahLst/>
            <a:cxnLst/>
            <a:rect l="l" t="t" r="r" b="b"/>
            <a:pathLst>
              <a:path w="614149" h="545910" fill="norm" stroke="1" extrusionOk="0">
                <a:moveTo>
                  <a:pt x="409433" y="153537"/>
                </a:moveTo>
                <a:cubicBezTo>
                  <a:pt x="409433" y="257175"/>
                  <a:pt x="317737" y="341194"/>
                  <a:pt x="204716" y="341194"/>
                </a:cubicBezTo>
                <a:cubicBezTo>
                  <a:pt x="176248" y="341194"/>
                  <a:pt x="149166" y="335863"/>
                  <a:pt x="124536" y="326267"/>
                </a:cubicBezTo>
                <a:lnTo>
                  <a:pt x="37531" y="372328"/>
                </a:lnTo>
                <a:cubicBezTo>
                  <a:pt x="27615" y="377553"/>
                  <a:pt x="15460" y="375740"/>
                  <a:pt x="7464" y="367850"/>
                </a:cubicBezTo>
                <a:cubicBezTo>
                  <a:pt x="-533" y="359960"/>
                  <a:pt x="-2346" y="347698"/>
                  <a:pt x="2985" y="337782"/>
                </a:cubicBezTo>
                <a:lnTo>
                  <a:pt x="40943" y="266131"/>
                </a:lnTo>
                <a:cubicBezTo>
                  <a:pt x="15247" y="234784"/>
                  <a:pt x="0" y="195760"/>
                  <a:pt x="0" y="153537"/>
                </a:cubicBezTo>
                <a:cubicBezTo>
                  <a:pt x="0" y="49900"/>
                  <a:pt x="91696" y="-34119"/>
                  <a:pt x="204716" y="-34119"/>
                </a:cubicBezTo>
                <a:cubicBezTo>
                  <a:pt x="317737" y="-34119"/>
                  <a:pt x="409433" y="49900"/>
                  <a:pt x="409433" y="153537"/>
                </a:cubicBezTo>
                <a:close/>
                <a:moveTo>
                  <a:pt x="409433" y="545910"/>
                </a:moveTo>
                <a:cubicBezTo>
                  <a:pt x="309100" y="545910"/>
                  <a:pt x="225615" y="479697"/>
                  <a:pt x="208128" y="392373"/>
                </a:cubicBezTo>
                <a:cubicBezTo>
                  <a:pt x="336076" y="390774"/>
                  <a:pt x="447284" y="299718"/>
                  <a:pt x="459546" y="176248"/>
                </a:cubicBezTo>
                <a:cubicBezTo>
                  <a:pt x="548363" y="196720"/>
                  <a:pt x="614149" y="270396"/>
                  <a:pt x="614149" y="358254"/>
                </a:cubicBezTo>
                <a:cubicBezTo>
                  <a:pt x="614149" y="400476"/>
                  <a:pt x="598902" y="439501"/>
                  <a:pt x="573206" y="470848"/>
                </a:cubicBezTo>
                <a:lnTo>
                  <a:pt x="611164" y="542499"/>
                </a:lnTo>
                <a:cubicBezTo>
                  <a:pt x="616388" y="552414"/>
                  <a:pt x="614576" y="564569"/>
                  <a:pt x="606686" y="572566"/>
                </a:cubicBezTo>
                <a:cubicBezTo>
                  <a:pt x="598796" y="580563"/>
                  <a:pt x="586534" y="582376"/>
                  <a:pt x="576618" y="577044"/>
                </a:cubicBezTo>
                <a:lnTo>
                  <a:pt x="489613" y="530983"/>
                </a:lnTo>
                <a:cubicBezTo>
                  <a:pt x="464983" y="540579"/>
                  <a:pt x="437901" y="545910"/>
                  <a:pt x="409433" y="54591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733497427" name="Text 3"/>
          <p:cNvSpPr/>
          <p:nvPr/>
        </p:nvSpPr>
        <p:spPr bwMode="auto">
          <a:xfrm flipH="0" flipV="0">
            <a:off x="800668" y="1512934"/>
            <a:ext cx="8818080" cy="873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  <a:defRPr/>
            </a:pPr>
            <a:r>
              <a:rPr lang="en-US" sz="6900" b="1">
                <a:solidFill>
                  <a:srgbClr val="E0E2E5"/>
                </a:solidFill>
                <a:latin typeface="MiSans"/>
                <a:ea typeface="MiSans"/>
                <a:cs typeface="MiSans"/>
              </a:rPr>
              <a:t>¿Preguntas?</a:t>
            </a:r>
            <a:endParaRPr lang="en-US" sz="1600"/>
          </a:p>
        </p:txBody>
      </p:sp>
      <p:sp>
        <p:nvSpPr>
          <p:cNvPr id="1554062358" name="Shape 4"/>
          <p:cNvSpPr/>
          <p:nvPr/>
        </p:nvSpPr>
        <p:spPr bwMode="auto">
          <a:xfrm>
            <a:off x="800669" y="2604756"/>
            <a:ext cx="1164609" cy="54591"/>
          </a:xfrm>
          <a:custGeom>
            <a:avLst/>
            <a:gdLst/>
            <a:ahLst/>
            <a:cxnLst/>
            <a:rect l="l" t="t" r="r" b="b"/>
            <a:pathLst>
              <a:path w="1164609" h="54591" fill="norm" stroke="1" extrusionOk="0">
                <a:moveTo>
                  <a:pt x="0" y="0"/>
                </a:moveTo>
                <a:lnTo>
                  <a:pt x="1164609" y="0"/>
                </a:lnTo>
                <a:lnTo>
                  <a:pt x="1164609" y="54591"/>
                </a:lnTo>
                <a:lnTo>
                  <a:pt x="0" y="54591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987164915" name="Shape 5"/>
          <p:cNvSpPr/>
          <p:nvPr/>
        </p:nvSpPr>
        <p:spPr bwMode="auto">
          <a:xfrm>
            <a:off x="2110854" y="2604756"/>
            <a:ext cx="582304" cy="54591"/>
          </a:xfrm>
          <a:custGeom>
            <a:avLst/>
            <a:gdLst/>
            <a:ahLst/>
            <a:cxnLst/>
            <a:rect l="l" t="t" r="r" b="b"/>
            <a:pathLst>
              <a:path w="582304" h="54591" fill="norm" stroke="1" extrusionOk="0">
                <a:moveTo>
                  <a:pt x="0" y="0"/>
                </a:moveTo>
                <a:lnTo>
                  <a:pt x="582304" y="0"/>
                </a:lnTo>
                <a:lnTo>
                  <a:pt x="582304" y="54591"/>
                </a:lnTo>
                <a:lnTo>
                  <a:pt x="0" y="54591"/>
                </a:lnTo>
                <a:lnTo>
                  <a:pt x="0" y="0"/>
                </a:lnTo>
                <a:close/>
              </a:path>
            </a:pathLst>
          </a:custGeom>
          <a:solidFill>
            <a:srgbClr val="5F85A5"/>
          </a:solidFill>
          <a:ln/>
        </p:spPr>
      </p:sp>
      <p:sp>
        <p:nvSpPr>
          <p:cNvPr id="1249581900" name="Shape 6"/>
          <p:cNvSpPr/>
          <p:nvPr/>
        </p:nvSpPr>
        <p:spPr bwMode="auto">
          <a:xfrm>
            <a:off x="2838734" y="2604756"/>
            <a:ext cx="291152" cy="54591"/>
          </a:xfrm>
          <a:custGeom>
            <a:avLst/>
            <a:gdLst/>
            <a:ahLst/>
            <a:cxnLst/>
            <a:rect l="l" t="t" r="r" b="b"/>
            <a:pathLst>
              <a:path w="291152" h="54591" fill="norm" stroke="1" extrusionOk="0">
                <a:moveTo>
                  <a:pt x="0" y="0"/>
                </a:moveTo>
                <a:lnTo>
                  <a:pt x="291152" y="0"/>
                </a:lnTo>
                <a:lnTo>
                  <a:pt x="291152" y="54591"/>
                </a:lnTo>
                <a:lnTo>
                  <a:pt x="0" y="54591"/>
                </a:lnTo>
                <a:lnTo>
                  <a:pt x="0" y="0"/>
                </a:lnTo>
                <a:close/>
              </a:path>
            </a:pathLst>
          </a:custGeom>
          <a:solidFill>
            <a:srgbClr val="F39C12"/>
          </a:solidFill>
          <a:ln/>
        </p:spPr>
      </p:sp>
      <p:sp>
        <p:nvSpPr>
          <p:cNvPr id="1621763559" name="Shape 7"/>
          <p:cNvSpPr/>
          <p:nvPr/>
        </p:nvSpPr>
        <p:spPr bwMode="auto">
          <a:xfrm>
            <a:off x="805218" y="2966801"/>
            <a:ext cx="4904096" cy="1028131"/>
          </a:xfrm>
          <a:custGeom>
            <a:avLst/>
            <a:gdLst/>
            <a:ahLst/>
            <a:cxnLst/>
            <a:rect l="l" t="t" r="r" b="b"/>
            <a:pathLst>
              <a:path w="4904096" h="1028131" fill="norm" stroke="1" extrusionOk="0">
                <a:moveTo>
                  <a:pt x="145573" y="0"/>
                </a:moveTo>
                <a:lnTo>
                  <a:pt x="4758522" y="0"/>
                </a:lnTo>
                <a:cubicBezTo>
                  <a:pt x="4838920" y="0"/>
                  <a:pt x="4904096" y="65175"/>
                  <a:pt x="4904096" y="145573"/>
                </a:cubicBezTo>
                <a:lnTo>
                  <a:pt x="4904096" y="882558"/>
                </a:lnTo>
                <a:cubicBezTo>
                  <a:pt x="4904096" y="962956"/>
                  <a:pt x="4838920" y="1028131"/>
                  <a:pt x="4758522" y="1028131"/>
                </a:cubicBezTo>
                <a:lnTo>
                  <a:pt x="145573" y="1028131"/>
                </a:lnTo>
                <a:cubicBezTo>
                  <a:pt x="65175" y="1028131"/>
                  <a:pt x="0" y="962956"/>
                  <a:pt x="0" y="882558"/>
                </a:cubicBezTo>
                <a:lnTo>
                  <a:pt x="0" y="145573"/>
                </a:lnTo>
                <a:cubicBezTo>
                  <a:pt x="0" y="65175"/>
                  <a:pt x="65175" y="0"/>
                  <a:pt x="145573" y="0"/>
                </a:cubicBezTo>
                <a:close/>
              </a:path>
            </a:pathLst>
          </a:custGeom>
          <a:solidFill>
            <a:srgbClr val="4A5C6A">
              <a:alpha val="30193"/>
            </a:srgbClr>
          </a:solidFill>
          <a:ln w="12700">
            <a:solidFill>
              <a:srgbClr val="5F85A5">
                <a:alpha val="30193"/>
              </a:srgbClr>
            </a:solidFill>
            <a:prstDash val="solid"/>
          </a:ln>
        </p:spPr>
      </p:sp>
      <p:sp>
        <p:nvSpPr>
          <p:cNvPr id="1546891313" name="Shape 8"/>
          <p:cNvSpPr/>
          <p:nvPr/>
        </p:nvSpPr>
        <p:spPr bwMode="auto">
          <a:xfrm>
            <a:off x="1032681" y="3194263"/>
            <a:ext cx="573206" cy="573206"/>
          </a:xfrm>
          <a:custGeom>
            <a:avLst/>
            <a:gdLst/>
            <a:ahLst/>
            <a:cxnLst/>
            <a:rect l="l" t="t" r="r" b="b"/>
            <a:pathLst>
              <a:path w="573206" h="573206" fill="norm" stroke="1" extrusionOk="0">
                <a:moveTo>
                  <a:pt x="109184" y="0"/>
                </a:moveTo>
                <a:lnTo>
                  <a:pt x="464022" y="0"/>
                </a:lnTo>
                <a:cubicBezTo>
                  <a:pt x="524323" y="0"/>
                  <a:pt x="573206" y="48883"/>
                  <a:pt x="573206" y="109184"/>
                </a:cubicBezTo>
                <a:lnTo>
                  <a:pt x="573206" y="464022"/>
                </a:lnTo>
                <a:cubicBezTo>
                  <a:pt x="573206" y="524323"/>
                  <a:pt x="524323" y="573206"/>
                  <a:pt x="464022" y="573206"/>
                </a:cubicBezTo>
                <a:lnTo>
                  <a:pt x="109184" y="573206"/>
                </a:lnTo>
                <a:cubicBezTo>
                  <a:pt x="48883" y="573206"/>
                  <a:pt x="0" y="524323"/>
                  <a:pt x="0" y="464022"/>
                </a:cubicBezTo>
                <a:lnTo>
                  <a:pt x="0" y="109184"/>
                </a:lnTo>
                <a:cubicBezTo>
                  <a:pt x="0" y="48883"/>
                  <a:pt x="48883" y="0"/>
                  <a:pt x="109184" y="0"/>
                </a:cubicBezTo>
                <a:close/>
              </a:path>
            </a:pathLst>
          </a:custGeom>
          <a:solidFill>
            <a:srgbClr val="5F85A5">
              <a:alpha val="20000"/>
            </a:srgbClr>
          </a:solidFill>
          <a:ln w="12700">
            <a:solidFill>
              <a:srgbClr val="5F85A5">
                <a:alpha val="40000"/>
              </a:srgbClr>
            </a:solidFill>
            <a:prstDash val="solid"/>
          </a:ln>
        </p:spPr>
      </p:sp>
      <p:sp>
        <p:nvSpPr>
          <p:cNvPr id="1896798331" name="Shape 9"/>
          <p:cNvSpPr/>
          <p:nvPr/>
        </p:nvSpPr>
        <p:spPr bwMode="auto">
          <a:xfrm>
            <a:off x="1210101" y="3371684"/>
            <a:ext cx="218364" cy="218364"/>
          </a:xfrm>
          <a:custGeom>
            <a:avLst/>
            <a:gdLst/>
            <a:ahLst/>
            <a:cxnLst/>
            <a:rect l="l" t="t" r="r" b="b"/>
            <a:pathLst>
              <a:path w="218364" h="218364" fill="norm" stroke="1" extrusionOk="0">
                <a:moveTo>
                  <a:pt x="115963" y="8615"/>
                </a:moveTo>
                <a:cubicBezTo>
                  <a:pt x="111784" y="6227"/>
                  <a:pt x="106623" y="6227"/>
                  <a:pt x="102401" y="8615"/>
                </a:cubicBezTo>
                <a:lnTo>
                  <a:pt x="6867" y="63206"/>
                </a:lnTo>
                <a:cubicBezTo>
                  <a:pt x="1493" y="66277"/>
                  <a:pt x="-1152" y="72589"/>
                  <a:pt x="426" y="78560"/>
                </a:cubicBezTo>
                <a:cubicBezTo>
                  <a:pt x="2005" y="84531"/>
                  <a:pt x="7464" y="88710"/>
                  <a:pt x="13648" y="88710"/>
                </a:cubicBezTo>
                <a:lnTo>
                  <a:pt x="27296" y="88710"/>
                </a:lnTo>
                <a:lnTo>
                  <a:pt x="27296" y="177421"/>
                </a:lnTo>
                <a:lnTo>
                  <a:pt x="27296" y="177421"/>
                </a:lnTo>
                <a:lnTo>
                  <a:pt x="5459" y="193798"/>
                </a:lnTo>
                <a:cubicBezTo>
                  <a:pt x="2005" y="196357"/>
                  <a:pt x="0" y="200409"/>
                  <a:pt x="0" y="204716"/>
                </a:cubicBezTo>
                <a:cubicBezTo>
                  <a:pt x="0" y="212265"/>
                  <a:pt x="6099" y="218364"/>
                  <a:pt x="13648" y="218364"/>
                </a:cubicBezTo>
                <a:lnTo>
                  <a:pt x="204716" y="218364"/>
                </a:lnTo>
                <a:cubicBezTo>
                  <a:pt x="212265" y="218364"/>
                  <a:pt x="218364" y="212265"/>
                  <a:pt x="218364" y="204716"/>
                </a:cubicBezTo>
                <a:cubicBezTo>
                  <a:pt x="218364" y="200409"/>
                  <a:pt x="216360" y="196357"/>
                  <a:pt x="212905" y="193798"/>
                </a:cubicBezTo>
                <a:lnTo>
                  <a:pt x="191069" y="177421"/>
                </a:lnTo>
                <a:lnTo>
                  <a:pt x="191069" y="88710"/>
                </a:lnTo>
                <a:lnTo>
                  <a:pt x="204716" y="88710"/>
                </a:lnTo>
                <a:cubicBezTo>
                  <a:pt x="210901" y="88710"/>
                  <a:pt x="216317" y="84531"/>
                  <a:pt x="217895" y="78560"/>
                </a:cubicBezTo>
                <a:cubicBezTo>
                  <a:pt x="219473" y="72589"/>
                  <a:pt x="216829" y="66277"/>
                  <a:pt x="211455" y="63206"/>
                </a:cubicBezTo>
                <a:lnTo>
                  <a:pt x="115921" y="8615"/>
                </a:lnTo>
                <a:close/>
                <a:moveTo>
                  <a:pt x="170597" y="88710"/>
                </a:moveTo>
                <a:lnTo>
                  <a:pt x="170597" y="177421"/>
                </a:lnTo>
                <a:lnTo>
                  <a:pt x="143301" y="177421"/>
                </a:lnTo>
                <a:lnTo>
                  <a:pt x="143301" y="88710"/>
                </a:lnTo>
                <a:lnTo>
                  <a:pt x="170597" y="88710"/>
                </a:lnTo>
                <a:close/>
                <a:moveTo>
                  <a:pt x="122830" y="88710"/>
                </a:moveTo>
                <a:lnTo>
                  <a:pt x="122830" y="177421"/>
                </a:lnTo>
                <a:lnTo>
                  <a:pt x="95534" y="177421"/>
                </a:lnTo>
                <a:lnTo>
                  <a:pt x="95534" y="88710"/>
                </a:lnTo>
                <a:lnTo>
                  <a:pt x="122830" y="88710"/>
                </a:lnTo>
                <a:close/>
                <a:moveTo>
                  <a:pt x="75063" y="88710"/>
                </a:moveTo>
                <a:lnTo>
                  <a:pt x="75063" y="177421"/>
                </a:lnTo>
                <a:lnTo>
                  <a:pt x="47767" y="177421"/>
                </a:lnTo>
                <a:lnTo>
                  <a:pt x="47767" y="88710"/>
                </a:lnTo>
                <a:lnTo>
                  <a:pt x="75063" y="88710"/>
                </a:lnTo>
                <a:close/>
                <a:moveTo>
                  <a:pt x="109182" y="40943"/>
                </a:moveTo>
                <a:cubicBezTo>
                  <a:pt x="116714" y="40943"/>
                  <a:pt x="122830" y="47059"/>
                  <a:pt x="122830" y="54591"/>
                </a:cubicBezTo>
                <a:cubicBezTo>
                  <a:pt x="122830" y="62123"/>
                  <a:pt x="116714" y="68239"/>
                  <a:pt x="109182" y="68239"/>
                </a:cubicBezTo>
                <a:cubicBezTo>
                  <a:pt x="101650" y="68239"/>
                  <a:pt x="95534" y="62123"/>
                  <a:pt x="95534" y="54591"/>
                </a:cubicBezTo>
                <a:cubicBezTo>
                  <a:pt x="95534" y="47059"/>
                  <a:pt x="101650" y="40943"/>
                  <a:pt x="109182" y="40943"/>
                </a:cubicBezTo>
                <a:close/>
              </a:path>
            </a:pathLst>
          </a:custGeom>
          <a:solidFill>
            <a:srgbClr val="5F85A5"/>
          </a:solidFill>
          <a:ln/>
        </p:spPr>
      </p:sp>
      <p:sp>
        <p:nvSpPr>
          <p:cNvPr id="1107086617" name="Text 10"/>
          <p:cNvSpPr/>
          <p:nvPr/>
        </p:nvSpPr>
        <p:spPr bwMode="auto">
          <a:xfrm>
            <a:off x="1792406" y="3207911"/>
            <a:ext cx="3439236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700" b="1">
                <a:solidFill>
                  <a:srgbClr val="E0E2E5"/>
                </a:solidFill>
                <a:latin typeface="MiSans"/>
                <a:ea typeface="MiSans"/>
                <a:cs typeface="MiSans"/>
              </a:rPr>
              <a:t>Universidad de La Habana</a:t>
            </a:r>
            <a:endParaRPr lang="en-US" sz="1600"/>
          </a:p>
        </p:txBody>
      </p:sp>
      <p:sp>
        <p:nvSpPr>
          <p:cNvPr id="1836016075" name="Text 11"/>
          <p:cNvSpPr/>
          <p:nvPr/>
        </p:nvSpPr>
        <p:spPr bwMode="auto">
          <a:xfrm>
            <a:off x="1792406" y="3499063"/>
            <a:ext cx="3421039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50">
                <a:solidFill>
                  <a:srgbClr val="E0E2E5">
                    <a:alpha val="70000"/>
                  </a:srgbClr>
                </a:solidFill>
                <a:latin typeface="MiSans"/>
                <a:ea typeface="MiSans"/>
                <a:cs typeface="MiSans"/>
              </a:rPr>
              <a:t>Facultad de Matemática y Computación</a:t>
            </a:r>
            <a:endParaRPr lang="en-US" sz="1600"/>
          </a:p>
        </p:txBody>
      </p:sp>
      <p:sp>
        <p:nvSpPr>
          <p:cNvPr id="680720451" name="Shape 12"/>
          <p:cNvSpPr/>
          <p:nvPr/>
        </p:nvSpPr>
        <p:spPr bwMode="auto">
          <a:xfrm>
            <a:off x="805218" y="4295183"/>
            <a:ext cx="4904096" cy="1028131"/>
          </a:xfrm>
          <a:custGeom>
            <a:avLst/>
            <a:gdLst/>
            <a:ahLst/>
            <a:cxnLst/>
            <a:rect l="l" t="t" r="r" b="b"/>
            <a:pathLst>
              <a:path w="4904096" h="1028131" fill="norm" stroke="1" extrusionOk="0">
                <a:moveTo>
                  <a:pt x="145573" y="0"/>
                </a:moveTo>
                <a:lnTo>
                  <a:pt x="4758522" y="0"/>
                </a:lnTo>
                <a:cubicBezTo>
                  <a:pt x="4838920" y="0"/>
                  <a:pt x="4904096" y="65175"/>
                  <a:pt x="4904096" y="145573"/>
                </a:cubicBezTo>
                <a:lnTo>
                  <a:pt x="4904096" y="882558"/>
                </a:lnTo>
                <a:cubicBezTo>
                  <a:pt x="4904096" y="962956"/>
                  <a:pt x="4838920" y="1028131"/>
                  <a:pt x="4758522" y="1028131"/>
                </a:cubicBezTo>
                <a:lnTo>
                  <a:pt x="145573" y="1028131"/>
                </a:lnTo>
                <a:cubicBezTo>
                  <a:pt x="65175" y="1028131"/>
                  <a:pt x="0" y="962956"/>
                  <a:pt x="0" y="882558"/>
                </a:cubicBezTo>
                <a:lnTo>
                  <a:pt x="0" y="145573"/>
                </a:lnTo>
                <a:cubicBezTo>
                  <a:pt x="0" y="65175"/>
                  <a:pt x="65175" y="0"/>
                  <a:pt x="145573" y="0"/>
                </a:cubicBezTo>
                <a:close/>
              </a:path>
            </a:pathLst>
          </a:custGeom>
          <a:solidFill>
            <a:srgbClr val="4A5C6A">
              <a:alpha val="30193"/>
            </a:srgbClr>
          </a:solidFill>
          <a:ln w="12700">
            <a:solidFill>
              <a:srgbClr val="4ECDC4">
                <a:alpha val="30193"/>
              </a:srgbClr>
            </a:solidFill>
            <a:prstDash val="solid"/>
          </a:ln>
        </p:spPr>
      </p:sp>
      <p:sp>
        <p:nvSpPr>
          <p:cNvPr id="742199639" name="Shape 13"/>
          <p:cNvSpPr/>
          <p:nvPr/>
        </p:nvSpPr>
        <p:spPr bwMode="auto">
          <a:xfrm>
            <a:off x="1032681" y="4522645"/>
            <a:ext cx="573206" cy="573206"/>
          </a:xfrm>
          <a:custGeom>
            <a:avLst/>
            <a:gdLst/>
            <a:ahLst/>
            <a:cxnLst/>
            <a:rect l="l" t="t" r="r" b="b"/>
            <a:pathLst>
              <a:path w="573206" h="573206" fill="norm" stroke="1" extrusionOk="0">
                <a:moveTo>
                  <a:pt x="109184" y="0"/>
                </a:moveTo>
                <a:lnTo>
                  <a:pt x="464022" y="0"/>
                </a:lnTo>
                <a:cubicBezTo>
                  <a:pt x="524323" y="0"/>
                  <a:pt x="573206" y="48883"/>
                  <a:pt x="573206" y="109184"/>
                </a:cubicBezTo>
                <a:lnTo>
                  <a:pt x="573206" y="464022"/>
                </a:lnTo>
                <a:cubicBezTo>
                  <a:pt x="573206" y="524323"/>
                  <a:pt x="524323" y="573206"/>
                  <a:pt x="464022" y="573206"/>
                </a:cubicBezTo>
                <a:lnTo>
                  <a:pt x="109184" y="573206"/>
                </a:lnTo>
                <a:cubicBezTo>
                  <a:pt x="48883" y="573206"/>
                  <a:pt x="0" y="524323"/>
                  <a:pt x="0" y="464022"/>
                </a:cubicBezTo>
                <a:lnTo>
                  <a:pt x="0" y="109184"/>
                </a:lnTo>
                <a:cubicBezTo>
                  <a:pt x="0" y="48883"/>
                  <a:pt x="48883" y="0"/>
                  <a:pt x="109184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 w="12700">
            <a:solidFill>
              <a:srgbClr val="4ECDC4">
                <a:alpha val="40000"/>
              </a:srgbClr>
            </a:solidFill>
            <a:prstDash val="solid"/>
          </a:ln>
        </p:spPr>
      </p:sp>
      <p:sp>
        <p:nvSpPr>
          <p:cNvPr id="1842842196" name="Shape 14"/>
          <p:cNvSpPr/>
          <p:nvPr/>
        </p:nvSpPr>
        <p:spPr bwMode="auto">
          <a:xfrm>
            <a:off x="1223749" y="4700066"/>
            <a:ext cx="191069" cy="218364"/>
          </a:xfrm>
          <a:custGeom>
            <a:avLst/>
            <a:gdLst/>
            <a:ahLst/>
            <a:cxnLst/>
            <a:rect l="l" t="t" r="r" b="b"/>
            <a:pathLst>
              <a:path w="191069" h="218364" fill="norm" stroke="1" extrusionOk="0">
                <a:moveTo>
                  <a:pt x="54591" y="0"/>
                </a:moveTo>
                <a:cubicBezTo>
                  <a:pt x="62140" y="0"/>
                  <a:pt x="68239" y="6099"/>
                  <a:pt x="68239" y="13648"/>
                </a:cubicBezTo>
                <a:lnTo>
                  <a:pt x="68239" y="27296"/>
                </a:lnTo>
                <a:lnTo>
                  <a:pt x="122830" y="27296"/>
                </a:lnTo>
                <a:lnTo>
                  <a:pt x="122830" y="13648"/>
                </a:lnTo>
                <a:cubicBezTo>
                  <a:pt x="122830" y="6099"/>
                  <a:pt x="128929" y="0"/>
                  <a:pt x="136478" y="0"/>
                </a:cubicBezTo>
                <a:cubicBezTo>
                  <a:pt x="144027" y="0"/>
                  <a:pt x="150125" y="6099"/>
                  <a:pt x="150125" y="13648"/>
                </a:cubicBezTo>
                <a:lnTo>
                  <a:pt x="150125" y="27296"/>
                </a:lnTo>
                <a:lnTo>
                  <a:pt x="163773" y="27296"/>
                </a:lnTo>
                <a:cubicBezTo>
                  <a:pt x="178828" y="27296"/>
                  <a:pt x="191069" y="39536"/>
                  <a:pt x="191069" y="54591"/>
                </a:cubicBezTo>
                <a:lnTo>
                  <a:pt x="191069" y="177421"/>
                </a:lnTo>
                <a:cubicBezTo>
                  <a:pt x="191069" y="192476"/>
                  <a:pt x="178828" y="204716"/>
                  <a:pt x="163773" y="204716"/>
                </a:cubicBezTo>
                <a:lnTo>
                  <a:pt x="27296" y="204716"/>
                </a:lnTo>
                <a:cubicBezTo>
                  <a:pt x="12240" y="204716"/>
                  <a:pt x="0" y="192476"/>
                  <a:pt x="0" y="177421"/>
                </a:cubicBezTo>
                <a:lnTo>
                  <a:pt x="0" y="54591"/>
                </a:lnTo>
                <a:cubicBezTo>
                  <a:pt x="0" y="39536"/>
                  <a:pt x="12240" y="27296"/>
                  <a:pt x="27296" y="27296"/>
                </a:cubicBezTo>
                <a:lnTo>
                  <a:pt x="40943" y="27296"/>
                </a:lnTo>
                <a:lnTo>
                  <a:pt x="40943" y="13648"/>
                </a:lnTo>
                <a:cubicBezTo>
                  <a:pt x="40943" y="6099"/>
                  <a:pt x="47042" y="0"/>
                  <a:pt x="54591" y="0"/>
                </a:cubicBezTo>
                <a:close/>
                <a:moveTo>
                  <a:pt x="27296" y="102358"/>
                </a:moveTo>
                <a:lnTo>
                  <a:pt x="27296" y="116006"/>
                </a:lnTo>
                <a:cubicBezTo>
                  <a:pt x="27296" y="119759"/>
                  <a:pt x="30366" y="122830"/>
                  <a:pt x="34119" y="122830"/>
                </a:cubicBezTo>
                <a:lnTo>
                  <a:pt x="47767" y="122830"/>
                </a:lnTo>
                <a:cubicBezTo>
                  <a:pt x="51520" y="122830"/>
                  <a:pt x="54591" y="119759"/>
                  <a:pt x="54591" y="116006"/>
                </a:cubicBezTo>
                <a:lnTo>
                  <a:pt x="54591" y="102358"/>
                </a:lnTo>
                <a:cubicBezTo>
                  <a:pt x="54591" y="98605"/>
                  <a:pt x="51520" y="95534"/>
                  <a:pt x="47767" y="95534"/>
                </a:cubicBezTo>
                <a:lnTo>
                  <a:pt x="34119" y="95534"/>
                </a:lnTo>
                <a:cubicBezTo>
                  <a:pt x="30366" y="95534"/>
                  <a:pt x="27296" y="98605"/>
                  <a:pt x="27296" y="102358"/>
                </a:cubicBezTo>
                <a:close/>
                <a:moveTo>
                  <a:pt x="81887" y="102358"/>
                </a:moveTo>
                <a:lnTo>
                  <a:pt x="81887" y="116006"/>
                </a:lnTo>
                <a:cubicBezTo>
                  <a:pt x="81887" y="119759"/>
                  <a:pt x="84957" y="122830"/>
                  <a:pt x="88710" y="122830"/>
                </a:cubicBezTo>
                <a:lnTo>
                  <a:pt x="102358" y="122830"/>
                </a:lnTo>
                <a:cubicBezTo>
                  <a:pt x="106111" y="122830"/>
                  <a:pt x="109182" y="119759"/>
                  <a:pt x="109182" y="116006"/>
                </a:cubicBezTo>
                <a:lnTo>
                  <a:pt x="109182" y="102358"/>
                </a:lnTo>
                <a:cubicBezTo>
                  <a:pt x="109182" y="98605"/>
                  <a:pt x="106111" y="95534"/>
                  <a:pt x="102358" y="95534"/>
                </a:cubicBezTo>
                <a:lnTo>
                  <a:pt x="88710" y="95534"/>
                </a:lnTo>
                <a:cubicBezTo>
                  <a:pt x="84957" y="95534"/>
                  <a:pt x="81887" y="98605"/>
                  <a:pt x="81887" y="102358"/>
                </a:cubicBezTo>
                <a:close/>
                <a:moveTo>
                  <a:pt x="143301" y="95534"/>
                </a:moveTo>
                <a:cubicBezTo>
                  <a:pt x="139548" y="95534"/>
                  <a:pt x="136478" y="98605"/>
                  <a:pt x="136478" y="102358"/>
                </a:cubicBezTo>
                <a:lnTo>
                  <a:pt x="136478" y="116006"/>
                </a:lnTo>
                <a:cubicBezTo>
                  <a:pt x="136478" y="119759"/>
                  <a:pt x="139548" y="122830"/>
                  <a:pt x="143301" y="122830"/>
                </a:cubicBezTo>
                <a:lnTo>
                  <a:pt x="156949" y="122830"/>
                </a:lnTo>
                <a:cubicBezTo>
                  <a:pt x="160702" y="122830"/>
                  <a:pt x="163773" y="119759"/>
                  <a:pt x="163773" y="116006"/>
                </a:cubicBezTo>
                <a:lnTo>
                  <a:pt x="163773" y="102358"/>
                </a:lnTo>
                <a:cubicBezTo>
                  <a:pt x="163773" y="98605"/>
                  <a:pt x="160702" y="95534"/>
                  <a:pt x="156949" y="95534"/>
                </a:cubicBezTo>
                <a:lnTo>
                  <a:pt x="143301" y="95534"/>
                </a:lnTo>
                <a:close/>
                <a:moveTo>
                  <a:pt x="27296" y="156949"/>
                </a:moveTo>
                <a:lnTo>
                  <a:pt x="27296" y="170597"/>
                </a:lnTo>
                <a:cubicBezTo>
                  <a:pt x="27296" y="174350"/>
                  <a:pt x="30366" y="177421"/>
                  <a:pt x="34119" y="177421"/>
                </a:cubicBezTo>
                <a:lnTo>
                  <a:pt x="47767" y="177421"/>
                </a:lnTo>
                <a:cubicBezTo>
                  <a:pt x="51520" y="177421"/>
                  <a:pt x="54591" y="174350"/>
                  <a:pt x="54591" y="170597"/>
                </a:cubicBezTo>
                <a:lnTo>
                  <a:pt x="54591" y="156949"/>
                </a:lnTo>
                <a:cubicBezTo>
                  <a:pt x="54591" y="153196"/>
                  <a:pt x="51520" y="150125"/>
                  <a:pt x="47767" y="150125"/>
                </a:cubicBezTo>
                <a:lnTo>
                  <a:pt x="34119" y="150125"/>
                </a:lnTo>
                <a:cubicBezTo>
                  <a:pt x="30366" y="150125"/>
                  <a:pt x="27296" y="153196"/>
                  <a:pt x="27296" y="156949"/>
                </a:cubicBezTo>
                <a:close/>
                <a:moveTo>
                  <a:pt x="88710" y="150125"/>
                </a:moveTo>
                <a:cubicBezTo>
                  <a:pt x="84957" y="150125"/>
                  <a:pt x="81887" y="153196"/>
                  <a:pt x="81887" y="156949"/>
                </a:cubicBezTo>
                <a:lnTo>
                  <a:pt x="81887" y="170597"/>
                </a:lnTo>
                <a:cubicBezTo>
                  <a:pt x="81887" y="174350"/>
                  <a:pt x="84957" y="177421"/>
                  <a:pt x="88710" y="177421"/>
                </a:cubicBezTo>
                <a:lnTo>
                  <a:pt x="102358" y="177421"/>
                </a:lnTo>
                <a:cubicBezTo>
                  <a:pt x="106111" y="177421"/>
                  <a:pt x="109182" y="174350"/>
                  <a:pt x="109182" y="170597"/>
                </a:cubicBezTo>
                <a:lnTo>
                  <a:pt x="109182" y="156949"/>
                </a:lnTo>
                <a:cubicBezTo>
                  <a:pt x="109182" y="153196"/>
                  <a:pt x="106111" y="150125"/>
                  <a:pt x="102358" y="150125"/>
                </a:cubicBezTo>
                <a:lnTo>
                  <a:pt x="88710" y="150125"/>
                </a:lnTo>
                <a:close/>
                <a:moveTo>
                  <a:pt x="136478" y="156949"/>
                </a:moveTo>
                <a:lnTo>
                  <a:pt x="136478" y="170597"/>
                </a:lnTo>
                <a:cubicBezTo>
                  <a:pt x="136478" y="174350"/>
                  <a:pt x="139548" y="177421"/>
                  <a:pt x="143301" y="177421"/>
                </a:cubicBezTo>
                <a:lnTo>
                  <a:pt x="156949" y="177421"/>
                </a:lnTo>
                <a:cubicBezTo>
                  <a:pt x="160702" y="177421"/>
                  <a:pt x="163773" y="174350"/>
                  <a:pt x="163773" y="170597"/>
                </a:cubicBezTo>
                <a:lnTo>
                  <a:pt x="163773" y="156949"/>
                </a:lnTo>
                <a:cubicBezTo>
                  <a:pt x="163773" y="153196"/>
                  <a:pt x="160702" y="150125"/>
                  <a:pt x="156949" y="150125"/>
                </a:cubicBezTo>
                <a:lnTo>
                  <a:pt x="143301" y="150125"/>
                </a:lnTo>
                <a:cubicBezTo>
                  <a:pt x="139548" y="150125"/>
                  <a:pt x="136478" y="153196"/>
                  <a:pt x="136478" y="156949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70730907" name="Text 15"/>
          <p:cNvSpPr/>
          <p:nvPr/>
        </p:nvSpPr>
        <p:spPr bwMode="auto">
          <a:xfrm>
            <a:off x="1792406" y="4536293"/>
            <a:ext cx="2520287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700" b="1">
                <a:solidFill>
                  <a:srgbClr val="E0E2E5"/>
                </a:solidFill>
                <a:latin typeface="MiSans"/>
                <a:ea typeface="MiSans"/>
                <a:cs typeface="MiSans"/>
              </a:rPr>
              <a:t>Estadística 2025-2026</a:t>
            </a:r>
            <a:endParaRPr lang="en-US" sz="1600"/>
          </a:p>
        </p:txBody>
      </p:sp>
      <p:sp>
        <p:nvSpPr>
          <p:cNvPr id="1287927728" name="Text 16"/>
          <p:cNvSpPr/>
          <p:nvPr/>
        </p:nvSpPr>
        <p:spPr bwMode="auto">
          <a:xfrm>
            <a:off x="1792406" y="4827445"/>
            <a:ext cx="2502090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50">
                <a:solidFill>
                  <a:srgbClr val="E0E2E5">
                    <a:alpha val="70000"/>
                  </a:srgbClr>
                </a:solidFill>
                <a:latin typeface="MiSans"/>
                <a:ea typeface="MiSans"/>
                <a:cs typeface="MiSans"/>
              </a:rPr>
              <a:t>Departamento de Estadística</a:t>
            </a:r>
            <a:endParaRPr lang="en-US" sz="1600"/>
          </a:p>
        </p:txBody>
      </p:sp>
      <p:sp>
        <p:nvSpPr>
          <p:cNvPr id="82748908" name="Shape 17"/>
          <p:cNvSpPr/>
          <p:nvPr/>
        </p:nvSpPr>
        <p:spPr bwMode="auto">
          <a:xfrm>
            <a:off x="805218" y="5623565"/>
            <a:ext cx="4904096" cy="1028131"/>
          </a:xfrm>
          <a:custGeom>
            <a:avLst/>
            <a:gdLst/>
            <a:ahLst/>
            <a:cxnLst/>
            <a:rect l="l" t="t" r="r" b="b"/>
            <a:pathLst>
              <a:path w="4904096" h="1028131" fill="norm" stroke="1" extrusionOk="0">
                <a:moveTo>
                  <a:pt x="145573" y="0"/>
                </a:moveTo>
                <a:lnTo>
                  <a:pt x="4758522" y="0"/>
                </a:lnTo>
                <a:cubicBezTo>
                  <a:pt x="4838920" y="0"/>
                  <a:pt x="4904096" y="65175"/>
                  <a:pt x="4904096" y="145573"/>
                </a:cubicBezTo>
                <a:lnTo>
                  <a:pt x="4904096" y="882558"/>
                </a:lnTo>
                <a:cubicBezTo>
                  <a:pt x="4904096" y="962956"/>
                  <a:pt x="4838920" y="1028131"/>
                  <a:pt x="4758522" y="1028131"/>
                </a:cubicBezTo>
                <a:lnTo>
                  <a:pt x="145573" y="1028131"/>
                </a:lnTo>
                <a:cubicBezTo>
                  <a:pt x="65175" y="1028131"/>
                  <a:pt x="0" y="962956"/>
                  <a:pt x="0" y="882558"/>
                </a:cubicBezTo>
                <a:lnTo>
                  <a:pt x="0" y="145573"/>
                </a:lnTo>
                <a:cubicBezTo>
                  <a:pt x="0" y="65175"/>
                  <a:pt x="65175" y="0"/>
                  <a:pt x="145573" y="0"/>
                </a:cubicBezTo>
                <a:close/>
              </a:path>
            </a:pathLst>
          </a:custGeom>
          <a:solidFill>
            <a:srgbClr val="4A5C6A">
              <a:alpha val="30193"/>
            </a:srgbClr>
          </a:solidFill>
          <a:ln w="12700">
            <a:solidFill>
              <a:srgbClr val="F39C12">
                <a:alpha val="30193"/>
              </a:srgbClr>
            </a:solidFill>
            <a:prstDash val="solid"/>
          </a:ln>
        </p:spPr>
      </p:sp>
      <p:sp>
        <p:nvSpPr>
          <p:cNvPr id="1434423171" name="Shape 18"/>
          <p:cNvSpPr/>
          <p:nvPr/>
        </p:nvSpPr>
        <p:spPr bwMode="auto">
          <a:xfrm>
            <a:off x="1032681" y="5851027"/>
            <a:ext cx="573206" cy="573206"/>
          </a:xfrm>
          <a:custGeom>
            <a:avLst/>
            <a:gdLst/>
            <a:ahLst/>
            <a:cxnLst/>
            <a:rect l="l" t="t" r="r" b="b"/>
            <a:pathLst>
              <a:path w="573206" h="573206" fill="norm" stroke="1" extrusionOk="0">
                <a:moveTo>
                  <a:pt x="109184" y="0"/>
                </a:moveTo>
                <a:lnTo>
                  <a:pt x="464022" y="0"/>
                </a:lnTo>
                <a:cubicBezTo>
                  <a:pt x="524323" y="0"/>
                  <a:pt x="573206" y="48883"/>
                  <a:pt x="573206" y="109184"/>
                </a:cubicBezTo>
                <a:lnTo>
                  <a:pt x="573206" y="464022"/>
                </a:lnTo>
                <a:cubicBezTo>
                  <a:pt x="573206" y="524323"/>
                  <a:pt x="524323" y="573206"/>
                  <a:pt x="464022" y="573206"/>
                </a:cubicBezTo>
                <a:lnTo>
                  <a:pt x="109184" y="573206"/>
                </a:lnTo>
                <a:cubicBezTo>
                  <a:pt x="48883" y="573206"/>
                  <a:pt x="0" y="524323"/>
                  <a:pt x="0" y="464022"/>
                </a:cubicBezTo>
                <a:lnTo>
                  <a:pt x="0" y="109184"/>
                </a:lnTo>
                <a:cubicBezTo>
                  <a:pt x="0" y="48883"/>
                  <a:pt x="48883" y="0"/>
                  <a:pt x="109184" y="0"/>
                </a:cubicBezTo>
                <a:close/>
              </a:path>
            </a:pathLst>
          </a:custGeom>
          <a:solidFill>
            <a:srgbClr val="F39C12">
              <a:alpha val="20000"/>
            </a:srgbClr>
          </a:solidFill>
          <a:ln w="12700">
            <a:solidFill>
              <a:srgbClr val="F39C12">
                <a:alpha val="40000"/>
              </a:srgbClr>
            </a:solidFill>
            <a:prstDash val="solid"/>
          </a:ln>
        </p:spPr>
      </p:sp>
      <p:sp>
        <p:nvSpPr>
          <p:cNvPr id="569654327" name="Shape 19"/>
          <p:cNvSpPr/>
          <p:nvPr/>
        </p:nvSpPr>
        <p:spPr bwMode="auto">
          <a:xfrm>
            <a:off x="1210101" y="6028448"/>
            <a:ext cx="218364" cy="218364"/>
          </a:xfrm>
          <a:custGeom>
            <a:avLst/>
            <a:gdLst/>
            <a:ahLst/>
            <a:cxnLst/>
            <a:rect l="l" t="t" r="r" b="b"/>
            <a:pathLst>
              <a:path w="218364" h="218364" fill="norm" stroke="1" extrusionOk="0">
                <a:moveTo>
                  <a:pt x="20472" y="27296"/>
                </a:moveTo>
                <a:cubicBezTo>
                  <a:pt x="9170" y="27296"/>
                  <a:pt x="0" y="36465"/>
                  <a:pt x="0" y="47767"/>
                </a:cubicBezTo>
                <a:cubicBezTo>
                  <a:pt x="0" y="54207"/>
                  <a:pt x="3028" y="60263"/>
                  <a:pt x="8189" y="64144"/>
                </a:cubicBezTo>
                <a:lnTo>
                  <a:pt x="96899" y="130677"/>
                </a:lnTo>
                <a:cubicBezTo>
                  <a:pt x="104192" y="136136"/>
                  <a:pt x="114172" y="136136"/>
                  <a:pt x="121465" y="130677"/>
                </a:cubicBezTo>
                <a:lnTo>
                  <a:pt x="210176" y="64144"/>
                </a:lnTo>
                <a:cubicBezTo>
                  <a:pt x="215336" y="60263"/>
                  <a:pt x="218364" y="54207"/>
                  <a:pt x="218364" y="47767"/>
                </a:cubicBezTo>
                <a:cubicBezTo>
                  <a:pt x="218364" y="36465"/>
                  <a:pt x="209195" y="27296"/>
                  <a:pt x="197893" y="27296"/>
                </a:cubicBezTo>
                <a:lnTo>
                  <a:pt x="20472" y="27296"/>
                </a:lnTo>
                <a:close/>
                <a:moveTo>
                  <a:pt x="0" y="83593"/>
                </a:moveTo>
                <a:lnTo>
                  <a:pt x="0" y="163773"/>
                </a:lnTo>
                <a:cubicBezTo>
                  <a:pt x="0" y="178828"/>
                  <a:pt x="12240" y="191069"/>
                  <a:pt x="27296" y="191069"/>
                </a:cubicBezTo>
                <a:lnTo>
                  <a:pt x="191069" y="191069"/>
                </a:lnTo>
                <a:cubicBezTo>
                  <a:pt x="206124" y="191069"/>
                  <a:pt x="218364" y="178828"/>
                  <a:pt x="218364" y="163773"/>
                </a:cubicBezTo>
                <a:lnTo>
                  <a:pt x="218364" y="83593"/>
                </a:lnTo>
                <a:lnTo>
                  <a:pt x="133748" y="147055"/>
                </a:lnTo>
                <a:cubicBezTo>
                  <a:pt x="119205" y="157973"/>
                  <a:pt x="99160" y="157973"/>
                  <a:pt x="84616" y="147055"/>
                </a:cubicBezTo>
                <a:lnTo>
                  <a:pt x="0" y="83593"/>
                </a:lnTo>
                <a:close/>
              </a:path>
            </a:pathLst>
          </a:custGeom>
          <a:solidFill>
            <a:srgbClr val="F39C12"/>
          </a:solidFill>
          <a:ln/>
        </p:spPr>
      </p:sp>
      <p:sp>
        <p:nvSpPr>
          <p:cNvPr id="441205606" name="Text 20"/>
          <p:cNvSpPr/>
          <p:nvPr/>
        </p:nvSpPr>
        <p:spPr bwMode="auto">
          <a:xfrm>
            <a:off x="1792406" y="5864675"/>
            <a:ext cx="2010770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700" b="1">
                <a:solidFill>
                  <a:srgbClr val="E0E2E5"/>
                </a:solidFill>
                <a:latin typeface="MiSans"/>
                <a:ea typeface="MiSans"/>
                <a:cs typeface="MiSans"/>
              </a:rPr>
              <a:t>Contacto</a:t>
            </a:r>
            <a:endParaRPr lang="en-US" sz="1600"/>
          </a:p>
        </p:txBody>
      </p:sp>
      <p:sp>
        <p:nvSpPr>
          <p:cNvPr id="1588784129" name="Text 21"/>
          <p:cNvSpPr/>
          <p:nvPr/>
        </p:nvSpPr>
        <p:spPr bwMode="auto">
          <a:xfrm>
            <a:off x="1792406" y="6155827"/>
            <a:ext cx="1992573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50">
                <a:solidFill>
                  <a:srgbClr val="E0E2E5">
                    <a:alpha val="70000"/>
                  </a:srgbClr>
                </a:solidFill>
                <a:latin typeface="MiSans"/>
                <a:ea typeface="MiSans"/>
                <a:cs typeface="MiSans"/>
              </a:rPr>
              <a:t>[chertapro@gmail.com]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ONLYOFFICE/9.2.1.43</Application>
  <PresentationFormat>On-screen Show (4:3)</PresentationFormat>
  <Paragraphs>0</Paragraphs>
  <Slides>14</Slides>
  <Notes>14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Moonshot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Detección de Intrusiones y Análisis de Anomalías en Tráfico de Red mediante Técnicas Estadísticas</dc:title>
  <dc:subject>Detección de Intrusiones y Análisis de Anomalías en Tráfico de Red mediante Técnicas Estadísticas</dc:subject>
  <dc:creator>Kimi</dc:creator>
  <cp:lastModifiedBy/>
  <cp:revision>4</cp:revision>
  <dcterms:created xsi:type="dcterms:W3CDTF">2026-01-28T20:46:06Z</dcterms:created>
  <dcterms:modified xsi:type="dcterms:W3CDTF">2026-01-28T23:30:58Z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{"Label":"Detección de Intrusiones y Análisis de Anomalías en Tráfico de Red mediante Técnicas Estadísticas","ContentProducer":"001191110108MACG2KBH8F10000","ProduceID":"19c061d3-efd2-812c-8000-000046338268","ReservedCode1":"","ContentPropagator":"001191110108MACG2KBH8F20000","PropagateID":"19c061d3-efd2-812c-8000-000046338268","ReservedCode2":""}</vt:lpwstr>
  </property>
</Properties>
</file>